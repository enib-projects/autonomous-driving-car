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4" r:id="rId9"/>
    <p:sldId id="278" r:id="rId10"/>
    <p:sldId id="279" r:id="rId11"/>
    <p:sldId id="281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129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Ouverture: présenter le projet comme une chaîne complète d'apprentissage supervisé appliquée à un véhicule miniature. Insister sur la transformation de données brutes non synchronisées en module de décision visuelle exploitable.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répond directement aux attendus du sujet. Le reste de la présentation suit exactement ces quatre 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le dataset brut ne peut pas être utilisé directement: les signaux moteurs et les images ont des timestamps différents. Un mauvais alignement crée des labels faux et dégrade le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différence fondamentale entre interpolation d'une commande analogique/continue et maintien d'un état logique. C'est un choix de traitement du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étape est centrale pour éviter une fuite temporelle. Le modèle doit apprendre à partir de ce que la caméra pouvait réellement voir au moment où l'action a été 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répond à la demande de classification multiclasses/finer grained: les classes fines existent, elles sont analysées, puis regroupées pour obtenir un problème robuste.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expliquer simplement: les commandes moteur brutes sont converties en sémantique de conduite. C'est la brique qui transforme le problème bas niveau en apprentissage supervisé.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clairement que le flip est une augmentation sémantiquement valide uniquement si l'on inverse aussi le label et les vitesses moteurs. Sinon, on injecte du faux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Dataset est multi-cibles: une sortie entière pour CrossEntropyLoss et un vecteur float pour SmoothL1Loss.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Insister: le modèle n'est pas choisi pour faire “moderne”, mais pour un compromis: réutiliser des features visuelles, garder un modèle léger et permettre une future exécution embarquée.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philosophie multi-tâches: le réseau partage la compréhension visuelle puis sépare l'objectif sémantique direction et l'objectif numérique vitesses.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Définir les deux pertes. CrossEntropyLoss pour les classes exclusives. SmoothL1Loss pour une estimation de vitesses robuste. AdamW et scheduler réduisent la sensibilité au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Mettre en avant que chaque tâche a ses métriques. La confusion matrix permet d'expliquer les erreurs, les métriques MAE/RMSE quantifient les vitesses.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727F221-4346-E484-773C-98FBB83F6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3AC9F-C711-4121-A95B-51B8A10BAB53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A327646-3906-59F3-EDB6-90FF7A4FC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1DAD30-6EAC-4459-B5CF-6DED2591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E92D6-7CDC-411B-86A7-6977ADC49A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291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pic>
        <p:nvPicPr>
          <p:cNvPr id="3" name="Image 0" descr="/mnt/data/a_high_resolution_cinematic_slightly_low_angle_i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81328"/>
            <a:ext cx="5669280" cy="3191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713232"/>
            <a:ext cx="5257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Décision visuelle pour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voiture miniature autonome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76656" y="205740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</a:rPr>
              <a:t>Préparation dataset • Rééquilibrage • MobileNetV3 multi-tâches • Évaluation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800" y="5806440"/>
            <a:ext cx="2423160" cy="27432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VISION-BASED DECISION MAKING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281160" y="5742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Soutenance projet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du lab et réponse apportée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directe de la consigne : données, décision visuelle, évaluation, extension embarquée.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438912" cy="438912"/>
          </a:xfrm>
          <a:prstGeom prst="rect">
            <a:avLst/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399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Explorer &amp; prétraiter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03320" y="1371600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labels.csv, images horodatées, rééchantillonnage, augmentation, équilibrage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039112"/>
            <a:ext cx="105156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68880"/>
            <a:ext cx="438912" cy="438912"/>
          </a:xfrm>
          <a:prstGeom prst="rect">
            <a:avLst/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4505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Développer le module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03320" y="2423160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image → direction + vitesses via MobileNetV3 (</a:t>
            </a:r>
            <a:r>
              <a:rPr lang="en-US" sz="1250" dirty="0" err="1">
                <a:solidFill>
                  <a:srgbClr val="475569"/>
                </a:solidFill>
              </a:rPr>
              <a:t>pré</a:t>
            </a:r>
            <a:r>
              <a:rPr lang="en-US" sz="1250" dirty="0">
                <a:solidFill>
                  <a:srgbClr val="475569"/>
                </a:solidFill>
              </a:rPr>
              <a:t> </a:t>
            </a:r>
            <a:r>
              <a:rPr lang="en-US" sz="1250" dirty="0" err="1">
                <a:solidFill>
                  <a:srgbClr val="475569"/>
                </a:solidFill>
              </a:rPr>
              <a:t>entrainé</a:t>
            </a:r>
            <a:r>
              <a:rPr lang="en-US" sz="1250" dirty="0">
                <a:solidFill>
                  <a:srgbClr val="475569"/>
                </a:solidFill>
              </a:rPr>
              <a:t>) / </a:t>
            </a:r>
            <a:r>
              <a:rPr lang="en-US" sz="1250" dirty="0" err="1">
                <a:solidFill>
                  <a:srgbClr val="475569"/>
                </a:solidFill>
              </a:rPr>
              <a:t>Modèle</a:t>
            </a:r>
            <a:r>
              <a:rPr lang="en-US" sz="1250" dirty="0">
                <a:solidFill>
                  <a:srgbClr val="475569"/>
                </a:solidFill>
              </a:rPr>
              <a:t> Multi-taches (non </a:t>
            </a:r>
            <a:r>
              <a:rPr lang="en-US" sz="1250" dirty="0" err="1">
                <a:solidFill>
                  <a:srgbClr val="475569"/>
                </a:solidFill>
              </a:rPr>
              <a:t>entrainé</a:t>
            </a:r>
            <a:r>
              <a:rPr lang="en-US" sz="1250" dirty="0">
                <a:solidFill>
                  <a:srgbClr val="475569"/>
                </a:solidFill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090672"/>
            <a:ext cx="105156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20440"/>
            <a:ext cx="438912" cy="438912"/>
          </a:xfrm>
          <a:prstGeom prst="rect">
            <a:avLst/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502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Tester &amp; évaluer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3474720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accuracy, per-class accuracy, confusion matrix, MAE/RMSE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142232"/>
            <a:ext cx="1051560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4553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4526280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5687568"/>
            <a:ext cx="9875520" cy="347472"/>
          </a:xfrm>
          <a:prstGeom prst="rect">
            <a:avLst/>
          </a:prstGeom>
          <a:noFill/>
          <a:ln/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Fil conducteur : rendre les données causales, équilibrées et exploitables par un modèle léger.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voiture miniature autonome • Vision-based decision making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301984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Données brutes : le problème réel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images et les commandes ne sont pas naturellement synchronisées.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12064" y="1332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labels.csv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2064" y="1738424"/>
            <a:ext cx="2834640" cy="1318661"/>
          </a:xfrm>
          <a:prstGeom prst="rect">
            <a:avLst/>
          </a:prstGeom>
          <a:noFill/>
          <a:ln>
            <a:noFill/>
          </a:ln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time_in_ms</a:t>
            </a:r>
            <a:endParaRPr lang="en-US" sz="13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speedA / </a:t>
            </a:r>
            <a:r>
              <a:rPr lang="en-US" sz="13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speedB</a:t>
            </a:r>
            <a:endParaRPr lang="en-US" sz="13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GPIO1..GPIO4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commandes non uniformes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10099" y="13056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</a:rPr>
              <a:t>Images/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901539" y="1808588"/>
            <a:ext cx="2743200" cy="1318660"/>
          </a:xfrm>
          <a:prstGeom prst="rect">
            <a:avLst/>
          </a:prstGeom>
          <a:noFill/>
          <a:ln>
            <a:noFill/>
          </a:ln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Fichiers</a:t>
            </a: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timestampés</a:t>
            </a:r>
            <a:endParaRPr lang="en-US" sz="13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Cadence </a:t>
            </a:r>
            <a:r>
              <a:rPr lang="en-US" sz="13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indépendante</a:t>
            </a:r>
            <a:endParaRPr lang="en-US" sz="13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Certaines</a:t>
            </a: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images non </a:t>
            </a:r>
            <a:r>
              <a:rPr lang="en-US" sz="13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utilisées</a:t>
            </a:r>
            <a:endParaRPr lang="en-US" sz="13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Risque de décalage temporel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60540" y="2345597"/>
            <a:ext cx="96012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822959" y="4956048"/>
            <a:ext cx="8649903" cy="594360"/>
          </a:xfrm>
          <a:prstGeom prst="rect">
            <a:avLst/>
          </a:prstGeom>
          <a:noFill/>
          <a:ln/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Enjeu : associer chaque décision à l’image réellement disponible au même instant.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voiture miniature autonome • Vision-based decision making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301984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18253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Rééchantillonnage : rendre les commandes homogènes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1093741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Choix retenu : grille temporelle fixe, typiquement 250 ms.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12064" y="2083066"/>
            <a:ext cx="5715000" cy="3209537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resample_commands(df, sample_period_ms=250):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df = df.sort_values("time_in_ms")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new_times = range(start_time, end_time + 1, sample_period_ms)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resampled["speedA"] = resampled["speedA"].interpolate(method="index")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resampled["speedB"] = resampled["speedB"].interpolate(method="index")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resampled[["GPIO1","GPIO2","GPIO3","GPIO4"]]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resampled[["GPIO1","GPIO2","GPIO3","GPIO4"]].ffill()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684264" y="2073922"/>
            <a:ext cx="2677427" cy="26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u="sng" dirty="0">
                <a:solidFill>
                  <a:srgbClr val="2563EB"/>
                </a:solidFill>
              </a:rPr>
              <a:t>LOGIQUE TECHNIQUE</a:t>
            </a:r>
            <a:endParaRPr lang="en-US" u="sng" dirty="0"/>
          </a:p>
        </p:txBody>
      </p:sp>
      <p:sp>
        <p:nvSpPr>
          <p:cNvPr id="7" name="Text 5"/>
          <p:cNvSpPr/>
          <p:nvPr/>
        </p:nvSpPr>
        <p:spPr>
          <a:xfrm>
            <a:off x="6684264" y="2403106"/>
            <a:ext cx="4526280" cy="176783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Vitesses moteur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interpolation linéaire, car grandeurs numériques continues.</a:t>
            </a:r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GPIO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maintien de la dernière valeur connue, car états logiques </a:t>
            </a:r>
            <a:r>
              <a:rPr lang="en-US" sz="132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discrets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Fréquence à tester 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trop rapide = bruit / redondance ; trop lente = perte de transitions.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729984" y="4643387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250 ms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684264" y="5142298"/>
            <a:ext cx="2824213" cy="4724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</a:rPr>
              <a:t>Période</a:t>
            </a:r>
            <a:r>
              <a:rPr lang="en-US" sz="1200" dirty="0">
                <a:solidFill>
                  <a:srgbClr val="64748B"/>
                </a:solidFill>
              </a:rPr>
              <a:t> de référence utilisée pour la grille temporelle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voiture miniature autonome • Vision-based decision making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301984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05257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Association image / commande : respecter la causalité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94944" y="1380745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commande ne doit jamais être labellisée avec une image future.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2226565"/>
            <a:ext cx="5394960" cy="2651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while image_idx &lt; len(images) and images[image_idx]["timestamp"] &lt;= csv_time: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best_image = images[image_idx]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image_idx += 1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 best_image is None: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continue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new_row["image_filename"] = best_image["filename"]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new_row["image_time_ms"] = best_image["timestamp"]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new_row["image_delta_ms"] = csv_time - best_image["timestamp"]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75120" y="2135125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u="sng" dirty="0">
                <a:solidFill>
                  <a:srgbClr val="22C55E"/>
                </a:solidFill>
              </a:rPr>
              <a:t>DÉCISION CLÉ</a:t>
            </a:r>
            <a:endParaRPr lang="en-US" u="sng" dirty="0"/>
          </a:p>
        </p:txBody>
      </p:sp>
      <p:sp>
        <p:nvSpPr>
          <p:cNvPr id="7" name="Text 5"/>
          <p:cNvSpPr/>
          <p:nvPr/>
        </p:nvSpPr>
        <p:spPr>
          <a:xfrm>
            <a:off x="6675120" y="2546605"/>
            <a:ext cx="2194560" cy="713232"/>
          </a:xfrm>
          <a:prstGeom prst="rect">
            <a:avLst/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image précédente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la plus proche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052560" y="2903221"/>
            <a:ext cx="9144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058400" y="2546605"/>
            <a:ext cx="1234440" cy="713232"/>
          </a:xfrm>
          <a:prstGeom prst="rect">
            <a:avLst/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commande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au temps 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3963925"/>
            <a:ext cx="4754880" cy="11887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 d’information du futur : cohérent avec un système embarqué temps </a:t>
            </a:r>
            <a:r>
              <a:rPr lang="en-US" sz="132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réel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 image est utilisée une seule fois pour limiter la </a:t>
            </a:r>
            <a:r>
              <a:rPr lang="en-US" sz="132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redondance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image_delta_ms devient un indicateur de qualité de synchronisation.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voiture miniature autonome • Vision-based decision making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301984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Simplification du problème : labels fins → 3 classes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543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assumée : mieux vaut 3 classes robustes que 10 classes fragiles.</a:t>
            </a:r>
            <a:endParaRPr lang="en-US" sz="1050" dirty="0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970622D8-893B-4C5B-3CCF-243E3E2373C2}"/>
              </a:ext>
            </a:extLst>
          </p:cNvPr>
          <p:cNvGrpSpPr/>
          <p:nvPr/>
        </p:nvGrpSpPr>
        <p:grpSpPr>
          <a:xfrm>
            <a:off x="457200" y="1499616"/>
            <a:ext cx="3291840" cy="1335024"/>
            <a:chOff x="457200" y="1499616"/>
            <a:chExt cx="3291840" cy="1335024"/>
          </a:xfrm>
        </p:grpSpPr>
        <p:sp>
          <p:nvSpPr>
            <p:cNvPr id="4" name="Text 2"/>
            <p:cNvSpPr/>
            <p:nvPr/>
          </p:nvSpPr>
          <p:spPr>
            <a:xfrm>
              <a:off x="457200" y="1499616"/>
              <a:ext cx="1371600" cy="329184"/>
            </a:xfrm>
            <a:prstGeom prst="rect">
              <a:avLst/>
            </a:prstGeom>
            <a:solidFill>
              <a:srgbClr val="FEE2E2"/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80" b="1" dirty="0">
                  <a:solidFill>
                    <a:srgbClr val="111827"/>
                  </a:solidFill>
                </a:rPr>
                <a:t>light_left</a:t>
              </a:r>
              <a:endParaRPr lang="en-US" sz="98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57200" y="2505456"/>
              <a:ext cx="1371600" cy="329184"/>
            </a:xfrm>
            <a:prstGeom prst="rect">
              <a:avLst/>
            </a:prstGeom>
            <a:solidFill>
              <a:srgbClr val="FEE2E2"/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80" b="1" dirty="0">
                  <a:solidFill>
                    <a:srgbClr val="111827"/>
                  </a:solidFill>
                </a:rPr>
                <a:t>sharp_left</a:t>
              </a:r>
              <a:endParaRPr lang="en-US" sz="980" dirty="0"/>
            </a:p>
          </p:txBody>
        </p:sp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253F931B-B250-FFC5-BCE8-7272066A9AC4}"/>
                </a:ext>
              </a:extLst>
            </p:cNvPr>
            <p:cNvGrpSpPr/>
            <p:nvPr/>
          </p:nvGrpSpPr>
          <p:grpSpPr>
            <a:xfrm>
              <a:off x="457200" y="1915668"/>
              <a:ext cx="3291840" cy="502920"/>
              <a:chOff x="457200" y="3177540"/>
              <a:chExt cx="3291840" cy="502920"/>
            </a:xfrm>
          </p:grpSpPr>
          <p:sp>
            <p:nvSpPr>
              <p:cNvPr id="5" name="Text 3"/>
              <p:cNvSpPr/>
              <p:nvPr/>
            </p:nvSpPr>
            <p:spPr>
              <a:xfrm>
                <a:off x="457200" y="3264408"/>
                <a:ext cx="1371600" cy="329184"/>
              </a:xfrm>
              <a:prstGeom prst="rect">
                <a:avLst/>
              </a:prstGeom>
              <a:solidFill>
                <a:srgbClr val="FEE2E2"/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980" b="1" dirty="0">
                    <a:solidFill>
                      <a:srgbClr val="111827"/>
                    </a:solidFill>
                  </a:rPr>
                  <a:t>pivot_left</a:t>
                </a:r>
                <a:endParaRPr lang="en-US" sz="980" dirty="0"/>
              </a:p>
            </p:txBody>
          </p:sp>
          <p:sp>
            <p:nvSpPr>
              <p:cNvPr id="11" name="Shape 9"/>
              <p:cNvSpPr/>
              <p:nvPr/>
            </p:nvSpPr>
            <p:spPr>
              <a:xfrm>
                <a:off x="2011680" y="3429000"/>
                <a:ext cx="548640" cy="0"/>
              </a:xfrm>
              <a:prstGeom prst="line">
                <a:avLst/>
              </a:prstGeom>
              <a:noFill/>
              <a:ln w="17780">
                <a:solidFill>
                  <a:srgbClr val="CBD5E1"/>
                </a:solidFill>
                <a:prstDash val="solid"/>
                <a:headEnd type="none"/>
                <a:tailEnd type="triangle"/>
              </a:ln>
            </p:spPr>
          </p:sp>
          <p:sp>
            <p:nvSpPr>
              <p:cNvPr id="12" name="Text 10"/>
              <p:cNvSpPr/>
              <p:nvPr/>
            </p:nvSpPr>
            <p:spPr>
              <a:xfrm>
                <a:off x="2651760" y="3177540"/>
                <a:ext cx="1097280" cy="502920"/>
              </a:xfrm>
              <a:prstGeom prst="rect">
                <a:avLst/>
              </a:prstGeom>
              <a:solidFill>
                <a:srgbClr val="EF4444"/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</a:rPr>
                  <a:t>left</a:t>
                </a:r>
                <a:endParaRPr lang="en-US" sz="1400" dirty="0"/>
              </a:p>
            </p:txBody>
          </p:sp>
        </p:grp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9DDDAEC3-B2F5-BA2D-3A3F-476726B1C19E}"/>
              </a:ext>
            </a:extLst>
          </p:cNvPr>
          <p:cNvGrpSpPr/>
          <p:nvPr/>
        </p:nvGrpSpPr>
        <p:grpSpPr>
          <a:xfrm>
            <a:off x="4434840" y="1499616"/>
            <a:ext cx="3246120" cy="1335024"/>
            <a:chOff x="4434840" y="1499616"/>
            <a:chExt cx="3246120" cy="1335024"/>
          </a:xfrm>
        </p:grpSpPr>
        <p:sp>
          <p:nvSpPr>
            <p:cNvPr id="7" name="Text 5"/>
            <p:cNvSpPr/>
            <p:nvPr/>
          </p:nvSpPr>
          <p:spPr>
            <a:xfrm>
              <a:off x="4434840" y="1499616"/>
              <a:ext cx="1417320" cy="329184"/>
            </a:xfrm>
            <a:prstGeom prst="rect">
              <a:avLst/>
            </a:prstGeom>
            <a:solidFill>
              <a:srgbClr val="DBEAFE"/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80" b="1" dirty="0">
                  <a:solidFill>
                    <a:srgbClr val="111827"/>
                  </a:solidFill>
                </a:rPr>
                <a:t>light_right</a:t>
              </a:r>
              <a:endParaRPr lang="en-US" sz="98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434840" y="2505456"/>
              <a:ext cx="1417320" cy="329184"/>
            </a:xfrm>
            <a:prstGeom prst="rect">
              <a:avLst/>
            </a:prstGeom>
            <a:solidFill>
              <a:srgbClr val="DBEAFE"/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80" b="1" dirty="0">
                  <a:solidFill>
                    <a:srgbClr val="111827"/>
                  </a:solidFill>
                </a:rPr>
                <a:t>sharp_right</a:t>
              </a:r>
              <a:endParaRPr lang="en-US" sz="980" dirty="0"/>
            </a:p>
          </p:txBody>
        </p:sp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2C86F8B6-040E-B11B-CAB7-D1D4E1E2CFF5}"/>
                </a:ext>
              </a:extLst>
            </p:cNvPr>
            <p:cNvGrpSpPr/>
            <p:nvPr/>
          </p:nvGrpSpPr>
          <p:grpSpPr>
            <a:xfrm>
              <a:off x="4434840" y="1915668"/>
              <a:ext cx="3246120" cy="502920"/>
              <a:chOff x="4434840" y="3177540"/>
              <a:chExt cx="3246120" cy="502920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4434840" y="3264408"/>
                <a:ext cx="1417320" cy="329184"/>
              </a:xfrm>
              <a:prstGeom prst="rect">
                <a:avLst/>
              </a:prstGeom>
              <a:solidFill>
                <a:srgbClr val="DBEAFE"/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980" b="1" dirty="0">
                    <a:solidFill>
                      <a:srgbClr val="111827"/>
                    </a:solidFill>
                  </a:rPr>
                  <a:t>pivot_right</a:t>
                </a:r>
                <a:endParaRPr lang="en-US" sz="980" dirty="0"/>
              </a:p>
            </p:txBody>
          </p:sp>
          <p:sp>
            <p:nvSpPr>
              <p:cNvPr id="13" name="Shape 11"/>
              <p:cNvSpPr/>
              <p:nvPr/>
            </p:nvSpPr>
            <p:spPr>
              <a:xfrm>
                <a:off x="5943600" y="3429000"/>
                <a:ext cx="548640" cy="0"/>
              </a:xfrm>
              <a:prstGeom prst="line">
                <a:avLst/>
              </a:prstGeom>
              <a:noFill/>
              <a:ln w="17780">
                <a:solidFill>
                  <a:srgbClr val="CBD5E1"/>
                </a:solidFill>
                <a:prstDash val="solid"/>
                <a:headEnd type="none"/>
                <a:tailEnd type="triangle"/>
              </a:ln>
            </p:spPr>
          </p:sp>
          <p:sp>
            <p:nvSpPr>
              <p:cNvPr id="14" name="Text 12"/>
              <p:cNvSpPr/>
              <p:nvPr/>
            </p:nvSpPr>
            <p:spPr>
              <a:xfrm>
                <a:off x="6583680" y="3177540"/>
                <a:ext cx="1097280" cy="502920"/>
              </a:xfrm>
              <a:prstGeom prst="rect">
                <a:avLst/>
              </a:prstGeom>
              <a:solidFill>
                <a:srgbClr val="2563EB"/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</a:rPr>
                  <a:t>right</a:t>
                </a:r>
                <a:endParaRPr lang="en-US" sz="1400" dirty="0"/>
              </a:p>
            </p:txBody>
          </p:sp>
        </p:grp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55C60751-6F47-FA80-5EF5-145154B9CC15}"/>
              </a:ext>
            </a:extLst>
          </p:cNvPr>
          <p:cNvGrpSpPr/>
          <p:nvPr/>
        </p:nvGrpSpPr>
        <p:grpSpPr>
          <a:xfrm>
            <a:off x="8321040" y="1911176"/>
            <a:ext cx="3246120" cy="502920"/>
            <a:chOff x="8321040" y="1911176"/>
            <a:chExt cx="3246120" cy="502920"/>
          </a:xfrm>
        </p:grpSpPr>
        <p:sp>
          <p:nvSpPr>
            <p:cNvPr id="10" name="Text 8"/>
            <p:cNvSpPr/>
            <p:nvPr/>
          </p:nvSpPr>
          <p:spPr>
            <a:xfrm>
              <a:off x="8321040" y="1998044"/>
              <a:ext cx="1280160" cy="329184"/>
            </a:xfrm>
            <a:prstGeom prst="rect">
              <a:avLst/>
            </a:prstGeom>
            <a:solidFill>
              <a:srgbClr val="DCFCE7"/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80" b="1" dirty="0">
                  <a:solidFill>
                    <a:srgbClr val="111827"/>
                  </a:solidFill>
                </a:rPr>
                <a:t>forward</a:t>
              </a:r>
              <a:endParaRPr lang="en-US" sz="98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9646920" y="2162636"/>
              <a:ext cx="594360" cy="0"/>
            </a:xfrm>
            <a:prstGeom prst="line">
              <a:avLst/>
            </a:prstGeom>
            <a:noFill/>
            <a:ln w="17780">
              <a:solidFill>
                <a:srgbClr val="CBD5E1"/>
              </a:solidFill>
              <a:prstDash val="solid"/>
              <a:headEnd type="none"/>
              <a:tailEnd type="triangle"/>
            </a:ln>
          </p:spPr>
        </p:sp>
        <p:sp>
          <p:nvSpPr>
            <p:cNvPr id="16" name="Text 14"/>
            <p:cNvSpPr/>
            <p:nvPr/>
          </p:nvSpPr>
          <p:spPr>
            <a:xfrm>
              <a:off x="10241280" y="1911176"/>
              <a:ext cx="1325880" cy="502920"/>
            </a:xfrm>
            <a:prstGeom prst="rect">
              <a:avLst/>
            </a:prstGeom>
            <a:solidFill>
              <a:srgbClr val="22C55E"/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forward</a:t>
              </a:r>
              <a:endParaRPr lang="en-US" sz="13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1107948" y="4371636"/>
            <a:ext cx="2286000" cy="438912"/>
          </a:xfrm>
          <a:prstGeom prst="rect">
            <a:avLst/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stop / backward / other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31108" y="4600236"/>
            <a:ext cx="10515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674108" y="4298484"/>
            <a:ext cx="1828800" cy="658368"/>
          </a:xfrm>
          <a:prstGeom prst="rect">
            <a:avLst/>
          </a:prstGeom>
          <a:solidFill>
            <a:srgbClr val="E5E7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ignorés pour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l’entraînement vision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25868" y="4187016"/>
            <a:ext cx="38404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Réduction du bruit de label.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Classes mieux représentées.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Apprentissage plus stable avec un dataset limité.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voiture miniature autonome • Vision-based decision making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301984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7B394A-BC44-952D-D3A7-097625128212}"/>
              </a:ext>
            </a:extLst>
          </p:cNvPr>
          <p:cNvSpPr/>
          <p:nvPr/>
        </p:nvSpPr>
        <p:spPr>
          <a:xfrm>
            <a:off x="172720" y="1198880"/>
            <a:ext cx="3749040" cy="19055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F8EDF1-9AA7-208E-F34C-EBEF526ADB36}"/>
              </a:ext>
            </a:extLst>
          </p:cNvPr>
          <p:cNvSpPr/>
          <p:nvPr/>
        </p:nvSpPr>
        <p:spPr>
          <a:xfrm>
            <a:off x="4368802" y="1198880"/>
            <a:ext cx="3749040" cy="19055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C36536-A934-DEA7-2D06-DDD3E37A3636}"/>
              </a:ext>
            </a:extLst>
          </p:cNvPr>
          <p:cNvSpPr/>
          <p:nvPr/>
        </p:nvSpPr>
        <p:spPr>
          <a:xfrm>
            <a:off x="8209282" y="1209844"/>
            <a:ext cx="3749040" cy="19055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EE1F76-0595-52C1-E2DE-1F8554C342D3}"/>
              </a:ext>
            </a:extLst>
          </p:cNvPr>
          <p:cNvSpPr/>
          <p:nvPr/>
        </p:nvSpPr>
        <p:spPr>
          <a:xfrm>
            <a:off x="879348" y="4093836"/>
            <a:ext cx="10433304" cy="1099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Construction des labels : des GPIO à l’action de conduite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labels ne sont pas saisis à la main : ils sont reconstruits depuis la commande moteur.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884306"/>
            <a:ext cx="5303520" cy="221284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motor_direction(gpio_a, gpio_b, side):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if side == "left":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if gpio_a == 1 and gpio_b == 0: return "forward"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if gpio_a == 0 and gpio_b == 1: return "backward"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if side == "right":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if gpio_a == 0 and gpio_b == 1: return "forward"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if gpio_a == 1 and gpio_b == 0: return "backward"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6629400" y="2043283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u="sng" dirty="0">
                <a:solidFill>
                  <a:srgbClr val="7C3AED"/>
                </a:solidFill>
              </a:rPr>
              <a:t>RÈGLE MÉTIER</a:t>
            </a:r>
            <a:endParaRPr lang="en-US" u="sng" dirty="0"/>
          </a:p>
        </p:txBody>
      </p:sp>
      <p:sp>
        <p:nvSpPr>
          <p:cNvPr id="7" name="Text 5"/>
          <p:cNvSpPr/>
          <p:nvPr/>
        </p:nvSpPr>
        <p:spPr>
          <a:xfrm>
            <a:off x="6629400" y="2409043"/>
            <a:ext cx="45720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 moteur gauche et le moteur droit n’ont pas la même convention GPIO.</a:t>
            </a:r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Les vitesses départagent forward, light_left et </a:t>
            </a:r>
            <a:r>
              <a:rPr lang="en-US" sz="135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light_right</a:t>
            </a: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Les classes fines décrivent le comportement physique avant simplification.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9701" y="4755522"/>
            <a:ext cx="1234440" cy="457200"/>
          </a:xfrm>
          <a:prstGeom prst="rect">
            <a:avLst/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left motor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9701" y="5459610"/>
            <a:ext cx="1234440" cy="457200"/>
          </a:xfrm>
          <a:prstGeom prst="rect">
            <a:avLst/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right motor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8461" y="5304162"/>
            <a:ext cx="50292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71661" y="5312664"/>
            <a:ext cx="8229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099561" y="4984122"/>
            <a:ext cx="2103120" cy="640080"/>
          </a:xfrm>
          <a:prstGeom prst="rect">
            <a:avLst/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classify_direction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→ action fine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58251" y="4992624"/>
            <a:ext cx="2331720" cy="640080"/>
          </a:xfrm>
          <a:prstGeom prst="rect">
            <a:avLst/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normalize_model_action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→ 3 classes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voiture miniature autonome • Vision-based decision making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301984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Équilibrage et augmentation : corriger le biais du circuit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dataset brut reflète le circuit et les acquisitions, pas une distribution idéale.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</a:rPr>
              <a:t>DÉSÉQUILIBRE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2062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Certaines directions sont naturellement plus fréquentes dans les acquisitions.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 modèle non corrigé apprendrait la classe majoritaire.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métrique globale peut masquer une mauvaise classe minoritaire.</a:t>
            </a:r>
            <a:endParaRPr lang="en-US" sz="1340" dirty="0"/>
          </a:p>
        </p:txBody>
      </p:sp>
      <p:sp>
        <p:nvSpPr>
          <p:cNvPr id="6" name="Text 4"/>
          <p:cNvSpPr/>
          <p:nvPr/>
        </p:nvSpPr>
        <p:spPr>
          <a:xfrm>
            <a:off x="5577840" y="1234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C55E"/>
                </a:solidFill>
              </a:rPr>
              <a:t>SOLUTION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577840" y="1600200"/>
            <a:ext cx="49377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Flip horizontal : left ↔ right, cohérent avec la symétrie du véhicule.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Échange speedA/speedB après flip.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Brightness/contrast pour simuler les variations d’éclairage.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960120" y="37307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validation de l’augmentation miroir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512064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if row["direction_class"] == "left":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new_class = "right"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elif row["direction_class"] == "right":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new_class = "left"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new_row["speedA"], new_row["speedB"] =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new_row["speedB"], new_row["speedA"]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583680" y="3977640"/>
            <a:ext cx="1417320" cy="640080"/>
          </a:xfrm>
          <a:prstGeom prst="rect">
            <a:avLst/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Train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1000 / classe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3977640"/>
            <a:ext cx="1417320" cy="640080"/>
          </a:xfrm>
          <a:prstGeom prst="rect">
            <a:avLst/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Validation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200 / classe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0" y="3977640"/>
            <a:ext cx="1143000" cy="640080"/>
          </a:xfrm>
          <a:prstGeom prst="rect">
            <a:avLst/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Test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60 / classe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voiture miniature autonome • Vision-based decision making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301984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8DF36B-333B-420E-BDD4-46022D76B85A}"/>
              </a:ext>
            </a:extLst>
          </p:cNvPr>
          <p:cNvSpPr/>
          <p:nvPr/>
        </p:nvSpPr>
        <p:spPr>
          <a:xfrm>
            <a:off x="-1" y="0"/>
            <a:ext cx="12191688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4D5A09-0284-1681-C0F1-33E28A2CFB3A}"/>
              </a:ext>
            </a:extLst>
          </p:cNvPr>
          <p:cNvSpPr/>
          <p:nvPr/>
        </p:nvSpPr>
        <p:spPr>
          <a:xfrm>
            <a:off x="-1" y="-1"/>
            <a:ext cx="12191688" cy="118872"/>
          </a:xfrm>
          <a:prstGeom prst="rect">
            <a:avLst/>
          </a:prstGeom>
          <a:solidFill>
            <a:srgbClr val="00B7A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45B90DD-07F5-0545-D030-1A05D8082C0D}"/>
              </a:ext>
            </a:extLst>
          </p:cNvPr>
          <p:cNvSpPr txBox="1"/>
          <p:nvPr/>
        </p:nvSpPr>
        <p:spPr>
          <a:xfrm>
            <a:off x="548640" y="347473"/>
            <a:ext cx="10698480" cy="5128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333" b="1">
                <a:solidFill>
                  <a:srgbClr val="0B1F3A"/>
                </a:solidFill>
                <a:latin typeface="Aptos" panose="020B0004020202020204" pitchFamily="34" charset="0"/>
              </a:rPr>
              <a:t>Architecture CNN : de l'image aux sorties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ACA699-D708-E40E-89F5-F0EECCDC1A66}"/>
              </a:ext>
            </a:extLst>
          </p:cNvPr>
          <p:cNvSpPr txBox="1"/>
          <p:nvPr/>
        </p:nvSpPr>
        <p:spPr>
          <a:xfrm>
            <a:off x="548640" y="6501385"/>
            <a:ext cx="4297680" cy="1743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33">
                <a:solidFill>
                  <a:srgbClr val="5F7387"/>
                </a:solidFill>
                <a:latin typeface="Aptos" panose="020B0004020202020204" pitchFamily="34" charset="0"/>
              </a:rPr>
              <a:t>AUTONOMOUS DRIVING CAR  |  SOUTENANCE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944FC76-D724-7671-9FBE-89F1EBC58756}"/>
              </a:ext>
            </a:extLst>
          </p:cNvPr>
          <p:cNvSpPr txBox="1"/>
          <p:nvPr/>
        </p:nvSpPr>
        <p:spPr>
          <a:xfrm>
            <a:off x="11109959" y="6501385"/>
            <a:ext cx="502920" cy="1743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133">
                <a:solidFill>
                  <a:srgbClr val="5F7387"/>
                </a:solidFill>
                <a:latin typeface="Aptos" panose="020B0004020202020204" pitchFamily="34" charset="0"/>
              </a:rPr>
              <a:t>5 / 10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3F24D04-F489-F742-7658-821E7B7776FE}"/>
              </a:ext>
            </a:extLst>
          </p:cNvPr>
          <p:cNvSpPr txBox="1"/>
          <p:nvPr/>
        </p:nvSpPr>
        <p:spPr>
          <a:xfrm>
            <a:off x="548639" y="932689"/>
            <a:ext cx="11018520" cy="59926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947">
                <a:solidFill>
                  <a:srgbClr val="424E5A"/>
                </a:solidFill>
                <a:latin typeface="Aptos" panose="020B0004020202020204" pitchFamily="34" charset="0"/>
              </a:rPr>
              <a:t>Entree par defaut : image RGB [3, 120, 160]. L'encodeur apprend des motifs de plus en plus abstraits avant les tetes de decision.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10BB364-CEA9-32D7-BA35-3343E6F46C38}"/>
              </a:ext>
            </a:extLst>
          </p:cNvPr>
          <p:cNvSpPr/>
          <p:nvPr/>
        </p:nvSpPr>
        <p:spPr>
          <a:xfrm>
            <a:off x="384047" y="1664207"/>
            <a:ext cx="1234440" cy="19659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98FA2A-44F8-0990-62A1-4B15912278D3}"/>
              </a:ext>
            </a:extLst>
          </p:cNvPr>
          <p:cNvSpPr/>
          <p:nvPr/>
        </p:nvSpPr>
        <p:spPr>
          <a:xfrm>
            <a:off x="384047" y="1664207"/>
            <a:ext cx="1234440" cy="118872"/>
          </a:xfrm>
          <a:prstGeom prst="rect">
            <a:avLst/>
          </a:prstGeom>
          <a:solidFill>
            <a:srgbClr val="2980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7D74CE5-816A-F008-1C8D-B5BB78A2C4F6}"/>
              </a:ext>
            </a:extLst>
          </p:cNvPr>
          <p:cNvSpPr txBox="1"/>
          <p:nvPr/>
        </p:nvSpPr>
        <p:spPr>
          <a:xfrm>
            <a:off x="475487" y="1965960"/>
            <a:ext cx="10515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2400" b="1">
                <a:solidFill>
                  <a:srgbClr val="1B2631"/>
                </a:solidFill>
                <a:latin typeface="Aptos" panose="020B0004020202020204" pitchFamily="34" charset="0"/>
              </a:rPr>
              <a:t>Image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D57A97C-0CD4-F64E-4F66-DCCE6FF9A93C}"/>
              </a:ext>
            </a:extLst>
          </p:cNvPr>
          <p:cNvSpPr txBox="1"/>
          <p:nvPr/>
        </p:nvSpPr>
        <p:spPr>
          <a:xfrm>
            <a:off x="475487" y="2423160"/>
            <a:ext cx="1051560" cy="2092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360">
                <a:solidFill>
                  <a:srgbClr val="424E5A"/>
                </a:solidFill>
                <a:latin typeface="Aptos" panose="020B0004020202020204" pitchFamily="34" charset="0"/>
              </a:rPr>
              <a:t>3 x 120 x 160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15DDE249-1DCD-88BD-4243-33115629ECAB}"/>
              </a:ext>
            </a:extLst>
          </p:cNvPr>
          <p:cNvSpPr/>
          <p:nvPr/>
        </p:nvSpPr>
        <p:spPr>
          <a:xfrm>
            <a:off x="1755648" y="1664207"/>
            <a:ext cx="1463040" cy="19659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B6AC28-93F3-F3F4-D0DC-BB3491040092}"/>
              </a:ext>
            </a:extLst>
          </p:cNvPr>
          <p:cNvSpPr/>
          <p:nvPr/>
        </p:nvSpPr>
        <p:spPr>
          <a:xfrm>
            <a:off x="1755648" y="1664207"/>
            <a:ext cx="1463040" cy="118872"/>
          </a:xfrm>
          <a:prstGeom prst="rect">
            <a:avLst/>
          </a:prstGeom>
          <a:solidFill>
            <a:srgbClr val="00B7A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771DAEB-3316-D126-0CEC-E8A0F8980B1D}"/>
              </a:ext>
            </a:extLst>
          </p:cNvPr>
          <p:cNvSpPr txBox="1"/>
          <p:nvPr/>
        </p:nvSpPr>
        <p:spPr>
          <a:xfrm>
            <a:off x="1847088" y="1965960"/>
            <a:ext cx="12801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2400" b="1">
                <a:solidFill>
                  <a:srgbClr val="1B2631"/>
                </a:solidFill>
                <a:latin typeface="Aptos" panose="020B0004020202020204" pitchFamily="34" charset="0"/>
              </a:rPr>
              <a:t>Bloc 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91A4C52-69AD-B20E-20E1-B532D1FD415C}"/>
              </a:ext>
            </a:extLst>
          </p:cNvPr>
          <p:cNvSpPr txBox="1"/>
          <p:nvPr/>
        </p:nvSpPr>
        <p:spPr>
          <a:xfrm>
            <a:off x="1847088" y="2423160"/>
            <a:ext cx="128016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360">
                <a:solidFill>
                  <a:srgbClr val="424E5A"/>
                </a:solidFill>
                <a:latin typeface="Aptos" panose="020B0004020202020204" pitchFamily="34" charset="0"/>
              </a:rPr>
              <a:t>Conv 3-&gt;32</a:t>
            </a:r>
          </a:p>
          <a:p>
            <a:pPr algn="ctr"/>
            <a:r>
              <a:rPr lang="pt-BR" sz="1360">
                <a:solidFill>
                  <a:srgbClr val="424E5A"/>
                </a:solidFill>
                <a:latin typeface="Aptos" panose="020B0004020202020204" pitchFamily="34" charset="0"/>
              </a:rPr>
              <a:t>BN + ReLU + Pool</a:t>
            </a:r>
          </a:p>
          <a:p>
            <a:pPr algn="ctr"/>
            <a:r>
              <a:rPr lang="pt-BR" sz="1360">
                <a:solidFill>
                  <a:srgbClr val="424E5A"/>
                </a:solidFill>
                <a:latin typeface="Aptos" panose="020B0004020202020204" pitchFamily="34" charset="0"/>
              </a:rPr>
              <a:t>32 x 60 x 80</a:t>
            </a:r>
            <a:endParaRPr lang="fr-FR" sz="1360">
              <a:solidFill>
                <a:srgbClr val="424E5A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2BAF950A-D569-B71B-0C45-839E36DA0AA6}"/>
              </a:ext>
            </a:extLst>
          </p:cNvPr>
          <p:cNvSpPr/>
          <p:nvPr/>
        </p:nvSpPr>
        <p:spPr>
          <a:xfrm>
            <a:off x="3383280" y="1664207"/>
            <a:ext cx="1463040" cy="19659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10E8A9-D619-028B-B080-5C9920A52BC9}"/>
              </a:ext>
            </a:extLst>
          </p:cNvPr>
          <p:cNvSpPr/>
          <p:nvPr/>
        </p:nvSpPr>
        <p:spPr>
          <a:xfrm>
            <a:off x="3383280" y="1664207"/>
            <a:ext cx="1463040" cy="118872"/>
          </a:xfrm>
          <a:prstGeom prst="rect">
            <a:avLst/>
          </a:prstGeom>
          <a:solidFill>
            <a:srgbClr val="00B7A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0500FE7-CFED-95F3-DB0E-C37E3441B32C}"/>
              </a:ext>
            </a:extLst>
          </p:cNvPr>
          <p:cNvSpPr txBox="1"/>
          <p:nvPr/>
        </p:nvSpPr>
        <p:spPr>
          <a:xfrm>
            <a:off x="3474720" y="1965960"/>
            <a:ext cx="12801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2400" b="1">
                <a:solidFill>
                  <a:srgbClr val="1B2631"/>
                </a:solidFill>
                <a:latin typeface="Aptos" panose="020B0004020202020204" pitchFamily="34" charset="0"/>
              </a:rPr>
              <a:t>Bloc 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042412F-07BD-EDCB-54FD-FEB8B98E9799}"/>
              </a:ext>
            </a:extLst>
          </p:cNvPr>
          <p:cNvSpPr txBox="1"/>
          <p:nvPr/>
        </p:nvSpPr>
        <p:spPr>
          <a:xfrm>
            <a:off x="3474720" y="2423160"/>
            <a:ext cx="128016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360">
                <a:solidFill>
                  <a:srgbClr val="424E5A"/>
                </a:solidFill>
                <a:latin typeface="Aptos" panose="020B0004020202020204" pitchFamily="34" charset="0"/>
              </a:rPr>
              <a:t>Conv 32-&gt;64</a:t>
            </a:r>
          </a:p>
          <a:p>
            <a:pPr algn="ctr"/>
            <a:r>
              <a:rPr lang="pt-BR" sz="1360">
                <a:solidFill>
                  <a:srgbClr val="424E5A"/>
                </a:solidFill>
                <a:latin typeface="Aptos" panose="020B0004020202020204" pitchFamily="34" charset="0"/>
              </a:rPr>
              <a:t>BN + ReLU + Pool</a:t>
            </a:r>
          </a:p>
          <a:p>
            <a:pPr algn="ctr"/>
            <a:r>
              <a:rPr lang="pt-BR" sz="1360">
                <a:solidFill>
                  <a:srgbClr val="424E5A"/>
                </a:solidFill>
                <a:latin typeface="Aptos" panose="020B0004020202020204" pitchFamily="34" charset="0"/>
              </a:rPr>
              <a:t>64 x 30 x 40</a:t>
            </a:r>
            <a:endParaRPr lang="fr-FR" sz="1360">
              <a:solidFill>
                <a:srgbClr val="424E5A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C8125B0F-8D11-EA41-34F0-D6F765803433}"/>
              </a:ext>
            </a:extLst>
          </p:cNvPr>
          <p:cNvSpPr/>
          <p:nvPr/>
        </p:nvSpPr>
        <p:spPr>
          <a:xfrm>
            <a:off x="5010912" y="1664207"/>
            <a:ext cx="1463040" cy="19659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668D65-352D-D5AE-0A6E-DA526314C8C4}"/>
              </a:ext>
            </a:extLst>
          </p:cNvPr>
          <p:cNvSpPr/>
          <p:nvPr/>
        </p:nvSpPr>
        <p:spPr>
          <a:xfrm>
            <a:off x="5010912" y="1664207"/>
            <a:ext cx="1463040" cy="118872"/>
          </a:xfrm>
          <a:prstGeom prst="rect">
            <a:avLst/>
          </a:prstGeom>
          <a:solidFill>
            <a:srgbClr val="00B7A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2897DF4-B05C-4C0B-7117-F217F40FD66C}"/>
              </a:ext>
            </a:extLst>
          </p:cNvPr>
          <p:cNvSpPr txBox="1"/>
          <p:nvPr/>
        </p:nvSpPr>
        <p:spPr>
          <a:xfrm>
            <a:off x="5102352" y="1965960"/>
            <a:ext cx="12801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2400" b="1">
                <a:solidFill>
                  <a:srgbClr val="1B2631"/>
                </a:solidFill>
                <a:latin typeface="Aptos" panose="020B0004020202020204" pitchFamily="34" charset="0"/>
              </a:rPr>
              <a:t>Bloc 3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FC7378C-4B0A-E13A-9CE9-BE056855408B}"/>
              </a:ext>
            </a:extLst>
          </p:cNvPr>
          <p:cNvSpPr txBox="1"/>
          <p:nvPr/>
        </p:nvSpPr>
        <p:spPr>
          <a:xfrm>
            <a:off x="5102352" y="2423160"/>
            <a:ext cx="128016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360">
                <a:solidFill>
                  <a:srgbClr val="424E5A"/>
                </a:solidFill>
                <a:latin typeface="Aptos" panose="020B0004020202020204" pitchFamily="34" charset="0"/>
              </a:rPr>
              <a:t>Conv 64-&gt;128</a:t>
            </a:r>
          </a:p>
          <a:p>
            <a:pPr algn="ctr"/>
            <a:r>
              <a:rPr lang="pt-BR" sz="1360">
                <a:solidFill>
                  <a:srgbClr val="424E5A"/>
                </a:solidFill>
                <a:latin typeface="Aptos" panose="020B0004020202020204" pitchFamily="34" charset="0"/>
              </a:rPr>
              <a:t>BN + ReLU + Pool</a:t>
            </a:r>
          </a:p>
          <a:p>
            <a:pPr algn="ctr"/>
            <a:r>
              <a:rPr lang="pt-BR" sz="1360">
                <a:solidFill>
                  <a:srgbClr val="424E5A"/>
                </a:solidFill>
                <a:latin typeface="Aptos" panose="020B0004020202020204" pitchFamily="34" charset="0"/>
              </a:rPr>
              <a:t>128 x 15 x 20</a:t>
            </a:r>
            <a:endParaRPr lang="fr-FR" sz="1360">
              <a:solidFill>
                <a:srgbClr val="424E5A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9140AFD-23D2-347F-B67F-611181E0EFBB}"/>
              </a:ext>
            </a:extLst>
          </p:cNvPr>
          <p:cNvSpPr/>
          <p:nvPr/>
        </p:nvSpPr>
        <p:spPr>
          <a:xfrm>
            <a:off x="6638544" y="1664207"/>
            <a:ext cx="1463040" cy="19659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8D202B-0BA6-8C56-11C1-C2D9E4F3D294}"/>
              </a:ext>
            </a:extLst>
          </p:cNvPr>
          <p:cNvSpPr/>
          <p:nvPr/>
        </p:nvSpPr>
        <p:spPr>
          <a:xfrm>
            <a:off x="6638544" y="1664207"/>
            <a:ext cx="1463040" cy="118872"/>
          </a:xfrm>
          <a:prstGeom prst="rect">
            <a:avLst/>
          </a:prstGeom>
          <a:solidFill>
            <a:srgbClr val="2CB26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CE93398-4E63-2278-C5B3-B53A63F7948D}"/>
              </a:ext>
            </a:extLst>
          </p:cNvPr>
          <p:cNvSpPr txBox="1"/>
          <p:nvPr/>
        </p:nvSpPr>
        <p:spPr>
          <a:xfrm>
            <a:off x="6729984" y="1965960"/>
            <a:ext cx="12801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2400" b="1">
                <a:solidFill>
                  <a:srgbClr val="1B2631"/>
                </a:solidFill>
                <a:latin typeface="Aptos" panose="020B0004020202020204" pitchFamily="34" charset="0"/>
              </a:rPr>
              <a:t>Bloc 4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776F769-8F05-FFBC-D1A4-76A96168E0F1}"/>
              </a:ext>
            </a:extLst>
          </p:cNvPr>
          <p:cNvSpPr txBox="1"/>
          <p:nvPr/>
        </p:nvSpPr>
        <p:spPr>
          <a:xfrm>
            <a:off x="6729984" y="2423160"/>
            <a:ext cx="128016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360">
                <a:solidFill>
                  <a:srgbClr val="424E5A"/>
                </a:solidFill>
                <a:latin typeface="Aptos" panose="020B0004020202020204" pitchFamily="34" charset="0"/>
              </a:rPr>
              <a:t>Conv 128-&gt;256</a:t>
            </a:r>
          </a:p>
          <a:p>
            <a:pPr algn="ctr"/>
            <a:r>
              <a:rPr lang="pt-BR" sz="1360">
                <a:solidFill>
                  <a:srgbClr val="424E5A"/>
                </a:solidFill>
                <a:latin typeface="Aptos" panose="020B0004020202020204" pitchFamily="34" charset="0"/>
              </a:rPr>
              <a:t>BN + ReLU</a:t>
            </a:r>
          </a:p>
          <a:p>
            <a:pPr algn="ctr"/>
            <a:r>
              <a:rPr lang="pt-BR" sz="1360">
                <a:solidFill>
                  <a:srgbClr val="424E5A"/>
                </a:solidFill>
                <a:latin typeface="Aptos" panose="020B0004020202020204" pitchFamily="34" charset="0"/>
              </a:rPr>
              <a:t>256 x 15 x 20</a:t>
            </a:r>
            <a:endParaRPr lang="fr-FR" sz="1360">
              <a:solidFill>
                <a:srgbClr val="424E5A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B3574A11-6BCC-303F-1D4C-048A53006A67}"/>
              </a:ext>
            </a:extLst>
          </p:cNvPr>
          <p:cNvSpPr/>
          <p:nvPr/>
        </p:nvSpPr>
        <p:spPr>
          <a:xfrm>
            <a:off x="8266175" y="1664207"/>
            <a:ext cx="1234440" cy="19659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DB3DF5-580E-F522-7BAF-F4D262110EC0}"/>
              </a:ext>
            </a:extLst>
          </p:cNvPr>
          <p:cNvSpPr/>
          <p:nvPr/>
        </p:nvSpPr>
        <p:spPr>
          <a:xfrm>
            <a:off x="8266175" y="1664207"/>
            <a:ext cx="1234440" cy="118872"/>
          </a:xfrm>
          <a:prstGeom prst="rect">
            <a:avLst/>
          </a:prstGeom>
          <a:solidFill>
            <a:srgbClr val="F5A6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667EF8B-5A2C-09D1-0BA7-636AB24CA5CC}"/>
              </a:ext>
            </a:extLst>
          </p:cNvPr>
          <p:cNvSpPr txBox="1"/>
          <p:nvPr/>
        </p:nvSpPr>
        <p:spPr>
          <a:xfrm>
            <a:off x="8357615" y="1965960"/>
            <a:ext cx="10515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2400" b="1">
                <a:solidFill>
                  <a:srgbClr val="1B2631"/>
                </a:solidFill>
                <a:latin typeface="Aptos" panose="020B0004020202020204" pitchFamily="34" charset="0"/>
              </a:rPr>
              <a:t>GAP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70B19DE-C5A5-D4CA-BDF0-3CFB8DC2D441}"/>
              </a:ext>
            </a:extLst>
          </p:cNvPr>
          <p:cNvSpPr txBox="1"/>
          <p:nvPr/>
        </p:nvSpPr>
        <p:spPr>
          <a:xfrm>
            <a:off x="8357615" y="2423160"/>
            <a:ext cx="105156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360">
                <a:solidFill>
                  <a:srgbClr val="424E5A"/>
                </a:solidFill>
                <a:latin typeface="Aptos" panose="020B0004020202020204" pitchFamily="34" charset="0"/>
              </a:rPr>
              <a:t>Moyenne</a:t>
            </a:r>
          </a:p>
          <a:p>
            <a:pPr algn="ctr"/>
            <a:r>
              <a:rPr lang="fr-FR" sz="1360">
                <a:solidFill>
                  <a:srgbClr val="424E5A"/>
                </a:solidFill>
                <a:latin typeface="Aptos" panose="020B0004020202020204" pitchFamily="34" charset="0"/>
              </a:rPr>
              <a:t>globale</a:t>
            </a:r>
          </a:p>
          <a:p>
            <a:pPr algn="ctr"/>
            <a:r>
              <a:rPr lang="fr-FR" sz="1360">
                <a:solidFill>
                  <a:srgbClr val="424E5A"/>
                </a:solidFill>
                <a:latin typeface="Aptos" panose="020B0004020202020204" pitchFamily="34" charset="0"/>
              </a:rPr>
              <a:t>256 x 1 x 1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E09DE635-64CB-83C4-62DB-9EC6F24DF095}"/>
              </a:ext>
            </a:extLst>
          </p:cNvPr>
          <p:cNvSpPr/>
          <p:nvPr/>
        </p:nvSpPr>
        <p:spPr>
          <a:xfrm>
            <a:off x="9665207" y="1664207"/>
            <a:ext cx="1234440" cy="19659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68E5B4-D47E-FB4A-8578-86FC2CAB0F99}"/>
              </a:ext>
            </a:extLst>
          </p:cNvPr>
          <p:cNvSpPr/>
          <p:nvPr/>
        </p:nvSpPr>
        <p:spPr>
          <a:xfrm>
            <a:off x="9665207" y="1664207"/>
            <a:ext cx="1234440" cy="118872"/>
          </a:xfrm>
          <a:prstGeom prst="rect">
            <a:avLst/>
          </a:prstGeom>
          <a:solidFill>
            <a:srgbClr val="F5A6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4C29DB7-EE39-853A-1A38-C2651DD9C21F}"/>
              </a:ext>
            </a:extLst>
          </p:cNvPr>
          <p:cNvSpPr txBox="1"/>
          <p:nvPr/>
        </p:nvSpPr>
        <p:spPr>
          <a:xfrm>
            <a:off x="9756647" y="1965960"/>
            <a:ext cx="105156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2400" b="1">
                <a:solidFill>
                  <a:srgbClr val="1B2631"/>
                </a:solidFill>
                <a:latin typeface="Aptos" panose="020B0004020202020204" pitchFamily="34" charset="0"/>
              </a:rPr>
              <a:t>Vecteur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BFFF0A62-DC6B-315D-0452-18BB22E7E722}"/>
              </a:ext>
            </a:extLst>
          </p:cNvPr>
          <p:cNvSpPr txBox="1"/>
          <p:nvPr/>
        </p:nvSpPr>
        <p:spPr>
          <a:xfrm>
            <a:off x="9756647" y="2423160"/>
            <a:ext cx="1051560" cy="4185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360">
                <a:solidFill>
                  <a:srgbClr val="424E5A"/>
                </a:solidFill>
                <a:latin typeface="Aptos" panose="020B0004020202020204" pitchFamily="34" charset="0"/>
              </a:rPr>
              <a:t>Flatten</a:t>
            </a:r>
          </a:p>
          <a:p>
            <a:pPr algn="ctr"/>
            <a:r>
              <a:rPr lang="fr-FR" sz="1360">
                <a:solidFill>
                  <a:srgbClr val="424E5A"/>
                </a:solidFill>
                <a:latin typeface="Aptos" panose="020B0004020202020204" pitchFamily="34" charset="0"/>
              </a:rPr>
              <a:t>256 valeurs</a:t>
            </a:r>
          </a:p>
        </p:txBody>
      </p:sp>
      <p:sp>
        <p:nvSpPr>
          <p:cNvPr id="36" name="Flèche : droite 35">
            <a:extLst>
              <a:ext uri="{FF2B5EF4-FFF2-40B4-BE49-F238E27FC236}">
                <a16:creationId xmlns:a16="http://schemas.microsoft.com/office/drawing/2014/main" id="{DDAE2194-D17B-0EF4-FEE1-FBE5EEA2D03F}"/>
              </a:ext>
            </a:extLst>
          </p:cNvPr>
          <p:cNvSpPr/>
          <p:nvPr/>
        </p:nvSpPr>
        <p:spPr>
          <a:xfrm>
            <a:off x="1572768" y="2487168"/>
            <a:ext cx="164592" cy="182880"/>
          </a:xfrm>
          <a:prstGeom prst="rightArrow">
            <a:avLst/>
          </a:prstGeom>
          <a:solidFill>
            <a:srgbClr val="4CB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7" name="Flèche : droite 36">
            <a:extLst>
              <a:ext uri="{FF2B5EF4-FFF2-40B4-BE49-F238E27FC236}">
                <a16:creationId xmlns:a16="http://schemas.microsoft.com/office/drawing/2014/main" id="{D26DFFD0-AF0E-38E8-DDFA-84CAE7769675}"/>
              </a:ext>
            </a:extLst>
          </p:cNvPr>
          <p:cNvSpPr/>
          <p:nvPr/>
        </p:nvSpPr>
        <p:spPr>
          <a:xfrm>
            <a:off x="3191256" y="2487168"/>
            <a:ext cx="164592" cy="182880"/>
          </a:xfrm>
          <a:prstGeom prst="rightArrow">
            <a:avLst/>
          </a:prstGeom>
          <a:solidFill>
            <a:srgbClr val="4CB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8" name="Flèche : droite 37">
            <a:extLst>
              <a:ext uri="{FF2B5EF4-FFF2-40B4-BE49-F238E27FC236}">
                <a16:creationId xmlns:a16="http://schemas.microsoft.com/office/drawing/2014/main" id="{543846E5-85CA-527D-B0C5-A84D150B5019}"/>
              </a:ext>
            </a:extLst>
          </p:cNvPr>
          <p:cNvSpPr/>
          <p:nvPr/>
        </p:nvSpPr>
        <p:spPr>
          <a:xfrm>
            <a:off x="4809744" y="2487168"/>
            <a:ext cx="164592" cy="182880"/>
          </a:xfrm>
          <a:prstGeom prst="rightArrow">
            <a:avLst/>
          </a:prstGeom>
          <a:solidFill>
            <a:srgbClr val="4CB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9" name="Flèche : droite 38">
            <a:extLst>
              <a:ext uri="{FF2B5EF4-FFF2-40B4-BE49-F238E27FC236}">
                <a16:creationId xmlns:a16="http://schemas.microsoft.com/office/drawing/2014/main" id="{E39D9490-13A2-FE86-59DD-530BFACB69C5}"/>
              </a:ext>
            </a:extLst>
          </p:cNvPr>
          <p:cNvSpPr/>
          <p:nvPr/>
        </p:nvSpPr>
        <p:spPr>
          <a:xfrm>
            <a:off x="6428232" y="2487168"/>
            <a:ext cx="164592" cy="182880"/>
          </a:xfrm>
          <a:prstGeom prst="rightArrow">
            <a:avLst/>
          </a:prstGeom>
          <a:solidFill>
            <a:srgbClr val="4CB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0" name="Flèche : droite 39">
            <a:extLst>
              <a:ext uri="{FF2B5EF4-FFF2-40B4-BE49-F238E27FC236}">
                <a16:creationId xmlns:a16="http://schemas.microsoft.com/office/drawing/2014/main" id="{A2D83EFF-4721-A1D4-7995-0FFA396DFD0A}"/>
              </a:ext>
            </a:extLst>
          </p:cNvPr>
          <p:cNvSpPr/>
          <p:nvPr/>
        </p:nvSpPr>
        <p:spPr>
          <a:xfrm>
            <a:off x="8046720" y="2487168"/>
            <a:ext cx="164592" cy="182880"/>
          </a:xfrm>
          <a:prstGeom prst="rightArrow">
            <a:avLst/>
          </a:prstGeom>
          <a:solidFill>
            <a:srgbClr val="4CB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B1C2AADC-597D-4457-C1E8-AAB0127D0473}"/>
              </a:ext>
            </a:extLst>
          </p:cNvPr>
          <p:cNvSpPr/>
          <p:nvPr/>
        </p:nvSpPr>
        <p:spPr>
          <a:xfrm>
            <a:off x="1234439" y="4251960"/>
            <a:ext cx="4617720" cy="1024128"/>
          </a:xfrm>
          <a:prstGeom prst="roundRect">
            <a:avLst/>
          </a:prstGeom>
          <a:solidFill>
            <a:srgbClr val="E5F2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00F6B76F-8F72-D44D-58E4-7AAD8EA8529A}"/>
              </a:ext>
            </a:extLst>
          </p:cNvPr>
          <p:cNvSpPr txBox="1"/>
          <p:nvPr/>
        </p:nvSpPr>
        <p:spPr>
          <a:xfrm>
            <a:off x="1481328" y="4462273"/>
            <a:ext cx="3931920" cy="287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867" b="1">
                <a:solidFill>
                  <a:srgbClr val="0B1F3A"/>
                </a:solidFill>
                <a:latin typeface="Aptos" panose="020B0004020202020204" pitchFamily="34" charset="0"/>
              </a:rPr>
              <a:t>Tete classification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27D71E3-4D4E-E9C8-C8D1-1B0C567F0921}"/>
              </a:ext>
            </a:extLst>
          </p:cNvPr>
          <p:cNvSpPr txBox="1"/>
          <p:nvPr/>
        </p:nvSpPr>
        <p:spPr>
          <a:xfrm>
            <a:off x="1481328" y="4846320"/>
            <a:ext cx="4160520" cy="4717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533">
                <a:solidFill>
                  <a:srgbClr val="424E5A"/>
                </a:solidFill>
                <a:latin typeface="Aptos" panose="020B0004020202020204" pitchFamily="34" charset="0"/>
              </a:rPr>
              <a:t>Linear 256 -&gt; 128 -&gt; ReLU -&gt; Dropout 30 % -&gt; Linear 128 -&gt; 3 logits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FB12DD62-4ADB-B723-17B0-E2B2EBDE7916}"/>
              </a:ext>
            </a:extLst>
          </p:cNvPr>
          <p:cNvSpPr/>
          <p:nvPr/>
        </p:nvSpPr>
        <p:spPr>
          <a:xfrm>
            <a:off x="6382511" y="4251960"/>
            <a:ext cx="4617720" cy="1024128"/>
          </a:xfrm>
          <a:prstGeom prst="roundRect">
            <a:avLst/>
          </a:prstGeom>
          <a:solidFill>
            <a:srgbClr val="E2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4AE217F-ADB7-E17A-17EB-08433FA99CCA}"/>
              </a:ext>
            </a:extLst>
          </p:cNvPr>
          <p:cNvSpPr txBox="1"/>
          <p:nvPr/>
        </p:nvSpPr>
        <p:spPr>
          <a:xfrm>
            <a:off x="6629400" y="4462272"/>
            <a:ext cx="40690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400" b="1">
                <a:solidFill>
                  <a:srgbClr val="0B1F3A"/>
                </a:solidFill>
                <a:latin typeface="Aptos" panose="020B0004020202020204" pitchFamily="34" charset="0"/>
              </a:rPr>
              <a:t>Tete regression (multi-tache)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2C2E9140-2A1E-68B3-A91E-034AB29B105D}"/>
              </a:ext>
            </a:extLst>
          </p:cNvPr>
          <p:cNvSpPr txBox="1"/>
          <p:nvPr/>
        </p:nvSpPr>
        <p:spPr>
          <a:xfrm>
            <a:off x="6629400" y="4846320"/>
            <a:ext cx="4160520" cy="4717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533">
                <a:solidFill>
                  <a:srgbClr val="424E5A"/>
                </a:solidFill>
                <a:latin typeface="Aptos" panose="020B0004020202020204" pitchFamily="34" charset="0"/>
              </a:rPr>
              <a:t>Linear 256 -&gt; 128 -&gt; 64 -&gt; 2, puis tanh x 100 pour speedA et speedB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E8A8ADCB-920F-1BD2-B13B-C6EC1687A2E3}"/>
              </a:ext>
            </a:extLst>
          </p:cNvPr>
          <p:cNvSpPr txBox="1"/>
          <p:nvPr/>
        </p:nvSpPr>
        <p:spPr>
          <a:xfrm>
            <a:off x="640079" y="5779008"/>
            <a:ext cx="10927080" cy="2358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533" b="1">
                <a:solidFill>
                  <a:srgbClr val="E74C3C"/>
                </a:solidFill>
                <a:latin typeface="Aptos" panose="020B0004020202020204" pitchFamily="34" charset="0"/>
              </a:rPr>
              <a:t>La boucle actuelle optimise les logits de classification ; la tete de regression est une fondation pour la suite.</a:t>
            </a:r>
          </a:p>
        </p:txBody>
      </p:sp>
    </p:spTree>
    <p:extLst>
      <p:ext uri="{BB962C8B-B14F-4D97-AF65-F5344CB8AC3E}">
        <p14:creationId xmlns:p14="http://schemas.microsoft.com/office/powerpoint/2010/main" val="931426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7AE54C-459E-B4B2-0435-9E3565ACF2AF}"/>
              </a:ext>
            </a:extLst>
          </p:cNvPr>
          <p:cNvSpPr/>
          <p:nvPr/>
        </p:nvSpPr>
        <p:spPr>
          <a:xfrm>
            <a:off x="-1" y="0"/>
            <a:ext cx="12191688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F71995-08CB-299E-EEFC-C54629680131}"/>
              </a:ext>
            </a:extLst>
          </p:cNvPr>
          <p:cNvSpPr/>
          <p:nvPr/>
        </p:nvSpPr>
        <p:spPr>
          <a:xfrm>
            <a:off x="-1" y="-1"/>
            <a:ext cx="12191688" cy="118872"/>
          </a:xfrm>
          <a:prstGeom prst="rect">
            <a:avLst/>
          </a:prstGeom>
          <a:solidFill>
            <a:srgbClr val="00B7A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9D2AE59-FF74-7723-17A4-40FF1717ED61}"/>
              </a:ext>
            </a:extLst>
          </p:cNvPr>
          <p:cNvSpPr txBox="1"/>
          <p:nvPr/>
        </p:nvSpPr>
        <p:spPr>
          <a:xfrm>
            <a:off x="548640" y="347473"/>
            <a:ext cx="10698480" cy="5128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333" b="1">
                <a:solidFill>
                  <a:srgbClr val="0B1F3A"/>
                </a:solidFill>
                <a:latin typeface="Aptos" panose="020B0004020202020204" pitchFamily="34" charset="0"/>
              </a:rPr>
              <a:t>Comment le modele apprend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6EC633F-22E2-0FA4-E18B-FDF820BD3651}"/>
              </a:ext>
            </a:extLst>
          </p:cNvPr>
          <p:cNvSpPr txBox="1"/>
          <p:nvPr/>
        </p:nvSpPr>
        <p:spPr>
          <a:xfrm>
            <a:off x="548640" y="6501385"/>
            <a:ext cx="4297680" cy="1743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33">
                <a:solidFill>
                  <a:srgbClr val="5F7387"/>
                </a:solidFill>
                <a:latin typeface="Aptos" panose="020B0004020202020204" pitchFamily="34" charset="0"/>
              </a:rPr>
              <a:t>AUTONOMOUS DRIVING CAR  |  SOUTENANCE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E3C8486-9AD8-4786-5F02-799FA26DBCDF}"/>
              </a:ext>
            </a:extLst>
          </p:cNvPr>
          <p:cNvSpPr txBox="1"/>
          <p:nvPr/>
        </p:nvSpPr>
        <p:spPr>
          <a:xfrm>
            <a:off x="11109959" y="6501385"/>
            <a:ext cx="502920" cy="1743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133">
                <a:solidFill>
                  <a:srgbClr val="5F7387"/>
                </a:solidFill>
                <a:latin typeface="Aptos" panose="020B0004020202020204" pitchFamily="34" charset="0"/>
              </a:rPr>
              <a:t>6 / 10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B67E7EF-F2C2-61C2-EBC2-A5A1E53CE1BE}"/>
              </a:ext>
            </a:extLst>
          </p:cNvPr>
          <p:cNvSpPr txBox="1"/>
          <p:nvPr/>
        </p:nvSpPr>
        <p:spPr>
          <a:xfrm>
            <a:off x="548640" y="932689"/>
            <a:ext cx="10972800" cy="62388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027">
                <a:solidFill>
                  <a:srgbClr val="424E5A"/>
                </a:solidFill>
                <a:latin typeface="Aptos" panose="020B0004020202020204" pitchFamily="34" charset="0"/>
              </a:rPr>
              <a:t>Un apprentissage consiste a repeter un cycle : predire, mesurer l'erreur, propager cette erreur, ajuster les poids.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AF03E0A-C84E-C267-68BD-4BE9A05F3E15}"/>
              </a:ext>
            </a:extLst>
          </p:cNvPr>
          <p:cNvSpPr/>
          <p:nvPr/>
        </p:nvSpPr>
        <p:spPr>
          <a:xfrm>
            <a:off x="548640" y="1828800"/>
            <a:ext cx="1901952" cy="19202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B356C11-59F5-FBA0-B295-12DE920A36B8}"/>
              </a:ext>
            </a:extLst>
          </p:cNvPr>
          <p:cNvSpPr/>
          <p:nvPr/>
        </p:nvSpPr>
        <p:spPr>
          <a:xfrm>
            <a:off x="1225296" y="1572768"/>
            <a:ext cx="548640" cy="548640"/>
          </a:xfrm>
          <a:prstGeom prst="ellipse">
            <a:avLst/>
          </a:prstGeom>
          <a:solidFill>
            <a:srgbClr val="2980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F4F9593-4278-8493-DAC9-C04844821D9F}"/>
              </a:ext>
            </a:extLst>
          </p:cNvPr>
          <p:cNvSpPr txBox="1"/>
          <p:nvPr/>
        </p:nvSpPr>
        <p:spPr>
          <a:xfrm>
            <a:off x="1408176" y="1737360"/>
            <a:ext cx="182880" cy="2358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533" b="1">
                <a:solidFill>
                  <a:srgbClr val="F8FAFC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20C44C5-57EF-9389-A1AC-30934F49715F}"/>
              </a:ext>
            </a:extLst>
          </p:cNvPr>
          <p:cNvSpPr txBox="1"/>
          <p:nvPr/>
        </p:nvSpPr>
        <p:spPr>
          <a:xfrm>
            <a:off x="713232" y="2286001"/>
            <a:ext cx="1572768" cy="287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867" b="1">
                <a:solidFill>
                  <a:srgbClr val="1B2631"/>
                </a:solidFill>
                <a:latin typeface="Aptos" panose="020B0004020202020204" pitchFamily="34" charset="0"/>
              </a:rPr>
              <a:t>Mini-batch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FBC1B0A-EABA-8D08-062C-B7BE530E2CDB}"/>
              </a:ext>
            </a:extLst>
          </p:cNvPr>
          <p:cNvSpPr txBox="1"/>
          <p:nvPr/>
        </p:nvSpPr>
        <p:spPr>
          <a:xfrm>
            <a:off x="713232" y="2761489"/>
            <a:ext cx="1572768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400">
                <a:solidFill>
                  <a:srgbClr val="424E5A"/>
                </a:solidFill>
                <a:latin typeface="Aptos" panose="020B0004020202020204" pitchFamily="34" charset="0"/>
              </a:rPr>
              <a:t>32 images</a:t>
            </a:r>
          </a:p>
          <a:p>
            <a:pPr algn="ctr"/>
            <a:r>
              <a:rPr lang="fr-FR" sz="1400">
                <a:solidFill>
                  <a:srgbClr val="424E5A"/>
                </a:solidFill>
                <a:latin typeface="Aptos" panose="020B0004020202020204" pitchFamily="34" charset="0"/>
              </a:rPr>
              <a:t>+ labels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6EDC81E-485C-BE96-545D-877F30BE84FA}"/>
              </a:ext>
            </a:extLst>
          </p:cNvPr>
          <p:cNvSpPr/>
          <p:nvPr/>
        </p:nvSpPr>
        <p:spPr>
          <a:xfrm>
            <a:off x="2807208" y="1828800"/>
            <a:ext cx="1901952" cy="19202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6F02F8A-50AC-D9FB-2C6F-02FB9A78DB1F}"/>
              </a:ext>
            </a:extLst>
          </p:cNvPr>
          <p:cNvSpPr/>
          <p:nvPr/>
        </p:nvSpPr>
        <p:spPr>
          <a:xfrm>
            <a:off x="3483864" y="1572768"/>
            <a:ext cx="548640" cy="548640"/>
          </a:xfrm>
          <a:prstGeom prst="ellipse">
            <a:avLst/>
          </a:prstGeom>
          <a:solidFill>
            <a:srgbClr val="00B7A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AB43BD9-480F-D458-73F6-3A57AD1D16EB}"/>
              </a:ext>
            </a:extLst>
          </p:cNvPr>
          <p:cNvSpPr txBox="1"/>
          <p:nvPr/>
        </p:nvSpPr>
        <p:spPr>
          <a:xfrm>
            <a:off x="3666744" y="1737360"/>
            <a:ext cx="182880" cy="2358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533" b="1">
                <a:solidFill>
                  <a:srgbClr val="F8FAFC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E67E320-1823-9F41-25A1-C68522A72014}"/>
              </a:ext>
            </a:extLst>
          </p:cNvPr>
          <p:cNvSpPr txBox="1"/>
          <p:nvPr/>
        </p:nvSpPr>
        <p:spPr>
          <a:xfrm>
            <a:off x="2971800" y="2286001"/>
            <a:ext cx="1572768" cy="287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867" b="1">
                <a:solidFill>
                  <a:srgbClr val="1B2631"/>
                </a:solidFill>
                <a:latin typeface="Aptos" panose="020B0004020202020204" pitchFamily="34" charset="0"/>
              </a:rPr>
              <a:t>Forward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AE40A54-DF99-9BC4-BF41-D4FB9BFAD1DD}"/>
              </a:ext>
            </a:extLst>
          </p:cNvPr>
          <p:cNvSpPr txBox="1"/>
          <p:nvPr/>
        </p:nvSpPr>
        <p:spPr>
          <a:xfrm>
            <a:off x="2971800" y="2761489"/>
            <a:ext cx="1572768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400">
                <a:solidFill>
                  <a:srgbClr val="424E5A"/>
                </a:solidFill>
                <a:latin typeface="Aptos" panose="020B0004020202020204" pitchFamily="34" charset="0"/>
              </a:rPr>
              <a:t>CNN -&gt;</a:t>
            </a:r>
          </a:p>
          <a:p>
            <a:pPr algn="ctr"/>
            <a:r>
              <a:rPr lang="fr-FR" sz="1400">
                <a:solidFill>
                  <a:srgbClr val="424E5A"/>
                </a:solidFill>
                <a:latin typeface="Aptos" panose="020B0004020202020204" pitchFamily="34" charset="0"/>
              </a:rPr>
              <a:t>logits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9C04AD36-A60E-FEC6-FF6A-DFB33587C3E8}"/>
              </a:ext>
            </a:extLst>
          </p:cNvPr>
          <p:cNvSpPr/>
          <p:nvPr/>
        </p:nvSpPr>
        <p:spPr>
          <a:xfrm>
            <a:off x="5065776" y="1828800"/>
            <a:ext cx="1901952" cy="19202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D0EBB17-64EE-DF76-1FC8-E3F91FB8A4FC}"/>
              </a:ext>
            </a:extLst>
          </p:cNvPr>
          <p:cNvSpPr/>
          <p:nvPr/>
        </p:nvSpPr>
        <p:spPr>
          <a:xfrm>
            <a:off x="5742432" y="1572768"/>
            <a:ext cx="548640" cy="548640"/>
          </a:xfrm>
          <a:prstGeom prst="ellipse">
            <a:avLst/>
          </a:prstGeom>
          <a:solidFill>
            <a:srgbClr val="F5A6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B6EE1AF-09A3-8E3E-4238-ADB31AA2823E}"/>
              </a:ext>
            </a:extLst>
          </p:cNvPr>
          <p:cNvSpPr txBox="1"/>
          <p:nvPr/>
        </p:nvSpPr>
        <p:spPr>
          <a:xfrm>
            <a:off x="5925312" y="1737360"/>
            <a:ext cx="182880" cy="2358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533" b="1">
                <a:solidFill>
                  <a:srgbClr val="F8FAFC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73BC6CA-DA72-81D7-3DE9-70439B3412FC}"/>
              </a:ext>
            </a:extLst>
          </p:cNvPr>
          <p:cNvSpPr txBox="1"/>
          <p:nvPr/>
        </p:nvSpPr>
        <p:spPr>
          <a:xfrm>
            <a:off x="5230368" y="2286001"/>
            <a:ext cx="1572768" cy="287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867" b="1">
                <a:solidFill>
                  <a:srgbClr val="1B2631"/>
                </a:solidFill>
                <a:latin typeface="Aptos" panose="020B0004020202020204" pitchFamily="34" charset="0"/>
              </a:rPr>
              <a:t>Loss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2E5DCFF-0790-E8C6-A05C-83DE7F531FA7}"/>
              </a:ext>
            </a:extLst>
          </p:cNvPr>
          <p:cNvSpPr txBox="1"/>
          <p:nvPr/>
        </p:nvSpPr>
        <p:spPr>
          <a:xfrm>
            <a:off x="5230368" y="2761488"/>
            <a:ext cx="1572768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400">
                <a:solidFill>
                  <a:srgbClr val="424E5A"/>
                </a:solidFill>
                <a:latin typeface="Aptos" panose="020B0004020202020204" pitchFamily="34" charset="0"/>
              </a:rPr>
              <a:t>CrossEntropy</a:t>
            </a:r>
          </a:p>
          <a:p>
            <a:pPr algn="ctr"/>
            <a:r>
              <a:rPr lang="fr-FR" sz="1400">
                <a:solidFill>
                  <a:srgbClr val="424E5A"/>
                </a:solidFill>
                <a:latin typeface="Aptos" panose="020B0004020202020204" pitchFamily="34" charset="0"/>
              </a:rPr>
              <a:t>compare prediction / verite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EB559FF-2A97-CBB8-ABDF-BC3C8E5F8D79}"/>
              </a:ext>
            </a:extLst>
          </p:cNvPr>
          <p:cNvSpPr/>
          <p:nvPr/>
        </p:nvSpPr>
        <p:spPr>
          <a:xfrm>
            <a:off x="7324344" y="1828800"/>
            <a:ext cx="1901952" cy="19202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0BADCC91-420E-9E05-50DF-EEB13350DB55}"/>
              </a:ext>
            </a:extLst>
          </p:cNvPr>
          <p:cNvSpPr/>
          <p:nvPr/>
        </p:nvSpPr>
        <p:spPr>
          <a:xfrm>
            <a:off x="8001000" y="1572768"/>
            <a:ext cx="548640" cy="548640"/>
          </a:xfrm>
          <a:prstGeom prst="ellipse">
            <a:avLst/>
          </a:prstGeom>
          <a:solidFill>
            <a:srgbClr val="E74C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36610AC-5276-1255-2058-DDE6BEB8A965}"/>
              </a:ext>
            </a:extLst>
          </p:cNvPr>
          <p:cNvSpPr txBox="1"/>
          <p:nvPr/>
        </p:nvSpPr>
        <p:spPr>
          <a:xfrm>
            <a:off x="8183880" y="1737360"/>
            <a:ext cx="182880" cy="2358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533" b="1">
                <a:solidFill>
                  <a:srgbClr val="F8FAFC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BA4A62B-3418-5BB2-2E22-EB5FA71B883D}"/>
              </a:ext>
            </a:extLst>
          </p:cNvPr>
          <p:cNvSpPr txBox="1"/>
          <p:nvPr/>
        </p:nvSpPr>
        <p:spPr>
          <a:xfrm>
            <a:off x="7488936" y="2286001"/>
            <a:ext cx="1572768" cy="287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867" b="1">
                <a:solidFill>
                  <a:srgbClr val="1B2631"/>
                </a:solidFill>
                <a:latin typeface="Aptos" panose="020B0004020202020204" pitchFamily="34" charset="0"/>
              </a:rPr>
              <a:t>Backward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53F9CD9-256C-2758-CAD4-40B11C6CF643}"/>
              </a:ext>
            </a:extLst>
          </p:cNvPr>
          <p:cNvSpPr txBox="1"/>
          <p:nvPr/>
        </p:nvSpPr>
        <p:spPr>
          <a:xfrm>
            <a:off x="7488936" y="2761489"/>
            <a:ext cx="1572768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400">
                <a:solidFill>
                  <a:srgbClr val="424E5A"/>
                </a:solidFill>
                <a:latin typeface="Aptos" panose="020B0004020202020204" pitchFamily="34" charset="0"/>
              </a:rPr>
              <a:t>gradients par</a:t>
            </a:r>
          </a:p>
          <a:p>
            <a:pPr algn="ctr"/>
            <a:r>
              <a:rPr lang="fr-FR" sz="1400">
                <a:solidFill>
                  <a:srgbClr val="424E5A"/>
                </a:solidFill>
                <a:latin typeface="Aptos" panose="020B0004020202020204" pitchFamily="34" charset="0"/>
              </a:rPr>
              <a:t>retropropagation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D526DCEE-2B15-9DE9-07DD-9CFFCB08297F}"/>
              </a:ext>
            </a:extLst>
          </p:cNvPr>
          <p:cNvSpPr/>
          <p:nvPr/>
        </p:nvSpPr>
        <p:spPr>
          <a:xfrm>
            <a:off x="9582912" y="1828800"/>
            <a:ext cx="1901952" cy="19202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656B923F-70BC-4EB3-E474-3998025A23E0}"/>
              </a:ext>
            </a:extLst>
          </p:cNvPr>
          <p:cNvSpPr/>
          <p:nvPr/>
        </p:nvSpPr>
        <p:spPr>
          <a:xfrm>
            <a:off x="10259568" y="1572768"/>
            <a:ext cx="548640" cy="548640"/>
          </a:xfrm>
          <a:prstGeom prst="ellipse">
            <a:avLst/>
          </a:prstGeom>
          <a:solidFill>
            <a:srgbClr val="2CB26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AFB58CB2-85C7-361E-7765-6730B7191B4E}"/>
              </a:ext>
            </a:extLst>
          </p:cNvPr>
          <p:cNvSpPr txBox="1"/>
          <p:nvPr/>
        </p:nvSpPr>
        <p:spPr>
          <a:xfrm>
            <a:off x="10442448" y="1737360"/>
            <a:ext cx="182880" cy="2358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533" b="1">
                <a:solidFill>
                  <a:srgbClr val="F8FAFC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A8FCD50-747F-1BE4-313A-B04CCB22A360}"/>
              </a:ext>
            </a:extLst>
          </p:cNvPr>
          <p:cNvSpPr txBox="1"/>
          <p:nvPr/>
        </p:nvSpPr>
        <p:spPr>
          <a:xfrm>
            <a:off x="9747504" y="2286001"/>
            <a:ext cx="1572768" cy="287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867" b="1">
                <a:solidFill>
                  <a:srgbClr val="1B2631"/>
                </a:solidFill>
                <a:latin typeface="Aptos" panose="020B0004020202020204" pitchFamily="34" charset="0"/>
              </a:rPr>
              <a:t>Adam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287CE3BB-F326-66DA-BBF4-E3FAEF4B7F24}"/>
              </a:ext>
            </a:extLst>
          </p:cNvPr>
          <p:cNvSpPr txBox="1"/>
          <p:nvPr/>
        </p:nvSpPr>
        <p:spPr>
          <a:xfrm>
            <a:off x="9747504" y="2761489"/>
            <a:ext cx="1572768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400">
                <a:solidFill>
                  <a:srgbClr val="424E5A"/>
                </a:solidFill>
                <a:latin typeface="Aptos" panose="020B0004020202020204" pitchFamily="34" charset="0"/>
              </a:rPr>
              <a:t>mise a jour</a:t>
            </a:r>
          </a:p>
          <a:p>
            <a:pPr algn="ctr"/>
            <a:r>
              <a:rPr lang="fr-FR" sz="1400">
                <a:solidFill>
                  <a:srgbClr val="424E5A"/>
                </a:solidFill>
                <a:latin typeface="Aptos" panose="020B0004020202020204" pitchFamily="34" charset="0"/>
              </a:rPr>
              <a:t>des poids</a:t>
            </a:r>
          </a:p>
        </p:txBody>
      </p:sp>
      <p:sp>
        <p:nvSpPr>
          <p:cNvPr id="33" name="Flèche : droite 32">
            <a:extLst>
              <a:ext uri="{FF2B5EF4-FFF2-40B4-BE49-F238E27FC236}">
                <a16:creationId xmlns:a16="http://schemas.microsoft.com/office/drawing/2014/main" id="{32C0B12C-CCAB-1729-9A2F-3B71AC749203}"/>
              </a:ext>
            </a:extLst>
          </p:cNvPr>
          <p:cNvSpPr/>
          <p:nvPr/>
        </p:nvSpPr>
        <p:spPr>
          <a:xfrm>
            <a:off x="2514599" y="2697480"/>
            <a:ext cx="283464" cy="274320"/>
          </a:xfrm>
          <a:prstGeom prst="rightArrow">
            <a:avLst/>
          </a:prstGeom>
          <a:solidFill>
            <a:srgbClr val="4CB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4" name="Flèche : droite 33">
            <a:extLst>
              <a:ext uri="{FF2B5EF4-FFF2-40B4-BE49-F238E27FC236}">
                <a16:creationId xmlns:a16="http://schemas.microsoft.com/office/drawing/2014/main" id="{EE08AD08-AB1F-48FE-8B88-2183008794F9}"/>
              </a:ext>
            </a:extLst>
          </p:cNvPr>
          <p:cNvSpPr/>
          <p:nvPr/>
        </p:nvSpPr>
        <p:spPr>
          <a:xfrm>
            <a:off x="4773167" y="2697480"/>
            <a:ext cx="283464" cy="274320"/>
          </a:xfrm>
          <a:prstGeom prst="rightArrow">
            <a:avLst/>
          </a:prstGeom>
          <a:solidFill>
            <a:srgbClr val="4CB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5" name="Flèche : droite 34">
            <a:extLst>
              <a:ext uri="{FF2B5EF4-FFF2-40B4-BE49-F238E27FC236}">
                <a16:creationId xmlns:a16="http://schemas.microsoft.com/office/drawing/2014/main" id="{74F8601E-354B-EF13-2493-A7CFFE6726F1}"/>
              </a:ext>
            </a:extLst>
          </p:cNvPr>
          <p:cNvSpPr/>
          <p:nvPr/>
        </p:nvSpPr>
        <p:spPr>
          <a:xfrm>
            <a:off x="7031735" y="2697480"/>
            <a:ext cx="283464" cy="274320"/>
          </a:xfrm>
          <a:prstGeom prst="rightArrow">
            <a:avLst/>
          </a:prstGeom>
          <a:solidFill>
            <a:srgbClr val="4CB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81A00F88-3475-65FA-5D66-0897B8312787}"/>
              </a:ext>
            </a:extLst>
          </p:cNvPr>
          <p:cNvSpPr/>
          <p:nvPr/>
        </p:nvSpPr>
        <p:spPr>
          <a:xfrm>
            <a:off x="731520" y="4498848"/>
            <a:ext cx="5212080" cy="859536"/>
          </a:xfrm>
          <a:prstGeom prst="roundRect">
            <a:avLst/>
          </a:prstGeom>
          <a:solidFill>
            <a:srgbClr val="E5F2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B96FA2C4-509F-BA52-043F-2BB72F2B0C2B}"/>
              </a:ext>
            </a:extLst>
          </p:cNvPr>
          <p:cNvSpPr txBox="1"/>
          <p:nvPr/>
        </p:nvSpPr>
        <p:spPr>
          <a:xfrm>
            <a:off x="960120" y="4718305"/>
            <a:ext cx="4736592" cy="2666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733" b="1">
                <a:solidFill>
                  <a:srgbClr val="0B1F3A"/>
                </a:solidFill>
                <a:latin typeface="Aptos" panose="020B0004020202020204" pitchFamily="34" charset="0"/>
              </a:rPr>
              <a:t>Loss : -log(probabilite de la vraie classe)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AA2001F0-8930-57FA-91A0-F4AF9B9364B2}"/>
              </a:ext>
            </a:extLst>
          </p:cNvPr>
          <p:cNvSpPr txBox="1"/>
          <p:nvPr/>
        </p:nvSpPr>
        <p:spPr>
          <a:xfrm>
            <a:off x="960120" y="5010912"/>
            <a:ext cx="4736592" cy="4185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360">
                <a:solidFill>
                  <a:srgbClr val="424E5A"/>
                </a:solidFill>
                <a:latin typeface="Aptos" panose="020B0004020202020204" pitchFamily="34" charset="0"/>
              </a:rPr>
              <a:t>Avec 3 classes uniformes, loss ~ 1.10. Une baisse durable traduit en general une meilleure attribution de probabilite.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5BB2197C-84AF-720E-73AE-10E0159E0481}"/>
              </a:ext>
            </a:extLst>
          </p:cNvPr>
          <p:cNvSpPr/>
          <p:nvPr/>
        </p:nvSpPr>
        <p:spPr>
          <a:xfrm>
            <a:off x="6245352" y="4498848"/>
            <a:ext cx="5212080" cy="859536"/>
          </a:xfrm>
          <a:prstGeom prst="roundRect">
            <a:avLst/>
          </a:prstGeom>
          <a:solidFill>
            <a:srgbClr val="E2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FCE1ED9E-DC7B-0B20-0FDB-A0BDD5FFA195}"/>
              </a:ext>
            </a:extLst>
          </p:cNvPr>
          <p:cNvSpPr txBox="1"/>
          <p:nvPr/>
        </p:nvSpPr>
        <p:spPr>
          <a:xfrm>
            <a:off x="6473952" y="4718304"/>
            <a:ext cx="4736592" cy="2666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733" b="1">
                <a:solidFill>
                  <a:srgbClr val="0B1F3A"/>
                </a:solidFill>
                <a:latin typeface="Aptos" panose="020B0004020202020204" pitchFamily="34" charset="0"/>
              </a:rPr>
              <a:t>Adam : lr = 0.001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3D017E13-A374-560A-CB52-A32154CEEBB9}"/>
              </a:ext>
            </a:extLst>
          </p:cNvPr>
          <p:cNvSpPr txBox="1"/>
          <p:nvPr/>
        </p:nvSpPr>
        <p:spPr>
          <a:xfrm>
            <a:off x="6473952" y="5010912"/>
            <a:ext cx="4736592" cy="4185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360">
                <a:solidFill>
                  <a:srgbClr val="424E5A"/>
                </a:solidFill>
                <a:latin typeface="Aptos" panose="020B0004020202020204" pitchFamily="34" charset="0"/>
              </a:rPr>
              <a:t>Il utilise l'historique des gradients pour adapter le pas de chaque poids. Les gradients sont remis a zero avant chaque lot.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5D3E3D3F-D776-CDE1-0F39-63E5018B2DC0}"/>
              </a:ext>
            </a:extLst>
          </p:cNvPr>
          <p:cNvSpPr txBox="1"/>
          <p:nvPr/>
        </p:nvSpPr>
        <p:spPr>
          <a:xfrm>
            <a:off x="658367" y="5833873"/>
            <a:ext cx="10927080" cy="2319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507" b="1">
                <a:solidFill>
                  <a:srgbClr val="E74C3C"/>
                </a:solidFill>
                <a:latin typeface="Aptos" panose="020B0004020202020204" pitchFamily="34" charset="0"/>
              </a:rPr>
              <a:t>Une loss de train qui baisse alors que la validation stagne peut signaler du surapprentissage : le test final reste indispensable.</a:t>
            </a:r>
          </a:p>
        </p:txBody>
      </p:sp>
    </p:spTree>
    <p:extLst>
      <p:ext uri="{BB962C8B-B14F-4D97-AF65-F5344CB8AC3E}">
        <p14:creationId xmlns:p14="http://schemas.microsoft.com/office/powerpoint/2010/main" val="1630524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23D3CB-DC43-9559-A805-E341DA2BF9AE}"/>
              </a:ext>
            </a:extLst>
          </p:cNvPr>
          <p:cNvSpPr/>
          <p:nvPr/>
        </p:nvSpPr>
        <p:spPr>
          <a:xfrm>
            <a:off x="-1" y="0"/>
            <a:ext cx="12191688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54244D-4AC0-C24B-166B-DBECB8F4A3AB}"/>
              </a:ext>
            </a:extLst>
          </p:cNvPr>
          <p:cNvSpPr/>
          <p:nvPr/>
        </p:nvSpPr>
        <p:spPr>
          <a:xfrm>
            <a:off x="-1" y="-1"/>
            <a:ext cx="12191688" cy="118872"/>
          </a:xfrm>
          <a:prstGeom prst="rect">
            <a:avLst/>
          </a:prstGeom>
          <a:solidFill>
            <a:srgbClr val="00B7A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92C4F6-6C0B-583A-6245-B5549DF32FCE}"/>
              </a:ext>
            </a:extLst>
          </p:cNvPr>
          <p:cNvSpPr txBox="1"/>
          <p:nvPr/>
        </p:nvSpPr>
        <p:spPr>
          <a:xfrm>
            <a:off x="548640" y="347473"/>
            <a:ext cx="10698480" cy="5128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333" b="1">
                <a:solidFill>
                  <a:srgbClr val="0B1F3A"/>
                </a:solidFill>
                <a:latin typeface="Aptos" panose="020B0004020202020204" pitchFamily="34" charset="0"/>
              </a:rPr>
              <a:t>Inference : d'une image a une action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FE131D2-1FF1-22D1-2CBC-281B34F44681}"/>
              </a:ext>
            </a:extLst>
          </p:cNvPr>
          <p:cNvSpPr txBox="1"/>
          <p:nvPr/>
        </p:nvSpPr>
        <p:spPr>
          <a:xfrm>
            <a:off x="548640" y="6501385"/>
            <a:ext cx="4297680" cy="1743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33">
                <a:solidFill>
                  <a:srgbClr val="5F7387"/>
                </a:solidFill>
                <a:latin typeface="Aptos" panose="020B0004020202020204" pitchFamily="34" charset="0"/>
              </a:rPr>
              <a:t>AUTONOMOUS DRIVING CAR  |  SOUTENANCE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DAB2FE4-D7B4-098B-EA90-F0B634AB59D2}"/>
              </a:ext>
            </a:extLst>
          </p:cNvPr>
          <p:cNvSpPr txBox="1"/>
          <p:nvPr/>
        </p:nvSpPr>
        <p:spPr>
          <a:xfrm>
            <a:off x="11109959" y="6501385"/>
            <a:ext cx="502920" cy="1743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133" dirty="0">
                <a:solidFill>
                  <a:srgbClr val="5F7387"/>
                </a:solidFill>
                <a:latin typeface="Aptos" panose="020B0004020202020204" pitchFamily="34" charset="0"/>
              </a:rPr>
              <a:t>8 / 10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B013420-4663-C4F1-3880-2EDADEC260C7}"/>
              </a:ext>
            </a:extLst>
          </p:cNvPr>
          <p:cNvSpPr txBox="1"/>
          <p:nvPr/>
        </p:nvSpPr>
        <p:spPr>
          <a:xfrm>
            <a:off x="548640" y="932689"/>
            <a:ext cx="109728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000" dirty="0">
                <a:solidFill>
                  <a:srgbClr val="424E5A"/>
                </a:solidFill>
                <a:latin typeface="Aptos" panose="020B0004020202020204" pitchFamily="34" charset="0"/>
              </a:rPr>
              <a:t>L'</a:t>
            </a:r>
            <a:r>
              <a:rPr lang="fr-FR" sz="2000" dirty="0" err="1">
                <a:solidFill>
                  <a:srgbClr val="424E5A"/>
                </a:solidFill>
                <a:latin typeface="Aptos" panose="020B0004020202020204" pitchFamily="34" charset="0"/>
              </a:rPr>
              <a:t>inference</a:t>
            </a:r>
            <a:r>
              <a:rPr lang="fr-FR" sz="2000" dirty="0">
                <a:solidFill>
                  <a:srgbClr val="424E5A"/>
                </a:solidFill>
                <a:latin typeface="Aptos" panose="020B0004020202020204" pitchFamily="34" charset="0"/>
              </a:rPr>
              <a:t> recharge un checkpoint, applique exactement le </a:t>
            </a:r>
            <a:r>
              <a:rPr lang="fr-FR" sz="2000" dirty="0" err="1">
                <a:solidFill>
                  <a:srgbClr val="424E5A"/>
                </a:solidFill>
                <a:latin typeface="Aptos" panose="020B0004020202020204" pitchFamily="34" charset="0"/>
              </a:rPr>
              <a:t>pretraitement</a:t>
            </a:r>
            <a:r>
              <a:rPr lang="fr-FR" sz="2000" dirty="0">
                <a:solidFill>
                  <a:srgbClr val="424E5A"/>
                </a:solidFill>
                <a:latin typeface="Aptos" panose="020B0004020202020204" pitchFamily="34" charset="0"/>
              </a:rPr>
              <a:t> d'</a:t>
            </a:r>
            <a:r>
              <a:rPr lang="fr-FR" sz="2000" dirty="0" err="1">
                <a:solidFill>
                  <a:srgbClr val="424E5A"/>
                </a:solidFill>
                <a:latin typeface="Aptos" panose="020B0004020202020204" pitchFamily="34" charset="0"/>
              </a:rPr>
              <a:t>evaluation</a:t>
            </a:r>
            <a:r>
              <a:rPr lang="fr-FR" sz="2000" dirty="0">
                <a:solidFill>
                  <a:srgbClr val="424E5A"/>
                </a:solidFill>
                <a:latin typeface="Aptos" panose="020B0004020202020204" pitchFamily="34" charset="0"/>
              </a:rPr>
              <a:t>, puis renvoie une classe et sa confiance.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0EB6F08-9ABC-7F3A-C7E4-57417D5F6E3E}"/>
              </a:ext>
            </a:extLst>
          </p:cNvPr>
          <p:cNvSpPr/>
          <p:nvPr/>
        </p:nvSpPr>
        <p:spPr>
          <a:xfrm>
            <a:off x="566928" y="1828800"/>
            <a:ext cx="1828800" cy="193852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D7ADF9-76D7-E545-E293-CF3416C3262C}"/>
              </a:ext>
            </a:extLst>
          </p:cNvPr>
          <p:cNvSpPr/>
          <p:nvPr/>
        </p:nvSpPr>
        <p:spPr>
          <a:xfrm>
            <a:off x="566928" y="1828799"/>
            <a:ext cx="1828800" cy="118872"/>
          </a:xfrm>
          <a:prstGeom prst="rect">
            <a:avLst/>
          </a:prstGeom>
          <a:solidFill>
            <a:srgbClr val="2980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CFDBFBC-F930-D834-0D5D-3D777577AB28}"/>
              </a:ext>
            </a:extLst>
          </p:cNvPr>
          <p:cNvSpPr txBox="1"/>
          <p:nvPr/>
        </p:nvSpPr>
        <p:spPr>
          <a:xfrm>
            <a:off x="617220" y="2249424"/>
            <a:ext cx="1641348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2400" b="1" dirty="0">
                <a:solidFill>
                  <a:srgbClr val="1B2631"/>
                </a:solidFill>
                <a:latin typeface="Aptos" panose="020B0004020202020204" pitchFamily="34" charset="0"/>
              </a:rPr>
              <a:t>Checkpoint .</a:t>
            </a:r>
            <a:r>
              <a:rPr lang="fr-FR" sz="2400" b="1" dirty="0" err="1">
                <a:solidFill>
                  <a:srgbClr val="1B2631"/>
                </a:solidFill>
                <a:latin typeface="Aptos" panose="020B0004020202020204" pitchFamily="34" charset="0"/>
              </a:rPr>
              <a:t>pth</a:t>
            </a:r>
            <a:endParaRPr lang="fr-FR" sz="2400" b="1" dirty="0">
              <a:solidFill>
                <a:srgbClr val="1B2631"/>
              </a:solidFill>
              <a:latin typeface="Aptos" panose="020B00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485F7F6-1713-5127-E9D0-0F802FB6B6F8}"/>
              </a:ext>
            </a:extLst>
          </p:cNvPr>
          <p:cNvSpPr txBox="1"/>
          <p:nvPr/>
        </p:nvSpPr>
        <p:spPr>
          <a:xfrm>
            <a:off x="617220" y="3008063"/>
            <a:ext cx="1554480" cy="4392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427" dirty="0">
                <a:solidFill>
                  <a:srgbClr val="424E5A"/>
                </a:solidFill>
                <a:latin typeface="Aptos" panose="020B0004020202020204" pitchFamily="34" charset="0"/>
              </a:rPr>
              <a:t>poids + classes</a:t>
            </a:r>
          </a:p>
          <a:p>
            <a:pPr algn="ctr"/>
            <a:r>
              <a:rPr lang="fr-FR" sz="1427" dirty="0">
                <a:solidFill>
                  <a:srgbClr val="424E5A"/>
                </a:solidFill>
                <a:latin typeface="Aptos" panose="020B0004020202020204" pitchFamily="34" charset="0"/>
              </a:rPr>
              <a:t>+ taille image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9ABD065-08C6-34C2-E906-B5C8C3CC4DB3}"/>
              </a:ext>
            </a:extLst>
          </p:cNvPr>
          <p:cNvSpPr/>
          <p:nvPr/>
        </p:nvSpPr>
        <p:spPr>
          <a:xfrm>
            <a:off x="2880360" y="1828800"/>
            <a:ext cx="1828800" cy="193852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048CDD-3039-3347-EAC1-15AA73D571E4}"/>
              </a:ext>
            </a:extLst>
          </p:cNvPr>
          <p:cNvSpPr/>
          <p:nvPr/>
        </p:nvSpPr>
        <p:spPr>
          <a:xfrm>
            <a:off x="2880360" y="1828799"/>
            <a:ext cx="1828800" cy="118872"/>
          </a:xfrm>
          <a:prstGeom prst="rect">
            <a:avLst/>
          </a:prstGeom>
          <a:solidFill>
            <a:srgbClr val="00B7A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045ECCB-DFD3-FD4C-5CC9-EAC12ECC5516}"/>
              </a:ext>
            </a:extLst>
          </p:cNvPr>
          <p:cNvSpPr txBox="1"/>
          <p:nvPr/>
        </p:nvSpPr>
        <p:spPr>
          <a:xfrm>
            <a:off x="3017520" y="2249424"/>
            <a:ext cx="15544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2400" b="1">
                <a:solidFill>
                  <a:srgbClr val="1B2631"/>
                </a:solidFill>
                <a:latin typeface="Aptos" panose="020B0004020202020204" pitchFamily="34" charset="0"/>
              </a:rPr>
              <a:t>Image RGB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E17FB50-9602-2F96-79EC-E0658AA93E67}"/>
              </a:ext>
            </a:extLst>
          </p:cNvPr>
          <p:cNvSpPr txBox="1"/>
          <p:nvPr/>
        </p:nvSpPr>
        <p:spPr>
          <a:xfrm>
            <a:off x="3017520" y="2697481"/>
            <a:ext cx="1554480" cy="4392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427" dirty="0" err="1">
                <a:solidFill>
                  <a:srgbClr val="424E5A"/>
                </a:solidFill>
                <a:latin typeface="Aptos" panose="020B0004020202020204" pitchFamily="34" charset="0"/>
              </a:rPr>
              <a:t>resize</a:t>
            </a:r>
            <a:endParaRPr lang="fr-FR" sz="1427" dirty="0">
              <a:solidFill>
                <a:srgbClr val="424E5A"/>
              </a:solidFill>
              <a:latin typeface="Aptos" panose="020B0004020202020204" pitchFamily="34" charset="0"/>
            </a:endParaRPr>
          </a:p>
          <a:p>
            <a:pPr algn="ctr"/>
            <a:r>
              <a:rPr lang="fr-FR" sz="1427" dirty="0">
                <a:solidFill>
                  <a:srgbClr val="424E5A"/>
                </a:solidFill>
                <a:latin typeface="Aptos" panose="020B0004020202020204" pitchFamily="34" charset="0"/>
              </a:rPr>
              <a:t>normalisation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E5F054C-7D03-1B05-6D32-4DDD40906C5E}"/>
              </a:ext>
            </a:extLst>
          </p:cNvPr>
          <p:cNvSpPr/>
          <p:nvPr/>
        </p:nvSpPr>
        <p:spPr>
          <a:xfrm>
            <a:off x="5193792" y="1828800"/>
            <a:ext cx="1828800" cy="193852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4B5FF4-7C4F-BCDC-0795-7EC56635EE08}"/>
              </a:ext>
            </a:extLst>
          </p:cNvPr>
          <p:cNvSpPr/>
          <p:nvPr/>
        </p:nvSpPr>
        <p:spPr>
          <a:xfrm>
            <a:off x="5193792" y="1828799"/>
            <a:ext cx="1828800" cy="118872"/>
          </a:xfrm>
          <a:prstGeom prst="rect">
            <a:avLst/>
          </a:prstGeom>
          <a:solidFill>
            <a:srgbClr val="F5A6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AD788C6-4A0E-68E2-5428-F179519278F2}"/>
              </a:ext>
            </a:extLst>
          </p:cNvPr>
          <p:cNvSpPr txBox="1"/>
          <p:nvPr/>
        </p:nvSpPr>
        <p:spPr>
          <a:xfrm>
            <a:off x="5330952" y="2249424"/>
            <a:ext cx="155448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2400" b="1">
                <a:solidFill>
                  <a:srgbClr val="1B2631"/>
                </a:solidFill>
                <a:latin typeface="Aptos" panose="020B0004020202020204" pitchFamily="34" charset="0"/>
              </a:rPr>
              <a:t>Modele eval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2E8C4CE-1FFF-ABE7-A324-4562E43B1A23}"/>
              </a:ext>
            </a:extLst>
          </p:cNvPr>
          <p:cNvSpPr txBox="1"/>
          <p:nvPr/>
        </p:nvSpPr>
        <p:spPr>
          <a:xfrm>
            <a:off x="5330952" y="3268824"/>
            <a:ext cx="1554480" cy="4392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427" dirty="0" err="1">
                <a:solidFill>
                  <a:srgbClr val="424E5A"/>
                </a:solidFill>
                <a:latin typeface="Aptos" panose="020B0004020202020204" pitchFamily="34" charset="0"/>
              </a:rPr>
              <a:t>forward</a:t>
            </a:r>
            <a:r>
              <a:rPr lang="fr-FR" sz="1427" dirty="0">
                <a:solidFill>
                  <a:srgbClr val="424E5A"/>
                </a:solidFill>
                <a:latin typeface="Aptos" panose="020B0004020202020204" pitchFamily="34" charset="0"/>
              </a:rPr>
              <a:t> sans</a:t>
            </a:r>
          </a:p>
          <a:p>
            <a:pPr algn="ctr"/>
            <a:r>
              <a:rPr lang="fr-FR" sz="1427" dirty="0">
                <a:solidFill>
                  <a:srgbClr val="424E5A"/>
                </a:solidFill>
                <a:latin typeface="Aptos" panose="020B0004020202020204" pitchFamily="34" charset="0"/>
              </a:rPr>
              <a:t>gradient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2E87039-1132-9F4A-B662-583DD2ED28A9}"/>
              </a:ext>
            </a:extLst>
          </p:cNvPr>
          <p:cNvSpPr/>
          <p:nvPr/>
        </p:nvSpPr>
        <p:spPr>
          <a:xfrm>
            <a:off x="7507224" y="1828800"/>
            <a:ext cx="1828800" cy="193852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22637B-19C1-4AF8-DB94-282F0367916F}"/>
              </a:ext>
            </a:extLst>
          </p:cNvPr>
          <p:cNvSpPr/>
          <p:nvPr/>
        </p:nvSpPr>
        <p:spPr>
          <a:xfrm>
            <a:off x="7507224" y="1828799"/>
            <a:ext cx="1828800" cy="118872"/>
          </a:xfrm>
          <a:prstGeom prst="rect">
            <a:avLst/>
          </a:prstGeom>
          <a:solidFill>
            <a:srgbClr val="2CB26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73F68CB-46EC-FA5F-9EC2-9FE3D9FC06DB}"/>
              </a:ext>
            </a:extLst>
          </p:cNvPr>
          <p:cNvSpPr txBox="1"/>
          <p:nvPr/>
        </p:nvSpPr>
        <p:spPr>
          <a:xfrm>
            <a:off x="7644384" y="2249424"/>
            <a:ext cx="15544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2400" b="1">
                <a:solidFill>
                  <a:srgbClr val="1B2631"/>
                </a:solidFill>
                <a:latin typeface="Aptos" panose="020B0004020202020204" pitchFamily="34" charset="0"/>
              </a:rPr>
              <a:t>Softmax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A57A891-597C-0CFB-1336-066E85623C88}"/>
              </a:ext>
            </a:extLst>
          </p:cNvPr>
          <p:cNvSpPr txBox="1"/>
          <p:nvPr/>
        </p:nvSpPr>
        <p:spPr>
          <a:xfrm>
            <a:off x="7644384" y="2697481"/>
            <a:ext cx="1554480" cy="4392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427">
                <a:solidFill>
                  <a:srgbClr val="424E5A"/>
                </a:solidFill>
                <a:latin typeface="Aptos" panose="020B0004020202020204" pitchFamily="34" charset="0"/>
              </a:rPr>
              <a:t>probabilites</a:t>
            </a:r>
          </a:p>
          <a:p>
            <a:pPr algn="ctr"/>
            <a:r>
              <a:rPr lang="fr-FR" sz="1427">
                <a:solidFill>
                  <a:srgbClr val="424E5A"/>
                </a:solidFill>
                <a:latin typeface="Aptos" panose="020B0004020202020204" pitchFamily="34" charset="0"/>
              </a:rPr>
              <a:t>par classe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CF49BF69-5216-72AD-C715-E2EFEB98224E}"/>
              </a:ext>
            </a:extLst>
          </p:cNvPr>
          <p:cNvSpPr/>
          <p:nvPr/>
        </p:nvSpPr>
        <p:spPr>
          <a:xfrm>
            <a:off x="9820656" y="1828800"/>
            <a:ext cx="1828800" cy="193852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F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30C9C9-5617-3CD0-D904-B3090F145583}"/>
              </a:ext>
            </a:extLst>
          </p:cNvPr>
          <p:cNvSpPr/>
          <p:nvPr/>
        </p:nvSpPr>
        <p:spPr>
          <a:xfrm>
            <a:off x="9820656" y="1828799"/>
            <a:ext cx="1828800" cy="118872"/>
          </a:xfrm>
          <a:prstGeom prst="rect">
            <a:avLst/>
          </a:prstGeom>
          <a:solidFill>
            <a:srgbClr val="E74C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51D8533-259D-092C-16F4-F8B4D6E3819D}"/>
              </a:ext>
            </a:extLst>
          </p:cNvPr>
          <p:cNvSpPr txBox="1"/>
          <p:nvPr/>
        </p:nvSpPr>
        <p:spPr>
          <a:xfrm>
            <a:off x="9957816" y="2249424"/>
            <a:ext cx="15544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2400" b="1">
                <a:solidFill>
                  <a:srgbClr val="1B2631"/>
                </a:solidFill>
                <a:latin typeface="Aptos" panose="020B0004020202020204" pitchFamily="34" charset="0"/>
              </a:rPr>
              <a:t>Decision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CD456B7-6395-7A28-DAD5-B5D0FFD726DC}"/>
              </a:ext>
            </a:extLst>
          </p:cNvPr>
          <p:cNvSpPr txBox="1"/>
          <p:nvPr/>
        </p:nvSpPr>
        <p:spPr>
          <a:xfrm>
            <a:off x="9957816" y="2697481"/>
            <a:ext cx="1554480" cy="4392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427">
                <a:solidFill>
                  <a:srgbClr val="424E5A"/>
                </a:solidFill>
                <a:latin typeface="Aptos" panose="020B0004020202020204" pitchFamily="34" charset="0"/>
              </a:rPr>
              <a:t>argmax -&gt; action</a:t>
            </a:r>
          </a:p>
          <a:p>
            <a:pPr algn="ctr"/>
            <a:r>
              <a:rPr lang="fr-FR" sz="1427">
                <a:solidFill>
                  <a:srgbClr val="424E5A"/>
                </a:solidFill>
                <a:latin typeface="Aptos" panose="020B0004020202020204" pitchFamily="34" charset="0"/>
              </a:rPr>
              <a:t>+ confiance</a:t>
            </a:r>
          </a:p>
        </p:txBody>
      </p:sp>
      <p:sp>
        <p:nvSpPr>
          <p:cNvPr id="28" name="Flèche : droite 27">
            <a:extLst>
              <a:ext uri="{FF2B5EF4-FFF2-40B4-BE49-F238E27FC236}">
                <a16:creationId xmlns:a16="http://schemas.microsoft.com/office/drawing/2014/main" id="{F30B9F15-FA1D-BC9C-01AB-82DA22F997AA}"/>
              </a:ext>
            </a:extLst>
          </p:cNvPr>
          <p:cNvSpPr/>
          <p:nvPr/>
        </p:nvSpPr>
        <p:spPr>
          <a:xfrm>
            <a:off x="2542032" y="2688336"/>
            <a:ext cx="292608" cy="274320"/>
          </a:xfrm>
          <a:prstGeom prst="rightArrow">
            <a:avLst/>
          </a:prstGeom>
          <a:solidFill>
            <a:srgbClr val="4CB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F5ED7C84-307C-86CC-CCD2-5263F569F30E}"/>
              </a:ext>
            </a:extLst>
          </p:cNvPr>
          <p:cNvSpPr/>
          <p:nvPr/>
        </p:nvSpPr>
        <p:spPr>
          <a:xfrm>
            <a:off x="4855464" y="2688336"/>
            <a:ext cx="292608" cy="274320"/>
          </a:xfrm>
          <a:prstGeom prst="rightArrow">
            <a:avLst/>
          </a:prstGeom>
          <a:solidFill>
            <a:srgbClr val="4CB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5544F053-C719-8375-1CDF-3DBBECA84E9A}"/>
              </a:ext>
            </a:extLst>
          </p:cNvPr>
          <p:cNvSpPr/>
          <p:nvPr/>
        </p:nvSpPr>
        <p:spPr>
          <a:xfrm>
            <a:off x="7168896" y="2688336"/>
            <a:ext cx="292608" cy="274320"/>
          </a:xfrm>
          <a:prstGeom prst="rightArrow">
            <a:avLst/>
          </a:prstGeom>
          <a:solidFill>
            <a:srgbClr val="4CB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200FADB7-65A2-B871-2371-80F07573C3C4}"/>
              </a:ext>
            </a:extLst>
          </p:cNvPr>
          <p:cNvSpPr/>
          <p:nvPr/>
        </p:nvSpPr>
        <p:spPr>
          <a:xfrm>
            <a:off x="777239" y="4480559"/>
            <a:ext cx="5623560" cy="777240"/>
          </a:xfrm>
          <a:prstGeom prst="roundRect">
            <a:avLst/>
          </a:prstGeom>
          <a:solidFill>
            <a:srgbClr val="E5F2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4EBA6A71-E1B5-A438-EEAA-0345BFB9887A}"/>
              </a:ext>
            </a:extLst>
          </p:cNvPr>
          <p:cNvSpPr txBox="1"/>
          <p:nvPr/>
        </p:nvSpPr>
        <p:spPr>
          <a:xfrm>
            <a:off x="1024128" y="4736593"/>
            <a:ext cx="5138928" cy="4801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560" b="1">
                <a:solidFill>
                  <a:srgbClr val="0B1F3A"/>
                </a:solidFill>
                <a:latin typeface="Aptos" panose="020B0004020202020204" pitchFamily="34" charset="0"/>
              </a:rPr>
              <a:t>Commande : python predict_action.py image.png --model-path MULTITASK_DRIVING_CNN.pth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E85E4B1B-C4A8-62FE-B799-E9C25040CD02}"/>
              </a:ext>
            </a:extLst>
          </p:cNvPr>
          <p:cNvSpPr/>
          <p:nvPr/>
        </p:nvSpPr>
        <p:spPr>
          <a:xfrm>
            <a:off x="6693407" y="4480559"/>
            <a:ext cx="4709160" cy="777240"/>
          </a:xfrm>
          <a:prstGeom prst="roundRect">
            <a:avLst/>
          </a:prstGeom>
          <a:solidFill>
            <a:srgbClr val="E2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52CACE4-0653-9D20-A8B1-ED377D85A95E}"/>
              </a:ext>
            </a:extLst>
          </p:cNvPr>
          <p:cNvSpPr txBox="1"/>
          <p:nvPr/>
        </p:nvSpPr>
        <p:spPr>
          <a:xfrm>
            <a:off x="6931152" y="4736593"/>
            <a:ext cx="4224528" cy="4801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60" b="1">
                <a:solidFill>
                  <a:srgbClr val="0B1F3A"/>
                </a:solidFill>
                <a:latin typeface="Aptos" panose="020B0004020202020204" pitchFamily="34" charset="0"/>
              </a:rPr>
              <a:t>Sortie attendue : Predicted action: left | Confidence: 87.42 %</a:t>
            </a:r>
            <a:endParaRPr lang="fr-FR" sz="1560" b="1">
              <a:solidFill>
                <a:srgbClr val="0B1F3A"/>
              </a:solidFill>
              <a:latin typeface="Aptos" panose="020B0004020202020204" pitchFamily="3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7A3928FE-AEEB-23D2-9A5E-4ACDC4BAAD63}"/>
              </a:ext>
            </a:extLst>
          </p:cNvPr>
          <p:cNvSpPr txBox="1"/>
          <p:nvPr/>
        </p:nvSpPr>
        <p:spPr>
          <a:xfrm>
            <a:off x="685800" y="5833873"/>
            <a:ext cx="10881360" cy="2319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507" b="1">
                <a:solidFill>
                  <a:srgbClr val="E74C3C"/>
                </a:solidFill>
                <a:latin typeface="Aptos" panose="020B0004020202020204" pitchFamily="34" charset="0"/>
              </a:rPr>
              <a:t>Point technique actuel : le modele multi-tache retourne un dictionnaire ; il faut extraire outputs["logits"] avant softmax.</a:t>
            </a:r>
          </a:p>
        </p:txBody>
      </p:sp>
    </p:spTree>
    <p:extLst>
      <p:ext uri="{BB962C8B-B14F-4D97-AF65-F5344CB8AC3E}">
        <p14:creationId xmlns:p14="http://schemas.microsoft.com/office/powerpoint/2010/main" val="2406397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Chargement PyTorch : images, labels et vitesses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Dataset fournit simultanément les cibles classification et régression.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17043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classe Dataset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4800600" cy="2057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 = CLASS_TO_IDX[row["direction_class"]]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label = torch.tensor(label, dtype=torch.long)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speedA = float(row["speedA"]) / 100.0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speedB = float(row["speedB"]) / 100.0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speeds = torch.tensor([speedA, speedB], dtype=torch.float32)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72200" y="1325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</a:rPr>
              <a:t>TRANSFORMS TRAIN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172200" y="1664208"/>
            <a:ext cx="24688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Resize 224×224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ColorJitter + blur léger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RandomAffine modéré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Normalisation ImageNet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89720" y="1325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C55E"/>
                </a:solidFill>
              </a:rPr>
              <a:t>TRANSFORMS EVAL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189720" y="1664208"/>
            <a:ext cx="22860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Resize 224×224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ToTensor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Normalisation ImageNet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Aucune augmentation aléatoire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617720"/>
            <a:ext cx="5303520" cy="502920"/>
          </a:xfrm>
          <a:prstGeom prst="rect">
            <a:avLst/>
          </a:prstGeom>
          <a:noFill/>
          <a:ln/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Pourquoi 224×224 ? Cohérence avec les poids ImageNet de MobileNetV3.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4617720"/>
            <a:ext cx="5029200" cy="502920"/>
          </a:xfrm>
          <a:prstGeom prst="rect">
            <a:avLst/>
          </a:prstGeom>
          <a:noFill/>
          <a:ln/>
        </p:spPr>
        <p:txBody>
          <a:bodyPr wrap="square" lIns="1397" tIns="1397" rIns="1397" bIns="139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</a:rPr>
              <a:t>Pourquoi vitesses /100 ? Sortie régression bornée entre 0 et 1.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voiture miniature autonome • Vision-based decision making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01984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Choix modèle : du CNN baseline au MobileNetV3 multi-tâches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choix final répond aux contraintes de performance, données limitées et potentiel embarqué.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86200" y="1417320"/>
            <a:ext cx="2148840" cy="685800"/>
          </a:xfrm>
          <a:prstGeom prst="rect">
            <a:avLst/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MobileNetV3 Large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pré-entraîné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755648"/>
            <a:ext cx="8229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132320" y="1417320"/>
            <a:ext cx="2240280" cy="685800"/>
          </a:xfrm>
          <a:prstGeom prst="rect">
            <a:avLst/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Multi-tâches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direction + vitesses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</a:rPr>
              <a:t>POURQUOI PAS UNIQUEMENT UN CNN FROM SCRATCH ?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47548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Besoin de plus de données réelles pour généraliser.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Risque d’apprendre le circuit plutôt que des indices visuels robustes.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Convergence plus lente et sensibilité au split.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400800" y="2743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C55E"/>
                </a:solidFill>
              </a:rPr>
              <a:t>POURQUOI MOBILENETV3 ?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0" y="3063240"/>
            <a:ext cx="448056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Transfert ImageNet : contours, textures, contrastes déjà appris.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Architecture </a:t>
            </a:r>
            <a:r>
              <a:rPr lang="en-US" sz="132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pertinente</a:t>
            </a: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pour un véhicule miniature.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Facile à adapter avec deux têtes de sortie.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voiture miniature autonome • Vision-based decision making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301984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finale : MobileNetV3 multi-tâches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extracteur visuel partagé, deux sorties spécialisées.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029968" y="2743200"/>
            <a:ext cx="713232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956048" y="2743200"/>
            <a:ext cx="603504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424928" y="2505456"/>
            <a:ext cx="713232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424928" y="2980944"/>
            <a:ext cx="713232" cy="603504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1234440" cy="822960"/>
          </a:xfrm>
          <a:prstGeom prst="rect">
            <a:avLst/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Image caméra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224×224×3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240280"/>
            <a:ext cx="1965960" cy="1005840"/>
          </a:xfrm>
          <a:prstGeom prst="rect">
            <a:avLst/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MobileNetV3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features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2240280"/>
            <a:ext cx="1691640" cy="1005840"/>
          </a:xfrm>
          <a:prstGeom prst="rect">
            <a:avLst/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Shared head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Linear 512 + Hardswish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75320" y="1600200"/>
            <a:ext cx="2148840" cy="777240"/>
          </a:xfrm>
          <a:prstGeom prst="rect">
            <a:avLst/>
          </a:prstGeom>
          <a:solidFill>
            <a:srgbClr val="EF444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left / forward / right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75320" y="3401568"/>
            <a:ext cx="2148840" cy="777240"/>
          </a:xfrm>
          <a:prstGeom prst="rect">
            <a:avLst/>
          </a:prstGeom>
          <a:solidFill>
            <a:srgbClr val="2563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Régression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speedA, speedB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526280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extrait modèle MobileNetV3MultiTask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" y="4773168"/>
            <a:ext cx="10424160" cy="11704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self.features = base_model.features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self.avgpool = base_model.avgpool</a:t>
            </a:r>
            <a:endParaRPr lang="en-US" sz="760" dirty="0"/>
          </a:p>
          <a:p>
            <a:pPr marL="0" indent="0">
              <a:buNone/>
            </a:pP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self.shared = nn.Sequential(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nn.Linear(in_features, 512),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nn.Hardswish(),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nn.Dropout(p=0.2)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endParaRPr lang="en-US" sz="760" dirty="0"/>
          </a:p>
          <a:p>
            <a:pPr marL="0" indent="0">
              <a:buNone/>
            </a:pP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self.classifier_head = nn.Linear(512, num_classes)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self.regression_head = nn.Sequential(nn.Linear(512, 2), nn.Sigmoid())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voiture miniature autonome • Vision-based decision making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301984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Entraînement : fonction objectif et protocole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loss totale combine classification et régression moteur.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12471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boucle </a:t>
            </a:r>
            <a:r>
              <a:rPr lang="en-US" sz="750" b="1" dirty="0" err="1">
                <a:solidFill>
                  <a:srgbClr val="64748B"/>
                </a:solidFill>
              </a:rPr>
              <a:t>d’entraînement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49377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cls_loss = CrossEntropyLoss(class_logits, labels)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reg_loss = SmoothL1Loss(speed_preds, speeds)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loss = cls_loss + REG_LOSS_WEIGH * reg_loss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loss.backward</a:t>
            </a:r>
            <a:r>
              <a:rPr lang="en-US" sz="10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</a:t>
            </a:r>
            <a:r>
              <a:rPr lang="en-US" sz="1050" dirty="0" err="1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optimizer.step</a:t>
            </a:r>
            <a:r>
              <a:rPr lang="en-US" sz="10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()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voiture miniature autonome • Vision-based decision making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01984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8D584DD0-DAC2-C181-E1A9-36EE3F83A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282" y="1371599"/>
            <a:ext cx="4454470" cy="4018535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B1C1C495-2386-6F5C-1D0A-16AC506B4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31458"/>
            <a:ext cx="4282811" cy="27053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Évaluation : mesurer les deux tâches correctement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accuracy globale seule ne suffit pas.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457657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script evaluate.py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05840" y="4828032"/>
            <a:ext cx="9875520" cy="84124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classification_report(y_true, y_pred)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confusion_matrix(y_true, y_pred)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  = mean_absolute_error(true_speeds, pred_speeds)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RMSE = sqrt(mean_squared_error(true_speeds, pred_speeds))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voiture miniature autonome • Vision-based decision making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01984" y="6437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964A4526-D06D-D8B9-6D7D-D02B2F386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001" y="1042522"/>
            <a:ext cx="5507238" cy="32825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2407</Words>
  <Application>Microsoft Office PowerPoint</Application>
  <PresentationFormat>Grand écran</PresentationFormat>
  <Paragraphs>351</Paragraphs>
  <Slides>16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Liberation Mono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ENIB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Décision visuelle pour voiture miniature autonome</dc:title>
  <dc:subject>Soutenance projet voiture autonome par vision</dc:subject>
  <dc:creator>OpenAI / Ewen Connan</dc:creator>
  <cp:lastModifiedBy>Ewen Connan</cp:lastModifiedBy>
  <cp:revision>5</cp:revision>
  <dcterms:created xsi:type="dcterms:W3CDTF">2026-06-22T05:57:29Z</dcterms:created>
  <dcterms:modified xsi:type="dcterms:W3CDTF">2026-06-22T10:37:14Z</dcterms:modified>
</cp:coreProperties>
</file>