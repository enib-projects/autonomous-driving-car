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0"/>
  </p:notesMasterIdLst>
  <p:sldIdLst>
    <p:sldId id="256" r:id="rId2"/>
    <p:sldId id="258" r:id="rId3"/>
    <p:sldId id="257" r:id="rId4"/>
    <p:sldId id="259" r:id="rId5"/>
    <p:sldId id="260" r:id="rId6"/>
    <p:sldId id="261" r:id="rId7"/>
    <p:sldId id="263" r:id="rId8"/>
    <p:sldId id="262" r:id="rId9"/>
    <p:sldId id="278" r:id="rId10"/>
    <p:sldId id="279" r:id="rId11"/>
    <p:sldId id="280" r:id="rId12"/>
    <p:sldId id="281" r:id="rId13"/>
    <p:sldId id="282" r:id="rId14"/>
    <p:sldId id="28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4977" autoAdjust="0"/>
    <p:restoredTop sz="94610"/>
  </p:normalViewPr>
  <p:slideViewPr>
    <p:cSldViewPr snapToGrid="0" snapToObjects="1">
      <p:cViewPr varScale="1">
        <p:scale>
          <a:sx n="75" d="100"/>
          <a:sy n="75" d="100"/>
        </p:scale>
        <p:origin x="82" y="50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notesMaster" Target="notesMasters/notesMaster1.xml"/><Relationship Id="rId8" Type="http://schemas.openxmlformats.org/officeDocument/2006/relationships/slide" Target="slides/slide7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7421297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Ouverture: présenter le projet comme une chaîne complète d'apprentissage supervisé appliquée à un véhicule miniature. Insister sur la transformation de données brutes non synchronisées en module de décision visuelle exploitable.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Message à porter: l'IA n'est fiable que si la donnée d'entrée est bien préparée. L'essentiel du travail est la conversion de traces réelles bruitées en dataset supervisé.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Cette slide répond directement aux attendus du sujet. Le reste de la présentation suit exactement ces quatre axes.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Expliquer que le dataset brut ne peut pas être utilisé directement: les signaux moteurs et les images ont des timestamps différents. Un mauvais alignement crée des labels faux et dégrade le modèle.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Insister sur la différence fondamentale entre interpolation d'une commande analogique/continue et maintien d'un état logique. C'est un choix de traitement du signal.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Cette étape est centrale pour éviter une fuite temporelle. Le modèle doit apprendre à partir de ce que la caméra pouvait réellement voir au moment où l'action a été prise.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Cette slide répond à la demande de classification multiclasses/finer grained: les classes fines existent, elles sont analysées, puis regroupées pour obtenir un problème robuste.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À expliquer simplement: les commandes moteur brutes sont converties en sémantique de conduite. C'est la brique qui transforme le problème bas niveau en apprentissage supervisé.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Dire clairement que le flip est une augmentation sémantiquement valide uniquement si l'on inverse aussi le label et les vitesses moteurs. Sinon, on injecte du faux label.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 Dataset est multi-cibles: une sortie entière pour CrossEntropyLoss et un vecteur float pour SmoothL1Loss.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Insister: le modèle n'est pas choisi pour faire “moderne”, mais pour un compromis: réutiliser des features visuelles, garder un modèle léger et permettre une future exécution embarquée.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Décrire la philosophie multi-tâches: le réseau partage la compréhension visuelle puis sépare l'objectif sémantique direction et l'objectif numérique vitesses.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Définir les deux pertes. CrossEntropyLoss pour les classes exclusives. SmoothL1Loss pour une estimation de vitesses robuste. AdamW et scheduler réduisent la sensibilité au tuning.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Mettre en avant que chaque tâche a ses métriques. La confusion matrix permet d'expliquer les erreurs, les métriques MAE/RMSE quantifient les vitesses.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Ne pas vendre le résultat comme parfait. Dire: le modèle généralise correctement pour un baseline, mais le forward et certains left restent à renforcer. La matrice de confusion donne le plan d'action.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Donner une lecture mature: le résultat est prometteur, mais le critère réel n'est pas seulement l'accuracy. Il faut vérifier la robustesse par classe et la performance en conditions réelles.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consigne demande de tester plusieurs fréquences. Présenter le 250 ms comme référence, puis expliquer comment mesurer l'impact: garder le même modèle et comparer les métriques.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Être lucide sur les limites: image unique, lumière, dataset limité, déploiement réel. Cela montre une compréhension d'ingénierie, pas seulement un résultat ML.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Organiser les améliorations comme un plan de développement. La première amélioration n'est pas ResNet: c'est plus de données variées et une meilleure évaluation.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Souligner que le déploiement est optionnel et conditionnel: il faut sécuriser la commande, contrôler la fréquence d'inférence, éviter les décisions instables.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Cette slide peut servir si le jury demande à quoi sert un fichier précis. L'utiliser aussi comme backup en fin de présentation.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Finir sur une phrase forte: le projet démontre une démarche ingénieur complète, de la donnée brute au modèle évalué, avec conscience des limites pour le réel.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MASTER">
    <p:bg>
      <p:bgPr>
        <a:solidFill>
          <a:srgbClr val="F7FAFC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V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a date 1">
            <a:extLst>
              <a:ext uri="{FF2B5EF4-FFF2-40B4-BE49-F238E27FC236}">
                <a16:creationId xmlns:a16="http://schemas.microsoft.com/office/drawing/2014/main" id="{F727F221-4346-E484-773C-98FBB83F6E0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5E3AC9F-C711-4121-A95B-51B8A10BAB53}" type="datetimeFigureOut">
              <a:rPr lang="fr-FR" smtClean="0"/>
              <a:t>22/06/2026</a:t>
            </a:fld>
            <a:endParaRPr lang="fr-FR"/>
          </a:p>
        </p:txBody>
      </p:sp>
      <p:sp>
        <p:nvSpPr>
          <p:cNvPr id="3" name="Espace réservé du pied de page 2">
            <a:extLst>
              <a:ext uri="{FF2B5EF4-FFF2-40B4-BE49-F238E27FC236}">
                <a16:creationId xmlns:a16="http://schemas.microsoft.com/office/drawing/2014/main" id="{0A327646-3906-59F3-EDB6-90FF7A4FC83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fr-FR"/>
          </a:p>
        </p:txBody>
      </p:sp>
      <p:sp>
        <p:nvSpPr>
          <p:cNvPr id="4" name="Espace réservé du numéro de diapositive 3">
            <a:extLst>
              <a:ext uri="{FF2B5EF4-FFF2-40B4-BE49-F238E27FC236}">
                <a16:creationId xmlns:a16="http://schemas.microsoft.com/office/drawing/2014/main" id="{2C1DAD30-6EAC-4459-B5CF-6DED25914B9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73E92D6-7CDC-411B-86A7-6977ADC49ACF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36029140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pic>
        <p:nvPicPr>
          <p:cNvPr id="3" name="Image 0" descr="/mnt/data/a_high_resolution_cinematic_slightly_low_angle_i_batch_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63640" y="1481328"/>
            <a:ext cx="5669280" cy="3191256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658368" y="713232"/>
            <a:ext cx="5257800" cy="11155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Décision visuelle pour</a:t>
            </a:r>
            <a:endParaRPr lang="en-US" sz="3200" dirty="0"/>
          </a:p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voiture miniature autonome</a:t>
            </a:r>
            <a:endParaRPr lang="en-US" sz="3200" dirty="0"/>
          </a:p>
        </p:txBody>
      </p:sp>
      <p:sp>
        <p:nvSpPr>
          <p:cNvPr id="5" name="Text 2"/>
          <p:cNvSpPr/>
          <p:nvPr/>
        </p:nvSpPr>
        <p:spPr>
          <a:xfrm>
            <a:off x="676656" y="2057400"/>
            <a:ext cx="52578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dirty="0">
                <a:solidFill>
                  <a:srgbClr val="D1D5DB"/>
                </a:solidFill>
              </a:rPr>
              <a:t>Préparation dataset • Rééquilibrage • MobileNetV3 multi-tâches • Évaluation</a:t>
            </a:r>
            <a:endParaRPr lang="en-US" sz="1400" dirty="0"/>
          </a:p>
        </p:txBody>
      </p:sp>
      <p:sp>
        <p:nvSpPr>
          <p:cNvPr id="6" name="Text 3"/>
          <p:cNvSpPr/>
          <p:nvPr/>
        </p:nvSpPr>
        <p:spPr>
          <a:xfrm>
            <a:off x="685800" y="5806440"/>
            <a:ext cx="2423160" cy="274320"/>
          </a:xfrm>
          <a:prstGeom prst="rect">
            <a:avLst/>
          </a:prstGeom>
          <a:solidFill>
            <a:srgbClr val="1E40AF"/>
          </a:solidFill>
          <a:ln>
            <a:solidFill>
              <a:srgbClr val="1E40AF"/>
            </a:solidFill>
          </a:ln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VISION-BASED DECISION MAKING</a:t>
            </a:r>
            <a:endParaRPr lang="en-US" sz="900" dirty="0"/>
          </a:p>
        </p:txBody>
      </p:sp>
      <p:sp>
        <p:nvSpPr>
          <p:cNvPr id="7" name="Text 4"/>
          <p:cNvSpPr/>
          <p:nvPr/>
        </p:nvSpPr>
        <p:spPr>
          <a:xfrm>
            <a:off x="9281160" y="5742432"/>
            <a:ext cx="21031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100" b="1" dirty="0">
                <a:solidFill>
                  <a:srgbClr val="FFFFFF"/>
                </a:solidFill>
              </a:rPr>
              <a:t>Soutenance projet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Vue système : du véhicule au modèle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12064" y="804672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 projet ne se limite pas au réseau : il construit toute la chaîne IA.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2039112" y="2779776"/>
            <a:ext cx="338328" cy="0"/>
          </a:xfrm>
          <a:prstGeom prst="line">
            <a:avLst/>
          </a:prstGeom>
          <a:noFill/>
          <a:ln w="17780">
            <a:solidFill>
              <a:srgbClr val="94A3B8"/>
            </a:solidFill>
            <a:prstDash val="solid"/>
            <a:headEnd type="none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3913632" y="2779776"/>
            <a:ext cx="338328" cy="0"/>
          </a:xfrm>
          <a:prstGeom prst="line">
            <a:avLst/>
          </a:prstGeom>
          <a:noFill/>
          <a:ln w="17780">
            <a:solidFill>
              <a:srgbClr val="94A3B8"/>
            </a:solidFill>
            <a:prstDash val="solid"/>
            <a:headEnd type="none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5788152" y="2779776"/>
            <a:ext cx="338328" cy="0"/>
          </a:xfrm>
          <a:prstGeom prst="line">
            <a:avLst/>
          </a:prstGeom>
          <a:noFill/>
          <a:ln w="17780">
            <a:solidFill>
              <a:srgbClr val="94A3B8"/>
            </a:solidFill>
            <a:prstDash val="solid"/>
            <a:headEnd type="none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7662672" y="2779776"/>
            <a:ext cx="338328" cy="0"/>
          </a:xfrm>
          <a:prstGeom prst="line">
            <a:avLst/>
          </a:prstGeom>
          <a:noFill/>
          <a:ln w="17780">
            <a:solidFill>
              <a:srgbClr val="94A3B8"/>
            </a:solidFill>
            <a:prstDash val="solid"/>
            <a:headEnd type="none"/>
            <a:tailEnd type="triangle"/>
          </a:ln>
        </p:spPr>
      </p:sp>
      <p:sp>
        <p:nvSpPr>
          <p:cNvPr id="8" name="Shape 6"/>
          <p:cNvSpPr/>
          <p:nvPr/>
        </p:nvSpPr>
        <p:spPr>
          <a:xfrm>
            <a:off x="9537192" y="2779776"/>
            <a:ext cx="338328" cy="0"/>
          </a:xfrm>
          <a:prstGeom prst="line">
            <a:avLst/>
          </a:prstGeom>
          <a:noFill/>
          <a:ln w="17780">
            <a:solidFill>
              <a:srgbClr val="94A3B8"/>
            </a:solidFill>
            <a:prstDash val="solid"/>
            <a:headEnd type="none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594360" y="2468880"/>
            <a:ext cx="1353312" cy="621792"/>
          </a:xfrm>
          <a:prstGeom prst="rect">
            <a:avLst/>
          </a:prstGeom>
          <a:solidFill>
            <a:srgbClr val="DBEAFE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11827"/>
                </a:solidFill>
              </a:rPr>
              <a:t>Acquisition</a:t>
            </a:r>
            <a:endParaRPr lang="en-US" sz="1050" dirty="0"/>
          </a:p>
        </p:txBody>
      </p:sp>
      <p:sp>
        <p:nvSpPr>
          <p:cNvPr id="10" name="Text 8"/>
          <p:cNvSpPr/>
          <p:nvPr/>
        </p:nvSpPr>
        <p:spPr>
          <a:xfrm>
            <a:off x="502920" y="3227832"/>
            <a:ext cx="15361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</a:rPr>
              <a:t>Images + commandes moteur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2468880" y="2468880"/>
            <a:ext cx="1353312" cy="621792"/>
          </a:xfrm>
          <a:prstGeom prst="rect">
            <a:avLst/>
          </a:prstGeom>
          <a:solidFill>
            <a:srgbClr val="CFFAFE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11827"/>
                </a:solidFill>
              </a:rPr>
              <a:t>Alignement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2377440" y="3227832"/>
            <a:ext cx="15361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</a:rPr>
              <a:t>timestamp image ≤ commande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4343400" y="2468880"/>
            <a:ext cx="1353312" cy="621792"/>
          </a:xfrm>
          <a:prstGeom prst="rect">
            <a:avLst/>
          </a:prstGeom>
          <a:solidFill>
            <a:srgbClr val="DCFCE7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11827"/>
                </a:solidFill>
              </a:rPr>
              <a:t>Labels</a:t>
            </a:r>
            <a:endParaRPr lang="en-US" sz="1050" dirty="0"/>
          </a:p>
        </p:txBody>
      </p:sp>
      <p:sp>
        <p:nvSpPr>
          <p:cNvPr id="14" name="Text 12"/>
          <p:cNvSpPr/>
          <p:nvPr/>
        </p:nvSpPr>
        <p:spPr>
          <a:xfrm>
            <a:off x="4251960" y="3227832"/>
            <a:ext cx="15361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</a:rPr>
              <a:t>GPIO + vitesses → action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6217920" y="2468880"/>
            <a:ext cx="1353312" cy="621792"/>
          </a:xfrm>
          <a:prstGeom prst="rect">
            <a:avLst/>
          </a:prstGeom>
          <a:solidFill>
            <a:srgbClr val="FEF3C7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11827"/>
                </a:solidFill>
              </a:rPr>
              <a:t>Dataset</a:t>
            </a:r>
            <a:endParaRPr lang="en-US" sz="1050" dirty="0"/>
          </a:p>
        </p:txBody>
      </p:sp>
      <p:sp>
        <p:nvSpPr>
          <p:cNvPr id="16" name="Text 14"/>
          <p:cNvSpPr/>
          <p:nvPr/>
        </p:nvSpPr>
        <p:spPr>
          <a:xfrm>
            <a:off x="6126480" y="3227832"/>
            <a:ext cx="15361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</a:rPr>
              <a:t>split + augmentation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8092440" y="2468880"/>
            <a:ext cx="1353312" cy="621792"/>
          </a:xfrm>
          <a:prstGeom prst="rect">
            <a:avLst/>
          </a:prstGeom>
          <a:solidFill>
            <a:srgbClr val="FEE2E2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11827"/>
                </a:solidFill>
              </a:rPr>
              <a:t>Modèle</a:t>
            </a:r>
            <a:endParaRPr lang="en-US" sz="1050" dirty="0"/>
          </a:p>
        </p:txBody>
      </p:sp>
      <p:sp>
        <p:nvSpPr>
          <p:cNvPr id="18" name="Text 16"/>
          <p:cNvSpPr/>
          <p:nvPr/>
        </p:nvSpPr>
        <p:spPr>
          <a:xfrm>
            <a:off x="8001000" y="3227832"/>
            <a:ext cx="15361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</a:rPr>
              <a:t>MobileNetV3 multi-tâches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9966960" y="2468880"/>
            <a:ext cx="1353312" cy="621792"/>
          </a:xfrm>
          <a:prstGeom prst="rect">
            <a:avLst/>
          </a:prstGeom>
          <a:solidFill>
            <a:srgbClr val="EDE9FE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11827"/>
                </a:solidFill>
              </a:rPr>
              <a:t>Évaluation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9875520" y="3227832"/>
            <a:ext cx="15361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</a:rPr>
              <a:t>classification + régression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1005840" y="4526280"/>
            <a:ext cx="9875520" cy="8686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4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Entrée : images caméra prises pendant les essais du véhicule.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Supervision : commandes moteur et GPIO enregistrés dans labels.csv.</a:t>
            </a:r>
            <a:endParaRPr lang="en-US" sz="1400" dirty="0"/>
          </a:p>
          <a:p>
            <a:pPr marL="0" indent="0">
              <a:buNone/>
            </a:pPr>
            <a:r>
              <a:rPr lang="en-US" sz="14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Sorties finales : direction discrète et estimation des vitesses speedA/speedB.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502920" y="6473952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Projet voiture miniature autonome • Vision-based decision making</a:t>
            </a:r>
            <a:endParaRPr lang="en-US" sz="750" dirty="0"/>
          </a:p>
        </p:txBody>
      </p:sp>
      <p:sp>
        <p:nvSpPr>
          <p:cNvPr id="23" name="Text 21"/>
          <p:cNvSpPr/>
          <p:nvPr/>
        </p:nvSpPr>
        <p:spPr>
          <a:xfrm>
            <a:off x="11301984" y="6437376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502920" y="6336792"/>
            <a:ext cx="112014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Objectifs du lab et réponse apportée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12064" y="804672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Lecture directe de la consigne : données, décision visuelle, évaluation, extension embarquée.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685800" y="1417320"/>
            <a:ext cx="438912" cy="438912"/>
          </a:xfrm>
          <a:prstGeom prst="rect">
            <a:avLst/>
          </a:prstGeom>
          <a:solidFill>
            <a:srgbClr val="DBEAFE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11827"/>
                </a:solidFill>
              </a:rPr>
              <a:t>1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325880" y="139903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11827"/>
                </a:solidFill>
              </a:rPr>
              <a:t>Explorer &amp; prétraiter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703320" y="1371600"/>
            <a:ext cx="6995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475569"/>
                </a:solidFill>
              </a:rPr>
              <a:t>labels.csv, images horodatées, rééchantillonnage, augmentation, équilibrage</a:t>
            </a:r>
            <a:endParaRPr lang="en-US" sz="1250" dirty="0"/>
          </a:p>
        </p:txBody>
      </p:sp>
      <p:sp>
        <p:nvSpPr>
          <p:cNvPr id="7" name="Shape 5"/>
          <p:cNvSpPr/>
          <p:nvPr/>
        </p:nvSpPr>
        <p:spPr>
          <a:xfrm>
            <a:off x="685800" y="2039112"/>
            <a:ext cx="10515600" cy="0"/>
          </a:xfrm>
          <a:prstGeom prst="line">
            <a:avLst/>
          </a:prstGeom>
          <a:noFill/>
          <a:ln w="8890">
            <a:solidFill>
              <a:srgbClr val="E2E8F0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685800" y="2468880"/>
            <a:ext cx="438912" cy="438912"/>
          </a:xfrm>
          <a:prstGeom prst="rect">
            <a:avLst/>
          </a:prstGeom>
          <a:solidFill>
            <a:srgbClr val="DCFCE7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11827"/>
                </a:solidFill>
              </a:rPr>
              <a:t>2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1325880" y="245059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11827"/>
                </a:solidFill>
              </a:rPr>
              <a:t>Développer le module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3703320" y="2423160"/>
            <a:ext cx="6995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475569"/>
                </a:solidFill>
              </a:rPr>
              <a:t>image → direction + vitesses via MobileNetV3 (</a:t>
            </a:r>
            <a:r>
              <a:rPr lang="en-US" sz="1250" dirty="0" err="1">
                <a:solidFill>
                  <a:srgbClr val="475569"/>
                </a:solidFill>
              </a:rPr>
              <a:t>pré</a:t>
            </a:r>
            <a:r>
              <a:rPr lang="en-US" sz="1250" dirty="0">
                <a:solidFill>
                  <a:srgbClr val="475569"/>
                </a:solidFill>
              </a:rPr>
              <a:t> </a:t>
            </a:r>
            <a:r>
              <a:rPr lang="en-US" sz="1250" dirty="0" err="1">
                <a:solidFill>
                  <a:srgbClr val="475569"/>
                </a:solidFill>
              </a:rPr>
              <a:t>entrainé</a:t>
            </a:r>
            <a:r>
              <a:rPr lang="en-US" sz="1250" dirty="0">
                <a:solidFill>
                  <a:srgbClr val="475569"/>
                </a:solidFill>
              </a:rPr>
              <a:t>) / </a:t>
            </a:r>
            <a:r>
              <a:rPr lang="en-US" sz="1250" dirty="0" err="1">
                <a:solidFill>
                  <a:srgbClr val="475569"/>
                </a:solidFill>
              </a:rPr>
              <a:t>Modèle</a:t>
            </a:r>
            <a:r>
              <a:rPr lang="en-US" sz="1250" dirty="0">
                <a:solidFill>
                  <a:srgbClr val="475569"/>
                </a:solidFill>
              </a:rPr>
              <a:t> Multi-taches (non </a:t>
            </a:r>
            <a:r>
              <a:rPr lang="en-US" sz="1250" dirty="0" err="1">
                <a:solidFill>
                  <a:srgbClr val="475569"/>
                </a:solidFill>
              </a:rPr>
              <a:t>entrainé</a:t>
            </a:r>
            <a:r>
              <a:rPr lang="en-US" sz="1250" dirty="0">
                <a:solidFill>
                  <a:srgbClr val="475569"/>
                </a:solidFill>
              </a:rPr>
              <a:t>)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685800" y="3090672"/>
            <a:ext cx="10515600" cy="0"/>
          </a:xfrm>
          <a:prstGeom prst="line">
            <a:avLst/>
          </a:prstGeom>
          <a:noFill/>
          <a:ln w="8890">
            <a:solidFill>
              <a:srgbClr val="E2E8F0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85800" y="3520440"/>
            <a:ext cx="438912" cy="438912"/>
          </a:xfrm>
          <a:prstGeom prst="rect">
            <a:avLst/>
          </a:prstGeom>
          <a:solidFill>
            <a:srgbClr val="FEF3C7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11827"/>
                </a:solidFill>
              </a:rPr>
              <a:t>3</a:t>
            </a:r>
            <a:endParaRPr lang="en-US" sz="1500" dirty="0"/>
          </a:p>
        </p:txBody>
      </p:sp>
      <p:sp>
        <p:nvSpPr>
          <p:cNvPr id="13" name="Text 11"/>
          <p:cNvSpPr/>
          <p:nvPr/>
        </p:nvSpPr>
        <p:spPr>
          <a:xfrm>
            <a:off x="1325880" y="350215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11827"/>
                </a:solidFill>
              </a:rPr>
              <a:t>Tester &amp; évaluer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703320" y="3474720"/>
            <a:ext cx="6995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475569"/>
                </a:solidFill>
              </a:rPr>
              <a:t>accuracy, per-class accuracy, confusion matrix, MAE/RMSE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85800" y="4142232"/>
            <a:ext cx="10515600" cy="0"/>
          </a:xfrm>
          <a:prstGeom prst="line">
            <a:avLst/>
          </a:prstGeom>
          <a:noFill/>
          <a:ln w="889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85800" y="4572000"/>
            <a:ext cx="438912" cy="438912"/>
          </a:xfrm>
          <a:prstGeom prst="rect">
            <a:avLst/>
          </a:prstGeom>
          <a:solidFill>
            <a:srgbClr val="FEE2E2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111827"/>
                </a:solidFill>
              </a:rPr>
              <a:t>4</a:t>
            </a:r>
            <a:endParaRPr lang="en-US" sz="1500" dirty="0"/>
          </a:p>
        </p:txBody>
      </p:sp>
      <p:sp>
        <p:nvSpPr>
          <p:cNvPr id="17" name="Text 15"/>
          <p:cNvSpPr/>
          <p:nvPr/>
        </p:nvSpPr>
        <p:spPr>
          <a:xfrm>
            <a:off x="1325880" y="4553712"/>
            <a:ext cx="22860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11827"/>
                </a:solidFill>
              </a:rPr>
              <a:t>Extension optionnelle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3703320" y="4526280"/>
            <a:ext cx="6995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475569"/>
                </a:solidFill>
              </a:rPr>
              <a:t>préparer le déploiement réel : temps inference, robustesse lumière, sécurité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85800" y="5193792"/>
            <a:ext cx="10515600" cy="0"/>
          </a:xfrm>
          <a:prstGeom prst="line">
            <a:avLst/>
          </a:prstGeom>
          <a:noFill/>
          <a:ln w="889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68680" y="5687568"/>
            <a:ext cx="9875520" cy="347472"/>
          </a:xfrm>
          <a:prstGeom prst="rect">
            <a:avLst/>
          </a:prstGeom>
          <a:noFill/>
          <a:ln/>
        </p:spPr>
        <p:txBody>
          <a:bodyPr wrap="square" lIns="1397" tIns="1397" rIns="1397" bIns="1397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2563EB"/>
                </a:solidFill>
              </a:rPr>
              <a:t>Fil conducteur : rendre les données causales, équilibrées et exploitables par un modèle léger.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502920" y="6473952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Projet voiture miniature autonome • Vision-based decision making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1301984" y="6437376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502920" y="6336792"/>
            <a:ext cx="112014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Données brutes : le problème réel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12064" y="804672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Les images et les commandes ne sont pas naturellement synchronisées.</a:t>
            </a:r>
            <a:endParaRPr lang="en-US" sz="1050" dirty="0"/>
          </a:p>
        </p:txBody>
      </p:sp>
      <p:sp>
        <p:nvSpPr>
          <p:cNvPr id="5" name="Text 2"/>
          <p:cNvSpPr/>
          <p:nvPr/>
        </p:nvSpPr>
        <p:spPr>
          <a:xfrm>
            <a:off x="512064" y="1332920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2563EB"/>
                </a:solidFill>
              </a:rPr>
              <a:t>labels.csv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512064" y="1738424"/>
            <a:ext cx="2834640" cy="1318661"/>
          </a:xfrm>
          <a:prstGeom prst="rect">
            <a:avLst/>
          </a:prstGeom>
          <a:noFill/>
          <a:ln>
            <a:noFill/>
          </a:ln>
        </p:spPr>
        <p:txBody>
          <a:bodyPr wrap="square" lIns="381" tIns="381" rIns="381" bIns="381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en-US" sz="1300" dirty="0" err="1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time_in_ms</a:t>
            </a:r>
            <a:endParaRPr lang="en-US" sz="1300" dirty="0">
              <a:solidFill>
                <a:srgbClr val="111827"/>
              </a:solidFill>
              <a:latin typeface="Aptos" pitchFamily="34" charset="0"/>
              <a:ea typeface="Aptos" pitchFamily="34" charset="-122"/>
              <a:cs typeface="Aptos" pitchFamily="34" charset="-120"/>
            </a:endParaRPr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speedA / </a:t>
            </a:r>
            <a:r>
              <a:rPr lang="en-US" sz="1300" dirty="0" err="1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speedB</a:t>
            </a:r>
            <a:endParaRPr lang="en-US" sz="1300" dirty="0">
              <a:solidFill>
                <a:srgbClr val="111827"/>
              </a:solidFill>
              <a:latin typeface="Aptos" pitchFamily="34" charset="0"/>
              <a:ea typeface="Aptos" pitchFamily="34" charset="-122"/>
              <a:cs typeface="Aptos" pitchFamily="34" charset="-120"/>
            </a:endParaRPr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GPIO1..GPIO4</a:t>
            </a:r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commandes non uniformes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7810099" y="1305668"/>
            <a:ext cx="1828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97316"/>
                </a:solidFill>
              </a:rPr>
              <a:t>Images/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7901539" y="1808588"/>
            <a:ext cx="2743200" cy="1318660"/>
          </a:xfrm>
          <a:prstGeom prst="rect">
            <a:avLst/>
          </a:prstGeom>
          <a:noFill/>
          <a:ln>
            <a:noFill/>
          </a:ln>
        </p:spPr>
        <p:txBody>
          <a:bodyPr wrap="square" lIns="381" tIns="381" rIns="381" bIns="381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3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en-US" sz="1300" dirty="0" err="1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Fichiers</a:t>
            </a:r>
            <a:r>
              <a:rPr lang="en-US" sz="13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</a:t>
            </a:r>
            <a:r>
              <a:rPr lang="en-US" sz="1300" dirty="0" err="1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timestampés</a:t>
            </a:r>
            <a:endParaRPr lang="en-US" sz="1300" dirty="0">
              <a:solidFill>
                <a:srgbClr val="111827"/>
              </a:solidFill>
              <a:latin typeface="Aptos" pitchFamily="34" charset="0"/>
              <a:ea typeface="Aptos" pitchFamily="34" charset="-122"/>
              <a:cs typeface="Aptos" pitchFamily="34" charset="-120"/>
            </a:endParaRPr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Cadence </a:t>
            </a:r>
            <a:r>
              <a:rPr lang="en-US" sz="1300" dirty="0" err="1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indépendante</a:t>
            </a:r>
            <a:endParaRPr lang="en-US" sz="1300" dirty="0">
              <a:solidFill>
                <a:srgbClr val="111827"/>
              </a:solidFill>
              <a:latin typeface="Aptos" pitchFamily="34" charset="0"/>
              <a:ea typeface="Aptos" pitchFamily="34" charset="-122"/>
              <a:cs typeface="Aptos" pitchFamily="34" charset="-120"/>
            </a:endParaRPr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</a:t>
            </a:r>
            <a:r>
              <a:rPr lang="en-US" sz="1300" dirty="0" err="1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Certaines</a:t>
            </a:r>
            <a:r>
              <a:rPr lang="en-US" sz="13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images non </a:t>
            </a:r>
            <a:r>
              <a:rPr lang="en-US" sz="1300" dirty="0" err="1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utilisées</a:t>
            </a:r>
            <a:endParaRPr lang="en-US" sz="1300" dirty="0">
              <a:solidFill>
                <a:srgbClr val="111827"/>
              </a:solidFill>
              <a:latin typeface="Aptos" pitchFamily="34" charset="0"/>
              <a:ea typeface="Aptos" pitchFamily="34" charset="-122"/>
              <a:cs typeface="Aptos" pitchFamily="34" charset="-120"/>
            </a:endParaRPr>
          </a:p>
          <a:p>
            <a:pPr marL="0" indent="0">
              <a:buNone/>
            </a:pPr>
            <a:endParaRPr lang="en-US" sz="1300" dirty="0"/>
          </a:p>
          <a:p>
            <a:pPr marL="0" indent="0">
              <a:buNone/>
            </a:pPr>
            <a:r>
              <a:rPr lang="en-US" sz="13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Risque de décalage temporel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4960540" y="2345597"/>
            <a:ext cx="960120" cy="0"/>
          </a:xfrm>
          <a:prstGeom prst="line">
            <a:avLst/>
          </a:prstGeom>
          <a:noFill/>
          <a:ln w="17780">
            <a:solidFill>
              <a:srgbClr val="CBD5E1"/>
            </a:solidFill>
            <a:prstDash val="solid"/>
            <a:headEnd type="none"/>
            <a:tailEnd type="triangle"/>
          </a:ln>
        </p:spPr>
      </p:sp>
      <p:sp>
        <p:nvSpPr>
          <p:cNvPr id="10" name="Text 7"/>
          <p:cNvSpPr/>
          <p:nvPr/>
        </p:nvSpPr>
        <p:spPr>
          <a:xfrm>
            <a:off x="822959" y="4956048"/>
            <a:ext cx="8649903" cy="594360"/>
          </a:xfrm>
          <a:prstGeom prst="rect">
            <a:avLst/>
          </a:prstGeom>
          <a:noFill/>
          <a:ln/>
        </p:spPr>
        <p:txBody>
          <a:bodyPr wrap="square" lIns="1397" tIns="1397" rIns="1397" bIns="1397" rtlCol="0" anchor="ctr">
            <a:normAutofit/>
          </a:bodyPr>
          <a:lstStyle/>
          <a:p>
            <a:pPr marL="0" indent="0">
              <a:buNone/>
            </a:pPr>
            <a:r>
              <a:rPr lang="en-US" sz="1800" b="1" dirty="0">
                <a:solidFill>
                  <a:srgbClr val="111827"/>
                </a:solidFill>
              </a:rPr>
              <a:t>Enjeu : associer chaque décision à l’image réellement disponible au même instant.</a:t>
            </a:r>
            <a:endParaRPr lang="en-US" sz="1800" dirty="0"/>
          </a:p>
        </p:txBody>
      </p:sp>
      <p:sp>
        <p:nvSpPr>
          <p:cNvPr id="11" name="Text 8"/>
          <p:cNvSpPr/>
          <p:nvPr/>
        </p:nvSpPr>
        <p:spPr>
          <a:xfrm>
            <a:off x="502920" y="6473952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Projet voiture miniature autonome • Vision-based decision making</a:t>
            </a:r>
            <a:endParaRPr lang="en-US" sz="750" dirty="0"/>
          </a:p>
        </p:txBody>
      </p:sp>
      <p:sp>
        <p:nvSpPr>
          <p:cNvPr id="12" name="Text 9"/>
          <p:cNvSpPr/>
          <p:nvPr/>
        </p:nvSpPr>
        <p:spPr>
          <a:xfrm>
            <a:off x="11301984" y="6437376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800" dirty="0"/>
          </a:p>
        </p:txBody>
      </p:sp>
      <p:sp>
        <p:nvSpPr>
          <p:cNvPr id="13" name="Shape 10"/>
          <p:cNvSpPr/>
          <p:nvPr/>
        </p:nvSpPr>
        <p:spPr>
          <a:xfrm>
            <a:off x="502920" y="6336792"/>
            <a:ext cx="112014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618253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Rééchantillonnage : rendre les commandes homogènes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12064" y="1093741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Choix retenu : grille temporelle fixe, typiquement 250 ms.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512064" y="2083066"/>
            <a:ext cx="5715000" cy="3209537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>
              <a:buNone/>
            </a:pPr>
            <a:r>
              <a:rPr lang="en-US" sz="850" dirty="0">
                <a:solidFill>
                  <a:srgbClr val="E5E7EB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def resample_commands(df, sample_period_ms=250):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5E7EB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   df = df.sort_values("time_in_ms")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5E7EB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   new_times = range(start_time, end_time + 1, sample_period_ms)</a:t>
            </a:r>
            <a:endParaRPr lang="en-US" sz="850" dirty="0"/>
          </a:p>
          <a:p>
            <a:pPr marL="0" indent="0">
              <a:buNone/>
            </a:pP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5E7EB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   resampled["speedA"] = resampled["speedA"].interpolate(method="index")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5E7EB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   resampled["speedB"] = resampled["speedB"].interpolate(method="index")</a:t>
            </a:r>
            <a:endParaRPr lang="en-US" sz="850" dirty="0"/>
          </a:p>
          <a:p>
            <a:pPr marL="0" indent="0">
              <a:buNone/>
            </a:pP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5E7EB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   resampled[["GPIO1","GPIO2","GPIO3","GPIO4"]] =</a:t>
            </a:r>
            <a:endParaRPr lang="en-US" sz="850" dirty="0"/>
          </a:p>
          <a:p>
            <a:pPr marL="0" indent="0">
              <a:buNone/>
            </a:pPr>
            <a:r>
              <a:rPr lang="en-US" sz="850" dirty="0">
                <a:solidFill>
                  <a:srgbClr val="E5E7EB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       resampled[["GPIO1","GPIO2","GPIO3","GPIO4"]].ffill()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6684264" y="2073922"/>
            <a:ext cx="2677427" cy="26517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u="sng" dirty="0">
                <a:solidFill>
                  <a:srgbClr val="2563EB"/>
                </a:solidFill>
              </a:rPr>
              <a:t>LOGIQUE TECHNIQUE</a:t>
            </a:r>
            <a:endParaRPr lang="en-US" u="sng" dirty="0"/>
          </a:p>
        </p:txBody>
      </p:sp>
      <p:sp>
        <p:nvSpPr>
          <p:cNvPr id="7" name="Text 5"/>
          <p:cNvSpPr/>
          <p:nvPr/>
        </p:nvSpPr>
        <p:spPr>
          <a:xfrm>
            <a:off x="6684264" y="2403106"/>
            <a:ext cx="4526280" cy="1767839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32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Vitesses moteur </a:t>
            </a:r>
            <a:r>
              <a:rPr lang="en-US" sz="132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interpolation linéaire, car grandeurs numériques continues.</a:t>
            </a:r>
          </a:p>
          <a:p>
            <a:pPr marL="0" indent="0">
              <a:buNone/>
            </a:pPr>
            <a:endParaRPr lang="en-US" sz="1320" dirty="0"/>
          </a:p>
          <a:p>
            <a:pPr marL="0" indent="0">
              <a:buNone/>
            </a:pPr>
            <a:r>
              <a:rPr lang="en-US" sz="132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GPIO </a:t>
            </a:r>
            <a:r>
              <a:rPr lang="en-US" sz="132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maintien de la dernière valeur connue, car états logiques </a:t>
            </a:r>
            <a:r>
              <a:rPr lang="en-US" sz="1320" dirty="0" err="1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discrets</a:t>
            </a:r>
            <a:r>
              <a:rPr lang="en-US" sz="132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</a:t>
            </a:r>
          </a:p>
          <a:p>
            <a:pPr marL="0" indent="0">
              <a:buNone/>
            </a:pPr>
            <a:endParaRPr lang="en-US" sz="1320" dirty="0"/>
          </a:p>
          <a:p>
            <a:pPr marL="0" indent="0">
              <a:buNone/>
            </a:pPr>
            <a:r>
              <a:rPr lang="en-US" sz="1320" b="1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Fréquence à tester </a:t>
            </a:r>
            <a:r>
              <a:rPr lang="en-US" sz="132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: trop rapide = bruit / redondance ; trop lente = perte de transitions.</a:t>
            </a:r>
            <a:endParaRPr lang="en-US" sz="1320" dirty="0"/>
          </a:p>
        </p:txBody>
      </p:sp>
      <p:sp>
        <p:nvSpPr>
          <p:cNvPr id="8" name="Text 6"/>
          <p:cNvSpPr/>
          <p:nvPr/>
        </p:nvSpPr>
        <p:spPr>
          <a:xfrm>
            <a:off x="6729984" y="4643387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563E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250 ms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6684264" y="5142298"/>
            <a:ext cx="2824213" cy="472442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 err="1">
                <a:solidFill>
                  <a:srgbClr val="64748B"/>
                </a:solidFill>
              </a:rPr>
              <a:t>Période</a:t>
            </a:r>
            <a:r>
              <a:rPr lang="en-US" sz="1200" dirty="0">
                <a:solidFill>
                  <a:srgbClr val="64748B"/>
                </a:solidFill>
              </a:rPr>
              <a:t> de référence utilisée pour la grille temporelle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502920" y="6473952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Projet voiture miniature autonome • Vision-based decision making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1301984" y="6437376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502920" y="6336792"/>
            <a:ext cx="112014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905257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Association image / commande : respecter la causalité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694944" y="1380745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Une commande ne doit jamais être labellisée avec une image future.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685800" y="2226565"/>
            <a:ext cx="5394960" cy="2651760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>
              <a:buNone/>
            </a:pPr>
            <a:r>
              <a:rPr lang="en-US" sz="900" dirty="0">
                <a:solidFill>
                  <a:srgbClr val="E5E7EB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while image_idx &lt; len(images) and images[image_idx]["timestamp"] &lt;= csv_time: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5E7EB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   best_image = images[image_idx]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5E7EB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   image_idx += 1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5E7EB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if best_image is None: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5E7EB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   continue</a:t>
            </a:r>
            <a:endParaRPr lang="en-US" sz="900" dirty="0"/>
          </a:p>
          <a:p>
            <a:pPr marL="0" indent="0">
              <a:buNone/>
            </a:pP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5E7EB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new_row["image_filename"] = best_image["filename"]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5E7EB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new_row["image_time_ms"] = best_image["timestamp"]</a:t>
            </a:r>
            <a:endParaRPr lang="en-US" sz="900" dirty="0"/>
          </a:p>
          <a:p>
            <a:pPr marL="0" indent="0">
              <a:buNone/>
            </a:pPr>
            <a:r>
              <a:rPr lang="en-US" sz="900" dirty="0">
                <a:solidFill>
                  <a:srgbClr val="E5E7EB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new_row["image_delta_ms"] = csv_time - best_image["timestamp"]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6675120" y="2135125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u="sng" dirty="0">
                <a:solidFill>
                  <a:srgbClr val="22C55E"/>
                </a:solidFill>
              </a:rPr>
              <a:t>DÉCISION CLÉ</a:t>
            </a:r>
            <a:endParaRPr lang="en-US" u="sng" dirty="0"/>
          </a:p>
        </p:txBody>
      </p:sp>
      <p:sp>
        <p:nvSpPr>
          <p:cNvPr id="7" name="Text 5"/>
          <p:cNvSpPr/>
          <p:nvPr/>
        </p:nvSpPr>
        <p:spPr>
          <a:xfrm>
            <a:off x="6675120" y="2546605"/>
            <a:ext cx="2194560" cy="713232"/>
          </a:xfrm>
          <a:prstGeom prst="rect">
            <a:avLst/>
          </a:prstGeom>
          <a:solidFill>
            <a:srgbClr val="DCFCE7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11827"/>
                </a:solidFill>
              </a:rPr>
              <a:t>image précédente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111827"/>
                </a:solidFill>
              </a:rPr>
              <a:t>la plus proche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9052560" y="2903221"/>
            <a:ext cx="914400" cy="0"/>
          </a:xfrm>
          <a:prstGeom prst="line">
            <a:avLst/>
          </a:prstGeom>
          <a:noFill/>
          <a:ln w="17780">
            <a:solidFill>
              <a:srgbClr val="CBD5E1"/>
            </a:solidFill>
            <a:prstDash val="solid"/>
            <a:headEnd type="none"/>
            <a:tailEnd type="triangle"/>
          </a:ln>
        </p:spPr>
      </p:sp>
      <p:sp>
        <p:nvSpPr>
          <p:cNvPr id="9" name="Text 7"/>
          <p:cNvSpPr/>
          <p:nvPr/>
        </p:nvSpPr>
        <p:spPr>
          <a:xfrm>
            <a:off x="10058400" y="2546605"/>
            <a:ext cx="1234440" cy="713232"/>
          </a:xfrm>
          <a:prstGeom prst="rect">
            <a:avLst/>
          </a:prstGeom>
          <a:solidFill>
            <a:srgbClr val="DBEAFE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11827"/>
                </a:solidFill>
              </a:rPr>
              <a:t>commande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111827"/>
                </a:solidFill>
              </a:rPr>
              <a:t>au temps t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6583680" y="3963925"/>
            <a:ext cx="4754880" cy="11887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txBody>
          <a:bodyPr wrap="square" lIns="381" tIns="381" rIns="381" bIns="381" rtlCol="0" anchor="ctr">
            <a:normAutofit fontScale="92500"/>
          </a:bodyPr>
          <a:lstStyle/>
          <a:p>
            <a:pPr marL="0" indent="0">
              <a:buNone/>
            </a:pPr>
            <a:r>
              <a:rPr lang="en-US" sz="132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Pas d’information du futur : cohérent avec un système embarqué temps </a:t>
            </a:r>
            <a:r>
              <a:rPr lang="en-US" sz="1320" dirty="0" err="1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réel</a:t>
            </a:r>
            <a:r>
              <a:rPr lang="en-US" sz="132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</a:t>
            </a:r>
          </a:p>
          <a:p>
            <a:pPr marL="0" indent="0">
              <a:buNone/>
            </a:pPr>
            <a:endParaRPr lang="en-US" sz="1320" dirty="0"/>
          </a:p>
          <a:p>
            <a:pPr marL="0" indent="0">
              <a:buNone/>
            </a:pPr>
            <a:r>
              <a:rPr lang="en-US" sz="132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Une image est utilisée une seule fois pour limiter la </a:t>
            </a:r>
            <a:r>
              <a:rPr lang="en-US" sz="1320" dirty="0" err="1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redondance</a:t>
            </a:r>
            <a:r>
              <a:rPr lang="en-US" sz="132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</a:t>
            </a:r>
          </a:p>
          <a:p>
            <a:pPr marL="0" indent="0">
              <a:buNone/>
            </a:pPr>
            <a:endParaRPr lang="en-US" sz="1320" dirty="0"/>
          </a:p>
          <a:p>
            <a:pPr marL="0" indent="0">
              <a:buNone/>
            </a:pPr>
            <a:r>
              <a:rPr lang="en-US" sz="132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image_delta_ms devient un indicateur de qualité de synchronisation.</a:t>
            </a:r>
            <a:endParaRPr lang="en-US" sz="1320" dirty="0"/>
          </a:p>
        </p:txBody>
      </p:sp>
      <p:sp>
        <p:nvSpPr>
          <p:cNvPr id="11" name="Text 9"/>
          <p:cNvSpPr/>
          <p:nvPr/>
        </p:nvSpPr>
        <p:spPr>
          <a:xfrm>
            <a:off x="502920" y="6473952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Projet voiture miniature autonome • Vision-based decision making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11301984" y="6437376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800" dirty="0"/>
          </a:p>
        </p:txBody>
      </p:sp>
      <p:sp>
        <p:nvSpPr>
          <p:cNvPr id="13" name="Shape 11"/>
          <p:cNvSpPr/>
          <p:nvPr/>
        </p:nvSpPr>
        <p:spPr>
          <a:xfrm>
            <a:off x="502920" y="6336792"/>
            <a:ext cx="112014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Simplification du problème : labels fins → 3 classes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02920" y="754380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Décision assumée : mieux vaut 3 classes robustes que 10 classes fragiles.</a:t>
            </a:r>
            <a:endParaRPr lang="en-US" sz="1050" dirty="0"/>
          </a:p>
        </p:txBody>
      </p:sp>
      <p:grpSp>
        <p:nvGrpSpPr>
          <p:cNvPr id="29" name="Groupe 28">
            <a:extLst>
              <a:ext uri="{FF2B5EF4-FFF2-40B4-BE49-F238E27FC236}">
                <a16:creationId xmlns:a16="http://schemas.microsoft.com/office/drawing/2014/main" id="{970622D8-893B-4C5B-3CCF-243E3E2373C2}"/>
              </a:ext>
            </a:extLst>
          </p:cNvPr>
          <p:cNvGrpSpPr/>
          <p:nvPr/>
        </p:nvGrpSpPr>
        <p:grpSpPr>
          <a:xfrm>
            <a:off x="457200" y="1499616"/>
            <a:ext cx="3291840" cy="1335024"/>
            <a:chOff x="457200" y="1499616"/>
            <a:chExt cx="3291840" cy="1335024"/>
          </a:xfrm>
        </p:grpSpPr>
        <p:sp>
          <p:nvSpPr>
            <p:cNvPr id="4" name="Text 2"/>
            <p:cNvSpPr/>
            <p:nvPr/>
          </p:nvSpPr>
          <p:spPr>
            <a:xfrm>
              <a:off x="457200" y="1499616"/>
              <a:ext cx="1371600" cy="329184"/>
            </a:xfrm>
            <a:prstGeom prst="rect">
              <a:avLst/>
            </a:prstGeom>
            <a:solidFill>
              <a:srgbClr val="FEE2E2"/>
            </a:solidFill>
            <a:ln>
              <a:solidFill>
                <a:srgbClr val="FFFFFF">
                  <a:alpha val="0"/>
                </a:srgbClr>
              </a:solidFill>
            </a:ln>
          </p:spPr>
          <p:txBody>
            <a:bodyPr wrap="square" lIns="762" tIns="762" rIns="762" bIns="762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980" b="1" dirty="0">
                  <a:solidFill>
                    <a:srgbClr val="111827"/>
                  </a:solidFill>
                </a:rPr>
                <a:t>light_left</a:t>
              </a:r>
              <a:endParaRPr lang="en-US" sz="980" dirty="0"/>
            </a:p>
          </p:txBody>
        </p:sp>
        <p:sp>
          <p:nvSpPr>
            <p:cNvPr id="6" name="Text 4"/>
            <p:cNvSpPr/>
            <p:nvPr/>
          </p:nvSpPr>
          <p:spPr>
            <a:xfrm>
              <a:off x="457200" y="2505456"/>
              <a:ext cx="1371600" cy="329184"/>
            </a:xfrm>
            <a:prstGeom prst="rect">
              <a:avLst/>
            </a:prstGeom>
            <a:solidFill>
              <a:srgbClr val="FEE2E2"/>
            </a:solidFill>
            <a:ln>
              <a:solidFill>
                <a:srgbClr val="FFFFFF">
                  <a:alpha val="0"/>
                </a:srgbClr>
              </a:solidFill>
            </a:ln>
          </p:spPr>
          <p:txBody>
            <a:bodyPr wrap="square" lIns="762" tIns="762" rIns="762" bIns="762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980" b="1" dirty="0">
                  <a:solidFill>
                    <a:srgbClr val="111827"/>
                  </a:solidFill>
                </a:rPr>
                <a:t>sharp_left</a:t>
              </a:r>
              <a:endParaRPr lang="en-US" sz="980" dirty="0"/>
            </a:p>
          </p:txBody>
        </p:sp>
        <p:grpSp>
          <p:nvGrpSpPr>
            <p:cNvPr id="28" name="Groupe 27">
              <a:extLst>
                <a:ext uri="{FF2B5EF4-FFF2-40B4-BE49-F238E27FC236}">
                  <a16:creationId xmlns:a16="http://schemas.microsoft.com/office/drawing/2014/main" id="{253F931B-B250-FFC5-BCE8-7272066A9AC4}"/>
                </a:ext>
              </a:extLst>
            </p:cNvPr>
            <p:cNvGrpSpPr/>
            <p:nvPr/>
          </p:nvGrpSpPr>
          <p:grpSpPr>
            <a:xfrm>
              <a:off x="457200" y="1915668"/>
              <a:ext cx="3291840" cy="502920"/>
              <a:chOff x="457200" y="3177540"/>
              <a:chExt cx="3291840" cy="502920"/>
            </a:xfrm>
          </p:grpSpPr>
          <p:sp>
            <p:nvSpPr>
              <p:cNvPr id="5" name="Text 3"/>
              <p:cNvSpPr/>
              <p:nvPr/>
            </p:nvSpPr>
            <p:spPr>
              <a:xfrm>
                <a:off x="457200" y="3264408"/>
                <a:ext cx="1371600" cy="329184"/>
              </a:xfrm>
              <a:prstGeom prst="rect">
                <a:avLst/>
              </a:prstGeom>
              <a:solidFill>
                <a:srgbClr val="FEE2E2"/>
              </a:solidFill>
              <a:ln>
                <a:solidFill>
                  <a:srgbClr val="FFFFFF">
                    <a:alpha val="0"/>
                  </a:srgbClr>
                </a:solidFill>
              </a:ln>
            </p:spPr>
            <p:txBody>
              <a:bodyPr wrap="square" lIns="762" tIns="762" rIns="762" bIns="762" rtlCol="0" anchor="ctr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sz="980" b="1" dirty="0">
                    <a:solidFill>
                      <a:srgbClr val="111827"/>
                    </a:solidFill>
                  </a:rPr>
                  <a:t>pivot_left</a:t>
                </a:r>
                <a:endParaRPr lang="en-US" sz="980" dirty="0"/>
              </a:p>
            </p:txBody>
          </p:sp>
          <p:sp>
            <p:nvSpPr>
              <p:cNvPr id="11" name="Shape 9"/>
              <p:cNvSpPr/>
              <p:nvPr/>
            </p:nvSpPr>
            <p:spPr>
              <a:xfrm>
                <a:off x="2011680" y="3429000"/>
                <a:ext cx="548640" cy="0"/>
              </a:xfrm>
              <a:prstGeom prst="line">
                <a:avLst/>
              </a:prstGeom>
              <a:noFill/>
              <a:ln w="17780">
                <a:solidFill>
                  <a:srgbClr val="CBD5E1"/>
                </a:solidFill>
                <a:prstDash val="solid"/>
                <a:headEnd type="none"/>
                <a:tailEnd type="triangle"/>
              </a:ln>
            </p:spPr>
          </p:sp>
          <p:sp>
            <p:nvSpPr>
              <p:cNvPr id="12" name="Text 10"/>
              <p:cNvSpPr/>
              <p:nvPr/>
            </p:nvSpPr>
            <p:spPr>
              <a:xfrm>
                <a:off x="2651760" y="3177540"/>
                <a:ext cx="1097280" cy="502920"/>
              </a:xfrm>
              <a:prstGeom prst="rect">
                <a:avLst/>
              </a:prstGeom>
              <a:solidFill>
                <a:srgbClr val="EF4444"/>
              </a:solidFill>
              <a:ln>
                <a:solidFill>
                  <a:srgbClr val="FFFFFF">
                    <a:alpha val="0"/>
                  </a:srgbClr>
                </a:solidFill>
              </a:ln>
            </p:spPr>
            <p:txBody>
              <a:bodyPr wrap="square" lIns="762" tIns="762" rIns="762" bIns="762" rtlCol="0" anchor="ctr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sz="1400" b="1" dirty="0">
                    <a:solidFill>
                      <a:srgbClr val="FFFFFF"/>
                    </a:solidFill>
                  </a:rPr>
                  <a:t>left</a:t>
                </a:r>
                <a:endParaRPr lang="en-US" sz="1400" dirty="0"/>
              </a:p>
            </p:txBody>
          </p:sp>
        </p:grpSp>
      </p:grpSp>
      <p:grpSp>
        <p:nvGrpSpPr>
          <p:cNvPr id="30" name="Groupe 29">
            <a:extLst>
              <a:ext uri="{FF2B5EF4-FFF2-40B4-BE49-F238E27FC236}">
                <a16:creationId xmlns:a16="http://schemas.microsoft.com/office/drawing/2014/main" id="{9DDDAEC3-B2F5-BA2D-3A3F-476726B1C19E}"/>
              </a:ext>
            </a:extLst>
          </p:cNvPr>
          <p:cNvGrpSpPr/>
          <p:nvPr/>
        </p:nvGrpSpPr>
        <p:grpSpPr>
          <a:xfrm>
            <a:off x="4434840" y="1499616"/>
            <a:ext cx="3246120" cy="1335024"/>
            <a:chOff x="4434840" y="1499616"/>
            <a:chExt cx="3246120" cy="1335024"/>
          </a:xfrm>
        </p:grpSpPr>
        <p:sp>
          <p:nvSpPr>
            <p:cNvPr id="7" name="Text 5"/>
            <p:cNvSpPr/>
            <p:nvPr/>
          </p:nvSpPr>
          <p:spPr>
            <a:xfrm>
              <a:off x="4434840" y="1499616"/>
              <a:ext cx="1417320" cy="329184"/>
            </a:xfrm>
            <a:prstGeom prst="rect">
              <a:avLst/>
            </a:prstGeom>
            <a:solidFill>
              <a:srgbClr val="DBEAFE"/>
            </a:solidFill>
            <a:ln>
              <a:solidFill>
                <a:srgbClr val="FFFFFF">
                  <a:alpha val="0"/>
                </a:srgbClr>
              </a:solidFill>
            </a:ln>
          </p:spPr>
          <p:txBody>
            <a:bodyPr wrap="square" lIns="762" tIns="762" rIns="762" bIns="762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980" b="1" dirty="0">
                  <a:solidFill>
                    <a:srgbClr val="111827"/>
                  </a:solidFill>
                </a:rPr>
                <a:t>light_right</a:t>
              </a:r>
              <a:endParaRPr lang="en-US" sz="980" dirty="0"/>
            </a:p>
          </p:txBody>
        </p:sp>
        <p:sp>
          <p:nvSpPr>
            <p:cNvPr id="9" name="Text 7"/>
            <p:cNvSpPr/>
            <p:nvPr/>
          </p:nvSpPr>
          <p:spPr>
            <a:xfrm>
              <a:off x="4434840" y="2505456"/>
              <a:ext cx="1417320" cy="329184"/>
            </a:xfrm>
            <a:prstGeom prst="rect">
              <a:avLst/>
            </a:prstGeom>
            <a:solidFill>
              <a:srgbClr val="DBEAFE"/>
            </a:solidFill>
            <a:ln>
              <a:solidFill>
                <a:srgbClr val="FFFFFF">
                  <a:alpha val="0"/>
                </a:srgbClr>
              </a:solidFill>
            </a:ln>
          </p:spPr>
          <p:txBody>
            <a:bodyPr wrap="square" lIns="762" tIns="762" rIns="762" bIns="762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980" b="1" dirty="0">
                  <a:solidFill>
                    <a:srgbClr val="111827"/>
                  </a:solidFill>
                </a:rPr>
                <a:t>sharp_right</a:t>
              </a:r>
              <a:endParaRPr lang="en-US" sz="980" dirty="0"/>
            </a:p>
          </p:txBody>
        </p:sp>
        <p:grpSp>
          <p:nvGrpSpPr>
            <p:cNvPr id="27" name="Groupe 26">
              <a:extLst>
                <a:ext uri="{FF2B5EF4-FFF2-40B4-BE49-F238E27FC236}">
                  <a16:creationId xmlns:a16="http://schemas.microsoft.com/office/drawing/2014/main" id="{2C86F8B6-040E-B11B-CAB7-D1D4E1E2CFF5}"/>
                </a:ext>
              </a:extLst>
            </p:cNvPr>
            <p:cNvGrpSpPr/>
            <p:nvPr/>
          </p:nvGrpSpPr>
          <p:grpSpPr>
            <a:xfrm>
              <a:off x="4434840" y="1915668"/>
              <a:ext cx="3246120" cy="502920"/>
              <a:chOff x="4434840" y="3177540"/>
              <a:chExt cx="3246120" cy="502920"/>
            </a:xfrm>
          </p:grpSpPr>
          <p:sp>
            <p:nvSpPr>
              <p:cNvPr id="8" name="Text 6"/>
              <p:cNvSpPr/>
              <p:nvPr/>
            </p:nvSpPr>
            <p:spPr>
              <a:xfrm>
                <a:off x="4434840" y="3264408"/>
                <a:ext cx="1417320" cy="329184"/>
              </a:xfrm>
              <a:prstGeom prst="rect">
                <a:avLst/>
              </a:prstGeom>
              <a:solidFill>
                <a:srgbClr val="DBEAFE"/>
              </a:solidFill>
              <a:ln>
                <a:solidFill>
                  <a:srgbClr val="FFFFFF">
                    <a:alpha val="0"/>
                  </a:srgbClr>
                </a:solidFill>
              </a:ln>
            </p:spPr>
            <p:txBody>
              <a:bodyPr wrap="square" lIns="762" tIns="762" rIns="762" bIns="762" rtlCol="0" anchor="ctr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sz="980" b="1" dirty="0">
                    <a:solidFill>
                      <a:srgbClr val="111827"/>
                    </a:solidFill>
                  </a:rPr>
                  <a:t>pivot_right</a:t>
                </a:r>
                <a:endParaRPr lang="en-US" sz="980" dirty="0"/>
              </a:p>
            </p:txBody>
          </p:sp>
          <p:sp>
            <p:nvSpPr>
              <p:cNvPr id="13" name="Shape 11"/>
              <p:cNvSpPr/>
              <p:nvPr/>
            </p:nvSpPr>
            <p:spPr>
              <a:xfrm>
                <a:off x="5943600" y="3429000"/>
                <a:ext cx="548640" cy="0"/>
              </a:xfrm>
              <a:prstGeom prst="line">
                <a:avLst/>
              </a:prstGeom>
              <a:noFill/>
              <a:ln w="17780">
                <a:solidFill>
                  <a:srgbClr val="CBD5E1"/>
                </a:solidFill>
                <a:prstDash val="solid"/>
                <a:headEnd type="none"/>
                <a:tailEnd type="triangle"/>
              </a:ln>
            </p:spPr>
          </p:sp>
          <p:sp>
            <p:nvSpPr>
              <p:cNvPr id="14" name="Text 12"/>
              <p:cNvSpPr/>
              <p:nvPr/>
            </p:nvSpPr>
            <p:spPr>
              <a:xfrm>
                <a:off x="6583680" y="3177540"/>
                <a:ext cx="1097280" cy="502920"/>
              </a:xfrm>
              <a:prstGeom prst="rect">
                <a:avLst/>
              </a:prstGeom>
              <a:solidFill>
                <a:srgbClr val="2563EB"/>
              </a:solidFill>
              <a:ln>
                <a:solidFill>
                  <a:srgbClr val="FFFFFF">
                    <a:alpha val="0"/>
                  </a:srgbClr>
                </a:solidFill>
              </a:ln>
            </p:spPr>
            <p:txBody>
              <a:bodyPr wrap="square" lIns="762" tIns="762" rIns="762" bIns="762" rtlCol="0" anchor="ctr">
                <a:normAutofit/>
              </a:bodyPr>
              <a:lstStyle/>
              <a:p>
                <a:pPr marL="0" indent="0" algn="ctr">
                  <a:buNone/>
                </a:pPr>
                <a:r>
                  <a:rPr lang="en-US" sz="1400" b="1" dirty="0">
                    <a:solidFill>
                      <a:srgbClr val="FFFFFF"/>
                    </a:solidFill>
                  </a:rPr>
                  <a:t>right</a:t>
                </a:r>
                <a:endParaRPr lang="en-US" sz="1400" dirty="0"/>
              </a:p>
            </p:txBody>
          </p:sp>
        </p:grpSp>
      </p:grpSp>
      <p:grpSp>
        <p:nvGrpSpPr>
          <p:cNvPr id="26" name="Groupe 25">
            <a:extLst>
              <a:ext uri="{FF2B5EF4-FFF2-40B4-BE49-F238E27FC236}">
                <a16:creationId xmlns:a16="http://schemas.microsoft.com/office/drawing/2014/main" id="{55C60751-6F47-FA80-5EF5-145154B9CC15}"/>
              </a:ext>
            </a:extLst>
          </p:cNvPr>
          <p:cNvGrpSpPr/>
          <p:nvPr/>
        </p:nvGrpSpPr>
        <p:grpSpPr>
          <a:xfrm>
            <a:off x="8321040" y="1911176"/>
            <a:ext cx="3246120" cy="502920"/>
            <a:chOff x="8321040" y="1911176"/>
            <a:chExt cx="3246120" cy="502920"/>
          </a:xfrm>
        </p:grpSpPr>
        <p:sp>
          <p:nvSpPr>
            <p:cNvPr id="10" name="Text 8"/>
            <p:cNvSpPr/>
            <p:nvPr/>
          </p:nvSpPr>
          <p:spPr>
            <a:xfrm>
              <a:off x="8321040" y="1998044"/>
              <a:ext cx="1280160" cy="329184"/>
            </a:xfrm>
            <a:prstGeom prst="rect">
              <a:avLst/>
            </a:prstGeom>
            <a:solidFill>
              <a:srgbClr val="DCFCE7"/>
            </a:solidFill>
            <a:ln>
              <a:solidFill>
                <a:srgbClr val="FFFFFF">
                  <a:alpha val="0"/>
                </a:srgbClr>
              </a:solidFill>
            </a:ln>
          </p:spPr>
          <p:txBody>
            <a:bodyPr wrap="square" lIns="762" tIns="762" rIns="762" bIns="762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980" b="1" dirty="0">
                  <a:solidFill>
                    <a:srgbClr val="111827"/>
                  </a:solidFill>
                </a:rPr>
                <a:t>forward</a:t>
              </a:r>
              <a:endParaRPr lang="en-US" sz="980" dirty="0"/>
            </a:p>
          </p:txBody>
        </p:sp>
        <p:sp>
          <p:nvSpPr>
            <p:cNvPr id="15" name="Shape 13"/>
            <p:cNvSpPr/>
            <p:nvPr/>
          </p:nvSpPr>
          <p:spPr>
            <a:xfrm>
              <a:off x="9646920" y="2162636"/>
              <a:ext cx="594360" cy="0"/>
            </a:xfrm>
            <a:prstGeom prst="line">
              <a:avLst/>
            </a:prstGeom>
            <a:noFill/>
            <a:ln w="17780">
              <a:solidFill>
                <a:srgbClr val="CBD5E1"/>
              </a:solidFill>
              <a:prstDash val="solid"/>
              <a:headEnd type="none"/>
              <a:tailEnd type="triangle"/>
            </a:ln>
          </p:spPr>
        </p:sp>
        <p:sp>
          <p:nvSpPr>
            <p:cNvPr id="16" name="Text 14"/>
            <p:cNvSpPr/>
            <p:nvPr/>
          </p:nvSpPr>
          <p:spPr>
            <a:xfrm>
              <a:off x="10241280" y="1911176"/>
              <a:ext cx="1325880" cy="502920"/>
            </a:xfrm>
            <a:prstGeom prst="rect">
              <a:avLst/>
            </a:prstGeom>
            <a:solidFill>
              <a:srgbClr val="22C55E"/>
            </a:solidFill>
            <a:ln>
              <a:solidFill>
                <a:srgbClr val="FFFFFF">
                  <a:alpha val="0"/>
                </a:srgbClr>
              </a:solidFill>
            </a:ln>
          </p:spPr>
          <p:txBody>
            <a:bodyPr wrap="square" lIns="762" tIns="762" rIns="762" bIns="762" rtlCol="0" anchor="ctr">
              <a:normAutofit/>
            </a:bodyPr>
            <a:lstStyle/>
            <a:p>
              <a:pPr marL="0" indent="0" algn="ctr">
                <a:buNone/>
              </a:pPr>
              <a:r>
                <a:rPr lang="en-US" sz="1300" b="1" dirty="0">
                  <a:solidFill>
                    <a:srgbClr val="FFFFFF"/>
                  </a:solidFill>
                </a:rPr>
                <a:t>forward</a:t>
              </a:r>
              <a:endParaRPr lang="en-US" sz="1300" dirty="0"/>
            </a:p>
          </p:txBody>
        </p:sp>
      </p:grpSp>
      <p:sp>
        <p:nvSpPr>
          <p:cNvPr id="17" name="Text 15"/>
          <p:cNvSpPr/>
          <p:nvPr/>
        </p:nvSpPr>
        <p:spPr>
          <a:xfrm>
            <a:off x="1107948" y="4371636"/>
            <a:ext cx="2286000" cy="438912"/>
          </a:xfrm>
          <a:prstGeom prst="rect">
            <a:avLst/>
          </a:prstGeom>
          <a:solidFill>
            <a:srgbClr val="FEF3C7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827"/>
                </a:solidFill>
              </a:rPr>
              <a:t>stop / backward / other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531108" y="4600236"/>
            <a:ext cx="1051560" cy="0"/>
          </a:xfrm>
          <a:prstGeom prst="line">
            <a:avLst/>
          </a:prstGeom>
          <a:noFill/>
          <a:ln w="17780">
            <a:solidFill>
              <a:srgbClr val="CBD5E1"/>
            </a:solidFill>
            <a:prstDash val="solid"/>
            <a:headEnd type="none"/>
            <a:tailEnd type="triangle"/>
          </a:ln>
        </p:spPr>
      </p:sp>
      <p:sp>
        <p:nvSpPr>
          <p:cNvPr id="19" name="Text 17"/>
          <p:cNvSpPr/>
          <p:nvPr/>
        </p:nvSpPr>
        <p:spPr>
          <a:xfrm>
            <a:off x="4674108" y="4298484"/>
            <a:ext cx="1828800" cy="658368"/>
          </a:xfrm>
          <a:prstGeom prst="rect">
            <a:avLst/>
          </a:prstGeom>
          <a:solidFill>
            <a:srgbClr val="E5E7EB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827"/>
                </a:solidFill>
              </a:rPr>
              <a:t>ignorés pour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11827"/>
                </a:solidFill>
              </a:rPr>
              <a:t>l’entraînement vision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7325868" y="4187016"/>
            <a:ext cx="3840480" cy="10058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Réduction du bruit de label.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Classes mieux représentées.</a:t>
            </a: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Apprentissage plus stable avec un dataset limité.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502920" y="6473952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Projet voiture miniature autonome • Vision-based decision making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1301984" y="6437376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502920" y="6336792"/>
            <a:ext cx="112014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31" name="Rectangle 30">
            <a:extLst>
              <a:ext uri="{FF2B5EF4-FFF2-40B4-BE49-F238E27FC236}">
                <a16:creationId xmlns:a16="http://schemas.microsoft.com/office/drawing/2014/main" id="{A17B394A-BC44-952D-D3A7-097625128212}"/>
              </a:ext>
            </a:extLst>
          </p:cNvPr>
          <p:cNvSpPr/>
          <p:nvPr/>
        </p:nvSpPr>
        <p:spPr>
          <a:xfrm>
            <a:off x="172720" y="1198880"/>
            <a:ext cx="3749040" cy="190558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2" name="Rectangle 31">
            <a:extLst>
              <a:ext uri="{FF2B5EF4-FFF2-40B4-BE49-F238E27FC236}">
                <a16:creationId xmlns:a16="http://schemas.microsoft.com/office/drawing/2014/main" id="{03F8EDF1-9AA7-208E-F34C-EBEF526ADB36}"/>
              </a:ext>
            </a:extLst>
          </p:cNvPr>
          <p:cNvSpPr/>
          <p:nvPr/>
        </p:nvSpPr>
        <p:spPr>
          <a:xfrm>
            <a:off x="4368802" y="1198880"/>
            <a:ext cx="3749040" cy="190558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5EC36536-A934-DEA7-2D06-DDD3E37A3636}"/>
              </a:ext>
            </a:extLst>
          </p:cNvPr>
          <p:cNvSpPr/>
          <p:nvPr/>
        </p:nvSpPr>
        <p:spPr>
          <a:xfrm>
            <a:off x="8209282" y="1209844"/>
            <a:ext cx="3749040" cy="1905584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  <p:sp>
        <p:nvSpPr>
          <p:cNvPr id="34" name="Rectangle 33">
            <a:extLst>
              <a:ext uri="{FF2B5EF4-FFF2-40B4-BE49-F238E27FC236}">
                <a16:creationId xmlns:a16="http://schemas.microsoft.com/office/drawing/2014/main" id="{C2EE1F76-0595-52C1-E2DE-1F8554C342D3}"/>
              </a:ext>
            </a:extLst>
          </p:cNvPr>
          <p:cNvSpPr/>
          <p:nvPr/>
        </p:nvSpPr>
        <p:spPr>
          <a:xfrm>
            <a:off x="879348" y="4093836"/>
            <a:ext cx="10433304" cy="1099020"/>
          </a:xfrm>
          <a:prstGeom prst="rect">
            <a:avLst/>
          </a:prstGeom>
          <a:noFill/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Construction des labels : des GPIO à l’action de conduite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12064" y="804672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Les labels ne sont pas saisis à la main : ils sont reconstruits depuis la commande moteur.</a:t>
            </a:r>
            <a:endParaRPr lang="en-US" sz="1050" dirty="0"/>
          </a:p>
        </p:txBody>
      </p:sp>
      <p:sp>
        <p:nvSpPr>
          <p:cNvPr id="5" name="Text 3"/>
          <p:cNvSpPr/>
          <p:nvPr/>
        </p:nvSpPr>
        <p:spPr>
          <a:xfrm>
            <a:off x="731520" y="1884306"/>
            <a:ext cx="5303520" cy="2212848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>
              <a:buNone/>
            </a:pPr>
            <a:r>
              <a:rPr lang="en-US" sz="880" dirty="0">
                <a:solidFill>
                  <a:srgbClr val="E5E7EB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def motor_direction(gpio_a, gpio_b, side):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E5E7EB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   if side == "left":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E5E7EB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       if gpio_a == 1 and gpio_b == 0: return "forward"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E5E7EB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       if gpio_a == 0 and gpio_b == 1: return "backward"</a:t>
            </a:r>
            <a:endParaRPr lang="en-US" sz="880" dirty="0"/>
          </a:p>
          <a:p>
            <a:pPr marL="0" indent="0">
              <a:buNone/>
            </a:pP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E5E7EB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   if side == "right":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E5E7EB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       if gpio_a == 0 and gpio_b == 1: return "forward"</a:t>
            </a:r>
            <a:endParaRPr lang="en-US" sz="880" dirty="0"/>
          </a:p>
          <a:p>
            <a:pPr marL="0" indent="0">
              <a:buNone/>
            </a:pPr>
            <a:r>
              <a:rPr lang="en-US" sz="880" dirty="0">
                <a:solidFill>
                  <a:srgbClr val="E5E7EB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       if gpio_a == 1 and gpio_b == 0: return "backward"</a:t>
            </a:r>
            <a:endParaRPr lang="en-US" sz="880" dirty="0"/>
          </a:p>
        </p:txBody>
      </p:sp>
      <p:sp>
        <p:nvSpPr>
          <p:cNvPr id="6" name="Text 4"/>
          <p:cNvSpPr/>
          <p:nvPr/>
        </p:nvSpPr>
        <p:spPr>
          <a:xfrm>
            <a:off x="6629400" y="2043283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b="1" u="sng" dirty="0">
                <a:solidFill>
                  <a:srgbClr val="7C3AED"/>
                </a:solidFill>
              </a:rPr>
              <a:t>RÈGLE MÉTIER</a:t>
            </a:r>
            <a:endParaRPr lang="en-US" u="sng" dirty="0"/>
          </a:p>
        </p:txBody>
      </p:sp>
      <p:sp>
        <p:nvSpPr>
          <p:cNvPr id="7" name="Text 5"/>
          <p:cNvSpPr/>
          <p:nvPr/>
        </p:nvSpPr>
        <p:spPr>
          <a:xfrm>
            <a:off x="6629400" y="2409043"/>
            <a:ext cx="4572000" cy="1234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 fontScale="92500" lnSpcReduction="10000"/>
          </a:bodyPr>
          <a:lstStyle/>
          <a:p>
            <a:pPr marL="0" indent="0">
              <a:buNone/>
            </a:pPr>
            <a:r>
              <a:rPr lang="en-US" sz="13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Le moteur gauche et le moteur droit n’ont pas la même convention GPIO.</a:t>
            </a:r>
          </a:p>
          <a:p>
            <a:pPr marL="0" indent="0">
              <a:buNone/>
            </a:pP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Les vitesses départagent forward, light_left et </a:t>
            </a:r>
            <a:r>
              <a:rPr lang="en-US" sz="1350" dirty="0" err="1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light_right</a:t>
            </a:r>
            <a:r>
              <a:rPr lang="en-US" sz="13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.</a:t>
            </a:r>
          </a:p>
          <a:p>
            <a:pPr marL="0" indent="0">
              <a:buNone/>
            </a:pPr>
            <a:endParaRPr lang="en-US" sz="1350" dirty="0"/>
          </a:p>
          <a:p>
            <a:pPr marL="0" indent="0">
              <a:buNone/>
            </a:pPr>
            <a:r>
              <a:rPr lang="en-US" sz="13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Les classes fines décrivent le comportement physique avant simplification.</a:t>
            </a:r>
            <a:endParaRPr lang="en-US" sz="1350" dirty="0"/>
          </a:p>
        </p:txBody>
      </p:sp>
      <p:sp>
        <p:nvSpPr>
          <p:cNvPr id="8" name="Text 6"/>
          <p:cNvSpPr/>
          <p:nvPr/>
        </p:nvSpPr>
        <p:spPr>
          <a:xfrm>
            <a:off x="2019701" y="4755522"/>
            <a:ext cx="1234440" cy="457200"/>
          </a:xfrm>
          <a:prstGeom prst="rect">
            <a:avLst/>
          </a:prstGeom>
          <a:solidFill>
            <a:srgbClr val="DBEAFE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827"/>
                </a:solidFill>
              </a:rPr>
              <a:t>left motor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2019701" y="5459610"/>
            <a:ext cx="1234440" cy="457200"/>
          </a:xfrm>
          <a:prstGeom prst="rect">
            <a:avLst/>
          </a:prstGeom>
          <a:solidFill>
            <a:srgbClr val="DBEAFE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827"/>
                </a:solidFill>
              </a:rPr>
              <a:t>right motor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3528461" y="5304162"/>
            <a:ext cx="502920" cy="0"/>
          </a:xfrm>
          <a:prstGeom prst="line">
            <a:avLst/>
          </a:prstGeom>
          <a:noFill/>
          <a:ln w="17780">
            <a:solidFill>
              <a:srgbClr val="CBD5E1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6271661" y="5312664"/>
            <a:ext cx="822960" cy="0"/>
          </a:xfrm>
          <a:prstGeom prst="line">
            <a:avLst/>
          </a:prstGeom>
          <a:noFill/>
          <a:ln w="17780">
            <a:solidFill>
              <a:srgbClr val="CBD5E1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4099561" y="4984122"/>
            <a:ext cx="2103120" cy="640080"/>
          </a:xfrm>
          <a:prstGeom prst="rect">
            <a:avLst/>
          </a:prstGeom>
          <a:solidFill>
            <a:srgbClr val="FEF3C7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827"/>
                </a:solidFill>
              </a:rPr>
              <a:t>classify_direction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11827"/>
                </a:solidFill>
              </a:rPr>
              <a:t>→ action fine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258251" y="4992624"/>
            <a:ext cx="2331720" cy="640080"/>
          </a:xfrm>
          <a:prstGeom prst="rect">
            <a:avLst/>
          </a:prstGeom>
          <a:solidFill>
            <a:srgbClr val="DCFCE7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11827"/>
                </a:solidFill>
              </a:rPr>
              <a:t>normalize_model_action</a:t>
            </a:r>
            <a:endParaRPr lang="en-US" sz="1100" dirty="0"/>
          </a:p>
          <a:p>
            <a:pPr marL="0" indent="0" algn="ctr">
              <a:buNone/>
            </a:pPr>
            <a:r>
              <a:rPr lang="en-US" sz="1100" b="1" dirty="0">
                <a:solidFill>
                  <a:srgbClr val="111827"/>
                </a:solidFill>
              </a:rPr>
              <a:t>→ 3 classes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502920" y="6473952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Projet voiture miniature autonome • Vision-based decision making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11301984" y="6437376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502920" y="6336792"/>
            <a:ext cx="112014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878DF36B-333B-420E-BDD4-46022D76B85A}"/>
              </a:ext>
            </a:extLst>
          </p:cNvPr>
          <p:cNvSpPr/>
          <p:nvPr/>
        </p:nvSpPr>
        <p:spPr>
          <a:xfrm>
            <a:off x="-1" y="0"/>
            <a:ext cx="12191688" cy="6858000"/>
          </a:xfrm>
          <a:prstGeom prst="rect">
            <a:avLst/>
          </a:prstGeom>
          <a:solidFill>
            <a:srgbClr val="F8FA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4C4D5A09-0284-1681-C0F1-33E28A2CFB3A}"/>
              </a:ext>
            </a:extLst>
          </p:cNvPr>
          <p:cNvSpPr/>
          <p:nvPr/>
        </p:nvSpPr>
        <p:spPr>
          <a:xfrm>
            <a:off x="-1" y="-1"/>
            <a:ext cx="12191688" cy="118872"/>
          </a:xfrm>
          <a:prstGeom prst="rect">
            <a:avLst/>
          </a:prstGeom>
          <a:solidFill>
            <a:srgbClr val="00B7A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E45B90DD-07F5-0545-D030-1A05D8082C0D}"/>
              </a:ext>
            </a:extLst>
          </p:cNvPr>
          <p:cNvSpPr txBox="1"/>
          <p:nvPr/>
        </p:nvSpPr>
        <p:spPr>
          <a:xfrm>
            <a:off x="548640" y="347473"/>
            <a:ext cx="10698480" cy="51289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fr-FR" sz="3333" b="1">
                <a:solidFill>
                  <a:srgbClr val="0B1F3A"/>
                </a:solidFill>
                <a:latin typeface="Aptos" panose="020B0004020202020204" pitchFamily="34" charset="0"/>
              </a:rPr>
              <a:t>Architecture CNN : de l'image aux sorties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05ACA699-D708-E40E-89F5-F0EECCDC1A66}"/>
              </a:ext>
            </a:extLst>
          </p:cNvPr>
          <p:cNvSpPr txBox="1"/>
          <p:nvPr/>
        </p:nvSpPr>
        <p:spPr>
          <a:xfrm>
            <a:off x="548640" y="6501385"/>
            <a:ext cx="4297680" cy="1743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fr-FR" sz="1133">
                <a:solidFill>
                  <a:srgbClr val="5F7387"/>
                </a:solidFill>
                <a:latin typeface="Aptos" panose="020B0004020202020204" pitchFamily="34" charset="0"/>
              </a:rPr>
              <a:t>AUTONOMOUS DRIVING CAR  |  SOUTENANCE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C944FC76-D724-7671-9FBE-89F1EBC58756}"/>
              </a:ext>
            </a:extLst>
          </p:cNvPr>
          <p:cNvSpPr txBox="1"/>
          <p:nvPr/>
        </p:nvSpPr>
        <p:spPr>
          <a:xfrm>
            <a:off x="11109959" y="6501385"/>
            <a:ext cx="502920" cy="1743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fr-FR" sz="1133">
                <a:solidFill>
                  <a:srgbClr val="5F7387"/>
                </a:solidFill>
                <a:latin typeface="Aptos" panose="020B0004020202020204" pitchFamily="34" charset="0"/>
              </a:rPr>
              <a:t>5 / 10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03F24D04-F489-F742-7658-821E7B7776FE}"/>
              </a:ext>
            </a:extLst>
          </p:cNvPr>
          <p:cNvSpPr txBox="1"/>
          <p:nvPr/>
        </p:nvSpPr>
        <p:spPr>
          <a:xfrm>
            <a:off x="548639" y="932689"/>
            <a:ext cx="11018520" cy="59926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fr-FR" sz="1947">
                <a:solidFill>
                  <a:srgbClr val="424E5A"/>
                </a:solidFill>
                <a:latin typeface="Aptos" panose="020B0004020202020204" pitchFamily="34" charset="0"/>
              </a:rPr>
              <a:t>Entree par defaut : image RGB [3, 120, 160]. L'encodeur apprend des motifs de plus en plus abstraits avant les tetes de decision.</a:t>
            </a:r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310BB364-CEA9-32D7-BA35-3343E6F46C38}"/>
              </a:ext>
            </a:extLst>
          </p:cNvPr>
          <p:cNvSpPr/>
          <p:nvPr/>
        </p:nvSpPr>
        <p:spPr>
          <a:xfrm>
            <a:off x="384047" y="1664207"/>
            <a:ext cx="1234440" cy="1965960"/>
          </a:xfrm>
          <a:prstGeom prst="roundRect">
            <a:avLst/>
          </a:prstGeom>
          <a:solidFill>
            <a:srgbClr val="F8FAFC"/>
          </a:solidFill>
          <a:ln w="10160">
            <a:solidFill>
              <a:srgbClr val="EFF3F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3E98FA2A-44F8-0990-62A1-4B15912278D3}"/>
              </a:ext>
            </a:extLst>
          </p:cNvPr>
          <p:cNvSpPr/>
          <p:nvPr/>
        </p:nvSpPr>
        <p:spPr>
          <a:xfrm>
            <a:off x="384047" y="1664207"/>
            <a:ext cx="1234440" cy="118872"/>
          </a:xfrm>
          <a:prstGeom prst="rect">
            <a:avLst/>
          </a:prstGeom>
          <a:solidFill>
            <a:srgbClr val="2980B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A7D74CE5-816A-F008-1C8D-B5BB78A2C4F6}"/>
              </a:ext>
            </a:extLst>
          </p:cNvPr>
          <p:cNvSpPr txBox="1"/>
          <p:nvPr/>
        </p:nvSpPr>
        <p:spPr>
          <a:xfrm>
            <a:off x="475487" y="1965960"/>
            <a:ext cx="105156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fr-FR" sz="2400" b="1">
                <a:solidFill>
                  <a:srgbClr val="1B2631"/>
                </a:solidFill>
                <a:latin typeface="Aptos" panose="020B0004020202020204" pitchFamily="34" charset="0"/>
              </a:rPr>
              <a:t>Image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CD57A97C-0CD4-F64E-4F66-DCCE6FF9A93C}"/>
              </a:ext>
            </a:extLst>
          </p:cNvPr>
          <p:cNvSpPr txBox="1"/>
          <p:nvPr/>
        </p:nvSpPr>
        <p:spPr>
          <a:xfrm>
            <a:off x="475487" y="2423160"/>
            <a:ext cx="1051560" cy="20928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fr-FR" sz="1360">
                <a:solidFill>
                  <a:srgbClr val="424E5A"/>
                </a:solidFill>
                <a:latin typeface="Aptos" panose="020B0004020202020204" pitchFamily="34" charset="0"/>
              </a:rPr>
              <a:t>3 x 120 x 160</a:t>
            </a:r>
          </a:p>
        </p:txBody>
      </p:sp>
      <p:sp>
        <p:nvSpPr>
          <p:cNvPr id="12" name="Rectangle : coins arrondis 11">
            <a:extLst>
              <a:ext uri="{FF2B5EF4-FFF2-40B4-BE49-F238E27FC236}">
                <a16:creationId xmlns:a16="http://schemas.microsoft.com/office/drawing/2014/main" id="{15DDE249-1DCD-88BD-4243-33115629ECAB}"/>
              </a:ext>
            </a:extLst>
          </p:cNvPr>
          <p:cNvSpPr/>
          <p:nvPr/>
        </p:nvSpPr>
        <p:spPr>
          <a:xfrm>
            <a:off x="1755648" y="1664207"/>
            <a:ext cx="1463040" cy="1965960"/>
          </a:xfrm>
          <a:prstGeom prst="roundRect">
            <a:avLst/>
          </a:prstGeom>
          <a:solidFill>
            <a:srgbClr val="F8FAFC"/>
          </a:solidFill>
          <a:ln w="10160">
            <a:solidFill>
              <a:srgbClr val="EFF3F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5FB6AC28-93F3-F3F4-D0DC-BB3491040092}"/>
              </a:ext>
            </a:extLst>
          </p:cNvPr>
          <p:cNvSpPr/>
          <p:nvPr/>
        </p:nvSpPr>
        <p:spPr>
          <a:xfrm>
            <a:off x="1755648" y="1664207"/>
            <a:ext cx="1463040" cy="118872"/>
          </a:xfrm>
          <a:prstGeom prst="rect">
            <a:avLst/>
          </a:prstGeom>
          <a:solidFill>
            <a:srgbClr val="00B7A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7771DAEB-3316-D126-0CEC-E8A0F8980B1D}"/>
              </a:ext>
            </a:extLst>
          </p:cNvPr>
          <p:cNvSpPr txBox="1"/>
          <p:nvPr/>
        </p:nvSpPr>
        <p:spPr>
          <a:xfrm>
            <a:off x="1847088" y="1965960"/>
            <a:ext cx="128016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fr-FR" sz="2400" b="1">
                <a:solidFill>
                  <a:srgbClr val="1B2631"/>
                </a:solidFill>
                <a:latin typeface="Aptos" panose="020B0004020202020204" pitchFamily="34" charset="0"/>
              </a:rPr>
              <a:t>Bloc 1</a:t>
            </a: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D91A4C52-69AD-B20E-20E1-B532D1FD415C}"/>
              </a:ext>
            </a:extLst>
          </p:cNvPr>
          <p:cNvSpPr txBox="1"/>
          <p:nvPr/>
        </p:nvSpPr>
        <p:spPr>
          <a:xfrm>
            <a:off x="1847088" y="2423160"/>
            <a:ext cx="1280160" cy="62786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pt-BR" sz="1360">
                <a:solidFill>
                  <a:srgbClr val="424E5A"/>
                </a:solidFill>
                <a:latin typeface="Aptos" panose="020B0004020202020204" pitchFamily="34" charset="0"/>
              </a:rPr>
              <a:t>Conv 3-&gt;32</a:t>
            </a:r>
          </a:p>
          <a:p>
            <a:pPr algn="ctr"/>
            <a:r>
              <a:rPr lang="pt-BR" sz="1360">
                <a:solidFill>
                  <a:srgbClr val="424E5A"/>
                </a:solidFill>
                <a:latin typeface="Aptos" panose="020B0004020202020204" pitchFamily="34" charset="0"/>
              </a:rPr>
              <a:t>BN + ReLU + Pool</a:t>
            </a:r>
          </a:p>
          <a:p>
            <a:pPr algn="ctr"/>
            <a:r>
              <a:rPr lang="pt-BR" sz="1360">
                <a:solidFill>
                  <a:srgbClr val="424E5A"/>
                </a:solidFill>
                <a:latin typeface="Aptos" panose="020B0004020202020204" pitchFamily="34" charset="0"/>
              </a:rPr>
              <a:t>32 x 60 x 80</a:t>
            </a:r>
            <a:endParaRPr lang="fr-FR" sz="1360">
              <a:solidFill>
                <a:srgbClr val="424E5A"/>
              </a:solidFill>
              <a:latin typeface="Aptos" panose="020B0004020202020204" pitchFamily="34" charset="0"/>
            </a:endParaRPr>
          </a:p>
        </p:txBody>
      </p:sp>
      <p:sp>
        <p:nvSpPr>
          <p:cNvPr id="16" name="Rectangle : coins arrondis 15">
            <a:extLst>
              <a:ext uri="{FF2B5EF4-FFF2-40B4-BE49-F238E27FC236}">
                <a16:creationId xmlns:a16="http://schemas.microsoft.com/office/drawing/2014/main" id="{2BAF950A-D569-B71B-0C45-839E36DA0AA6}"/>
              </a:ext>
            </a:extLst>
          </p:cNvPr>
          <p:cNvSpPr/>
          <p:nvPr/>
        </p:nvSpPr>
        <p:spPr>
          <a:xfrm>
            <a:off x="3383280" y="1664207"/>
            <a:ext cx="1463040" cy="1965960"/>
          </a:xfrm>
          <a:prstGeom prst="roundRect">
            <a:avLst/>
          </a:prstGeom>
          <a:solidFill>
            <a:srgbClr val="F8FAFC"/>
          </a:solidFill>
          <a:ln w="10160">
            <a:solidFill>
              <a:srgbClr val="EFF3F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BB10E8A9-D619-028B-B080-5C9920A52BC9}"/>
              </a:ext>
            </a:extLst>
          </p:cNvPr>
          <p:cNvSpPr/>
          <p:nvPr/>
        </p:nvSpPr>
        <p:spPr>
          <a:xfrm>
            <a:off x="3383280" y="1664207"/>
            <a:ext cx="1463040" cy="118872"/>
          </a:xfrm>
          <a:prstGeom prst="rect">
            <a:avLst/>
          </a:prstGeom>
          <a:solidFill>
            <a:srgbClr val="00B7A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40500FE7-CFED-95F3-DB0E-C37E3441B32C}"/>
              </a:ext>
            </a:extLst>
          </p:cNvPr>
          <p:cNvSpPr txBox="1"/>
          <p:nvPr/>
        </p:nvSpPr>
        <p:spPr>
          <a:xfrm>
            <a:off x="3474720" y="1965960"/>
            <a:ext cx="128016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fr-FR" sz="2400" b="1">
                <a:solidFill>
                  <a:srgbClr val="1B2631"/>
                </a:solidFill>
                <a:latin typeface="Aptos" panose="020B0004020202020204" pitchFamily="34" charset="0"/>
              </a:rPr>
              <a:t>Bloc 2</a:t>
            </a:r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D042412F-07BD-EDCB-54FD-FEB8B98E9799}"/>
              </a:ext>
            </a:extLst>
          </p:cNvPr>
          <p:cNvSpPr txBox="1"/>
          <p:nvPr/>
        </p:nvSpPr>
        <p:spPr>
          <a:xfrm>
            <a:off x="3474720" y="2423160"/>
            <a:ext cx="1280160" cy="62786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pt-BR" sz="1360">
                <a:solidFill>
                  <a:srgbClr val="424E5A"/>
                </a:solidFill>
                <a:latin typeface="Aptos" panose="020B0004020202020204" pitchFamily="34" charset="0"/>
              </a:rPr>
              <a:t>Conv 32-&gt;64</a:t>
            </a:r>
          </a:p>
          <a:p>
            <a:pPr algn="ctr"/>
            <a:r>
              <a:rPr lang="pt-BR" sz="1360">
                <a:solidFill>
                  <a:srgbClr val="424E5A"/>
                </a:solidFill>
                <a:latin typeface="Aptos" panose="020B0004020202020204" pitchFamily="34" charset="0"/>
              </a:rPr>
              <a:t>BN + ReLU + Pool</a:t>
            </a:r>
          </a:p>
          <a:p>
            <a:pPr algn="ctr"/>
            <a:r>
              <a:rPr lang="pt-BR" sz="1360">
                <a:solidFill>
                  <a:srgbClr val="424E5A"/>
                </a:solidFill>
                <a:latin typeface="Aptos" panose="020B0004020202020204" pitchFamily="34" charset="0"/>
              </a:rPr>
              <a:t>64 x 30 x 40</a:t>
            </a:r>
            <a:endParaRPr lang="fr-FR" sz="1360">
              <a:solidFill>
                <a:srgbClr val="424E5A"/>
              </a:solidFill>
              <a:latin typeface="Aptos" panose="020B0004020202020204" pitchFamily="34" charset="0"/>
            </a:endParaRPr>
          </a:p>
        </p:txBody>
      </p:sp>
      <p:sp>
        <p:nvSpPr>
          <p:cNvPr id="20" name="Rectangle : coins arrondis 19">
            <a:extLst>
              <a:ext uri="{FF2B5EF4-FFF2-40B4-BE49-F238E27FC236}">
                <a16:creationId xmlns:a16="http://schemas.microsoft.com/office/drawing/2014/main" id="{C8125B0F-8D11-EA41-34F0-D6F765803433}"/>
              </a:ext>
            </a:extLst>
          </p:cNvPr>
          <p:cNvSpPr/>
          <p:nvPr/>
        </p:nvSpPr>
        <p:spPr>
          <a:xfrm>
            <a:off x="5010912" y="1664207"/>
            <a:ext cx="1463040" cy="1965960"/>
          </a:xfrm>
          <a:prstGeom prst="roundRect">
            <a:avLst/>
          </a:prstGeom>
          <a:solidFill>
            <a:srgbClr val="F8FAFC"/>
          </a:solidFill>
          <a:ln w="10160">
            <a:solidFill>
              <a:srgbClr val="EFF3F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3A668D65-352D-D5AE-0A6E-DA526314C8C4}"/>
              </a:ext>
            </a:extLst>
          </p:cNvPr>
          <p:cNvSpPr/>
          <p:nvPr/>
        </p:nvSpPr>
        <p:spPr>
          <a:xfrm>
            <a:off x="5010912" y="1664207"/>
            <a:ext cx="1463040" cy="118872"/>
          </a:xfrm>
          <a:prstGeom prst="rect">
            <a:avLst/>
          </a:prstGeom>
          <a:solidFill>
            <a:srgbClr val="00B7A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12897DF4-B05C-4C0B-7117-F217F40FD66C}"/>
              </a:ext>
            </a:extLst>
          </p:cNvPr>
          <p:cNvSpPr txBox="1"/>
          <p:nvPr/>
        </p:nvSpPr>
        <p:spPr>
          <a:xfrm>
            <a:off x="5102352" y="1965960"/>
            <a:ext cx="128016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fr-FR" sz="2400" b="1">
                <a:solidFill>
                  <a:srgbClr val="1B2631"/>
                </a:solidFill>
                <a:latin typeface="Aptos" panose="020B0004020202020204" pitchFamily="34" charset="0"/>
              </a:rPr>
              <a:t>Bloc 3</a:t>
            </a:r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3FC7378C-4B0A-E13A-9CE9-BE056855408B}"/>
              </a:ext>
            </a:extLst>
          </p:cNvPr>
          <p:cNvSpPr txBox="1"/>
          <p:nvPr/>
        </p:nvSpPr>
        <p:spPr>
          <a:xfrm>
            <a:off x="5102352" y="2423160"/>
            <a:ext cx="1280160" cy="62786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pt-BR" sz="1360">
                <a:solidFill>
                  <a:srgbClr val="424E5A"/>
                </a:solidFill>
                <a:latin typeface="Aptos" panose="020B0004020202020204" pitchFamily="34" charset="0"/>
              </a:rPr>
              <a:t>Conv 64-&gt;128</a:t>
            </a:r>
          </a:p>
          <a:p>
            <a:pPr algn="ctr"/>
            <a:r>
              <a:rPr lang="pt-BR" sz="1360">
                <a:solidFill>
                  <a:srgbClr val="424E5A"/>
                </a:solidFill>
                <a:latin typeface="Aptos" panose="020B0004020202020204" pitchFamily="34" charset="0"/>
              </a:rPr>
              <a:t>BN + ReLU + Pool</a:t>
            </a:r>
          </a:p>
          <a:p>
            <a:pPr algn="ctr"/>
            <a:r>
              <a:rPr lang="pt-BR" sz="1360">
                <a:solidFill>
                  <a:srgbClr val="424E5A"/>
                </a:solidFill>
                <a:latin typeface="Aptos" panose="020B0004020202020204" pitchFamily="34" charset="0"/>
              </a:rPr>
              <a:t>128 x 15 x 20</a:t>
            </a:r>
            <a:endParaRPr lang="fr-FR" sz="1360">
              <a:solidFill>
                <a:srgbClr val="424E5A"/>
              </a:solidFill>
              <a:latin typeface="Aptos" panose="020B0004020202020204" pitchFamily="34" charset="0"/>
            </a:endParaRPr>
          </a:p>
        </p:txBody>
      </p:sp>
      <p:sp>
        <p:nvSpPr>
          <p:cNvPr id="24" name="Rectangle : coins arrondis 23">
            <a:extLst>
              <a:ext uri="{FF2B5EF4-FFF2-40B4-BE49-F238E27FC236}">
                <a16:creationId xmlns:a16="http://schemas.microsoft.com/office/drawing/2014/main" id="{B9140AFD-23D2-347F-B67F-611181E0EFBB}"/>
              </a:ext>
            </a:extLst>
          </p:cNvPr>
          <p:cNvSpPr/>
          <p:nvPr/>
        </p:nvSpPr>
        <p:spPr>
          <a:xfrm>
            <a:off x="6638544" y="1664207"/>
            <a:ext cx="1463040" cy="1965960"/>
          </a:xfrm>
          <a:prstGeom prst="roundRect">
            <a:avLst/>
          </a:prstGeom>
          <a:solidFill>
            <a:srgbClr val="F8FAFC"/>
          </a:solidFill>
          <a:ln w="10160">
            <a:solidFill>
              <a:srgbClr val="EFF3F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C88D202B-0BA6-8C56-11C1-C2D9E4F3D294}"/>
              </a:ext>
            </a:extLst>
          </p:cNvPr>
          <p:cNvSpPr/>
          <p:nvPr/>
        </p:nvSpPr>
        <p:spPr>
          <a:xfrm>
            <a:off x="6638544" y="1664207"/>
            <a:ext cx="1463040" cy="118872"/>
          </a:xfrm>
          <a:prstGeom prst="rect">
            <a:avLst/>
          </a:prstGeom>
          <a:solidFill>
            <a:srgbClr val="2CB26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9CE93398-4E63-2278-C5B3-B53A63F7948D}"/>
              </a:ext>
            </a:extLst>
          </p:cNvPr>
          <p:cNvSpPr txBox="1"/>
          <p:nvPr/>
        </p:nvSpPr>
        <p:spPr>
          <a:xfrm>
            <a:off x="6729984" y="1965960"/>
            <a:ext cx="128016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fr-FR" sz="2400" b="1">
                <a:solidFill>
                  <a:srgbClr val="1B2631"/>
                </a:solidFill>
                <a:latin typeface="Aptos" panose="020B0004020202020204" pitchFamily="34" charset="0"/>
              </a:rPr>
              <a:t>Bloc 4</a:t>
            </a:r>
          </a:p>
        </p:txBody>
      </p:sp>
      <p:sp>
        <p:nvSpPr>
          <p:cNvPr id="27" name="ZoneTexte 26">
            <a:extLst>
              <a:ext uri="{FF2B5EF4-FFF2-40B4-BE49-F238E27FC236}">
                <a16:creationId xmlns:a16="http://schemas.microsoft.com/office/drawing/2014/main" id="{0776F769-8F05-FFBC-D1A4-76A96168E0F1}"/>
              </a:ext>
            </a:extLst>
          </p:cNvPr>
          <p:cNvSpPr txBox="1"/>
          <p:nvPr/>
        </p:nvSpPr>
        <p:spPr>
          <a:xfrm>
            <a:off x="6729984" y="2423160"/>
            <a:ext cx="1280160" cy="62786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pt-BR" sz="1360">
                <a:solidFill>
                  <a:srgbClr val="424E5A"/>
                </a:solidFill>
                <a:latin typeface="Aptos" panose="020B0004020202020204" pitchFamily="34" charset="0"/>
              </a:rPr>
              <a:t>Conv 128-&gt;256</a:t>
            </a:r>
          </a:p>
          <a:p>
            <a:pPr algn="ctr"/>
            <a:r>
              <a:rPr lang="pt-BR" sz="1360">
                <a:solidFill>
                  <a:srgbClr val="424E5A"/>
                </a:solidFill>
                <a:latin typeface="Aptos" panose="020B0004020202020204" pitchFamily="34" charset="0"/>
              </a:rPr>
              <a:t>BN + ReLU</a:t>
            </a:r>
          </a:p>
          <a:p>
            <a:pPr algn="ctr"/>
            <a:r>
              <a:rPr lang="pt-BR" sz="1360">
                <a:solidFill>
                  <a:srgbClr val="424E5A"/>
                </a:solidFill>
                <a:latin typeface="Aptos" panose="020B0004020202020204" pitchFamily="34" charset="0"/>
              </a:rPr>
              <a:t>256 x 15 x 20</a:t>
            </a:r>
            <a:endParaRPr lang="fr-FR" sz="1360">
              <a:solidFill>
                <a:srgbClr val="424E5A"/>
              </a:solidFill>
              <a:latin typeface="Aptos" panose="020B0004020202020204" pitchFamily="34" charset="0"/>
            </a:endParaRPr>
          </a:p>
        </p:txBody>
      </p:sp>
      <p:sp>
        <p:nvSpPr>
          <p:cNvPr id="28" name="Rectangle : coins arrondis 27">
            <a:extLst>
              <a:ext uri="{FF2B5EF4-FFF2-40B4-BE49-F238E27FC236}">
                <a16:creationId xmlns:a16="http://schemas.microsoft.com/office/drawing/2014/main" id="{B3574A11-6BCC-303F-1D4C-048A53006A67}"/>
              </a:ext>
            </a:extLst>
          </p:cNvPr>
          <p:cNvSpPr/>
          <p:nvPr/>
        </p:nvSpPr>
        <p:spPr>
          <a:xfrm>
            <a:off x="8266175" y="1664207"/>
            <a:ext cx="1234440" cy="1965960"/>
          </a:xfrm>
          <a:prstGeom prst="roundRect">
            <a:avLst/>
          </a:prstGeom>
          <a:solidFill>
            <a:srgbClr val="F8FAFC"/>
          </a:solidFill>
          <a:ln w="10160">
            <a:solidFill>
              <a:srgbClr val="EFF3F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29" name="Rectangle 28">
            <a:extLst>
              <a:ext uri="{FF2B5EF4-FFF2-40B4-BE49-F238E27FC236}">
                <a16:creationId xmlns:a16="http://schemas.microsoft.com/office/drawing/2014/main" id="{BBDB3DF5-580E-F522-7BAF-F4D262110EC0}"/>
              </a:ext>
            </a:extLst>
          </p:cNvPr>
          <p:cNvSpPr/>
          <p:nvPr/>
        </p:nvSpPr>
        <p:spPr>
          <a:xfrm>
            <a:off x="8266175" y="1664207"/>
            <a:ext cx="1234440" cy="118872"/>
          </a:xfrm>
          <a:prstGeom prst="rect">
            <a:avLst/>
          </a:prstGeom>
          <a:solidFill>
            <a:srgbClr val="F5A623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F667EF8B-5A2C-09D1-0BA7-636AB24CA5CC}"/>
              </a:ext>
            </a:extLst>
          </p:cNvPr>
          <p:cNvSpPr txBox="1"/>
          <p:nvPr/>
        </p:nvSpPr>
        <p:spPr>
          <a:xfrm>
            <a:off x="8357615" y="1965960"/>
            <a:ext cx="105156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fr-FR" sz="2400" b="1">
                <a:solidFill>
                  <a:srgbClr val="1B2631"/>
                </a:solidFill>
                <a:latin typeface="Aptos" panose="020B0004020202020204" pitchFamily="34" charset="0"/>
              </a:rPr>
              <a:t>GAP</a:t>
            </a:r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C70B19DE-C5A5-D4CA-BDF0-3CFB8DC2D441}"/>
              </a:ext>
            </a:extLst>
          </p:cNvPr>
          <p:cNvSpPr txBox="1"/>
          <p:nvPr/>
        </p:nvSpPr>
        <p:spPr>
          <a:xfrm>
            <a:off x="8357615" y="2423160"/>
            <a:ext cx="1051560" cy="62786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fr-FR" sz="1360">
                <a:solidFill>
                  <a:srgbClr val="424E5A"/>
                </a:solidFill>
                <a:latin typeface="Aptos" panose="020B0004020202020204" pitchFamily="34" charset="0"/>
              </a:rPr>
              <a:t>Moyenne</a:t>
            </a:r>
          </a:p>
          <a:p>
            <a:pPr algn="ctr"/>
            <a:r>
              <a:rPr lang="fr-FR" sz="1360">
                <a:solidFill>
                  <a:srgbClr val="424E5A"/>
                </a:solidFill>
                <a:latin typeface="Aptos" panose="020B0004020202020204" pitchFamily="34" charset="0"/>
              </a:rPr>
              <a:t>globale</a:t>
            </a:r>
          </a:p>
          <a:p>
            <a:pPr algn="ctr"/>
            <a:r>
              <a:rPr lang="fr-FR" sz="1360">
                <a:solidFill>
                  <a:srgbClr val="424E5A"/>
                </a:solidFill>
                <a:latin typeface="Aptos" panose="020B0004020202020204" pitchFamily="34" charset="0"/>
              </a:rPr>
              <a:t>256 x 1 x 1</a:t>
            </a:r>
          </a:p>
        </p:txBody>
      </p:sp>
      <p:sp>
        <p:nvSpPr>
          <p:cNvPr id="32" name="Rectangle : coins arrondis 31">
            <a:extLst>
              <a:ext uri="{FF2B5EF4-FFF2-40B4-BE49-F238E27FC236}">
                <a16:creationId xmlns:a16="http://schemas.microsoft.com/office/drawing/2014/main" id="{E09DE635-64CB-83C4-62DB-9EC6F24DF095}"/>
              </a:ext>
            </a:extLst>
          </p:cNvPr>
          <p:cNvSpPr/>
          <p:nvPr/>
        </p:nvSpPr>
        <p:spPr>
          <a:xfrm>
            <a:off x="9665207" y="1664207"/>
            <a:ext cx="1234440" cy="1965960"/>
          </a:xfrm>
          <a:prstGeom prst="roundRect">
            <a:avLst/>
          </a:prstGeom>
          <a:solidFill>
            <a:srgbClr val="F8FAFC"/>
          </a:solidFill>
          <a:ln w="10160">
            <a:solidFill>
              <a:srgbClr val="EFF3F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33" name="Rectangle 32">
            <a:extLst>
              <a:ext uri="{FF2B5EF4-FFF2-40B4-BE49-F238E27FC236}">
                <a16:creationId xmlns:a16="http://schemas.microsoft.com/office/drawing/2014/main" id="{7968E5B4-D47E-FB4A-8578-86FC2CAB0F99}"/>
              </a:ext>
            </a:extLst>
          </p:cNvPr>
          <p:cNvSpPr/>
          <p:nvPr/>
        </p:nvSpPr>
        <p:spPr>
          <a:xfrm>
            <a:off x="9665207" y="1664207"/>
            <a:ext cx="1234440" cy="118872"/>
          </a:xfrm>
          <a:prstGeom prst="rect">
            <a:avLst/>
          </a:prstGeom>
          <a:solidFill>
            <a:srgbClr val="F5A623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D4C29DB7-EE39-853A-1A38-C2651DD9C21F}"/>
              </a:ext>
            </a:extLst>
          </p:cNvPr>
          <p:cNvSpPr txBox="1"/>
          <p:nvPr/>
        </p:nvSpPr>
        <p:spPr>
          <a:xfrm>
            <a:off x="9756647" y="1965960"/>
            <a:ext cx="1051560" cy="73866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fr-FR" sz="2400" b="1">
                <a:solidFill>
                  <a:srgbClr val="1B2631"/>
                </a:solidFill>
                <a:latin typeface="Aptos" panose="020B0004020202020204" pitchFamily="34" charset="0"/>
              </a:rPr>
              <a:t>Vecteur</a:t>
            </a:r>
          </a:p>
        </p:txBody>
      </p:sp>
      <p:sp>
        <p:nvSpPr>
          <p:cNvPr id="35" name="ZoneTexte 34">
            <a:extLst>
              <a:ext uri="{FF2B5EF4-FFF2-40B4-BE49-F238E27FC236}">
                <a16:creationId xmlns:a16="http://schemas.microsoft.com/office/drawing/2014/main" id="{BFFF0A62-DC6B-315D-0452-18BB22E7E722}"/>
              </a:ext>
            </a:extLst>
          </p:cNvPr>
          <p:cNvSpPr txBox="1"/>
          <p:nvPr/>
        </p:nvSpPr>
        <p:spPr>
          <a:xfrm>
            <a:off x="9756647" y="2423160"/>
            <a:ext cx="1051560" cy="41857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fr-FR" sz="1360">
                <a:solidFill>
                  <a:srgbClr val="424E5A"/>
                </a:solidFill>
                <a:latin typeface="Aptos" panose="020B0004020202020204" pitchFamily="34" charset="0"/>
              </a:rPr>
              <a:t>Flatten</a:t>
            </a:r>
          </a:p>
          <a:p>
            <a:pPr algn="ctr"/>
            <a:r>
              <a:rPr lang="fr-FR" sz="1360">
                <a:solidFill>
                  <a:srgbClr val="424E5A"/>
                </a:solidFill>
                <a:latin typeface="Aptos" panose="020B0004020202020204" pitchFamily="34" charset="0"/>
              </a:rPr>
              <a:t>256 valeurs</a:t>
            </a:r>
          </a:p>
        </p:txBody>
      </p:sp>
      <p:sp>
        <p:nvSpPr>
          <p:cNvPr id="36" name="Flèche : droite 35">
            <a:extLst>
              <a:ext uri="{FF2B5EF4-FFF2-40B4-BE49-F238E27FC236}">
                <a16:creationId xmlns:a16="http://schemas.microsoft.com/office/drawing/2014/main" id="{DDAE2194-D17B-0EF4-FEE1-FBE5EEA2D03F}"/>
              </a:ext>
            </a:extLst>
          </p:cNvPr>
          <p:cNvSpPr/>
          <p:nvPr/>
        </p:nvSpPr>
        <p:spPr>
          <a:xfrm>
            <a:off x="1572768" y="2487168"/>
            <a:ext cx="164592" cy="182880"/>
          </a:xfrm>
          <a:prstGeom prst="rightArrow">
            <a:avLst/>
          </a:prstGeom>
          <a:solidFill>
            <a:srgbClr val="4CB8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37" name="Flèche : droite 36">
            <a:extLst>
              <a:ext uri="{FF2B5EF4-FFF2-40B4-BE49-F238E27FC236}">
                <a16:creationId xmlns:a16="http://schemas.microsoft.com/office/drawing/2014/main" id="{D26DFFD0-AF0E-38E8-DDFA-84CAE7769675}"/>
              </a:ext>
            </a:extLst>
          </p:cNvPr>
          <p:cNvSpPr/>
          <p:nvPr/>
        </p:nvSpPr>
        <p:spPr>
          <a:xfrm>
            <a:off x="3191256" y="2487168"/>
            <a:ext cx="164592" cy="182880"/>
          </a:xfrm>
          <a:prstGeom prst="rightArrow">
            <a:avLst/>
          </a:prstGeom>
          <a:solidFill>
            <a:srgbClr val="4CB8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38" name="Flèche : droite 37">
            <a:extLst>
              <a:ext uri="{FF2B5EF4-FFF2-40B4-BE49-F238E27FC236}">
                <a16:creationId xmlns:a16="http://schemas.microsoft.com/office/drawing/2014/main" id="{543846E5-85CA-527D-B0C5-A84D150B5019}"/>
              </a:ext>
            </a:extLst>
          </p:cNvPr>
          <p:cNvSpPr/>
          <p:nvPr/>
        </p:nvSpPr>
        <p:spPr>
          <a:xfrm>
            <a:off x="4809744" y="2487168"/>
            <a:ext cx="164592" cy="182880"/>
          </a:xfrm>
          <a:prstGeom prst="rightArrow">
            <a:avLst/>
          </a:prstGeom>
          <a:solidFill>
            <a:srgbClr val="4CB8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39" name="Flèche : droite 38">
            <a:extLst>
              <a:ext uri="{FF2B5EF4-FFF2-40B4-BE49-F238E27FC236}">
                <a16:creationId xmlns:a16="http://schemas.microsoft.com/office/drawing/2014/main" id="{E39D9490-13A2-FE86-59DD-530BFACB69C5}"/>
              </a:ext>
            </a:extLst>
          </p:cNvPr>
          <p:cNvSpPr/>
          <p:nvPr/>
        </p:nvSpPr>
        <p:spPr>
          <a:xfrm>
            <a:off x="6428232" y="2487168"/>
            <a:ext cx="164592" cy="182880"/>
          </a:xfrm>
          <a:prstGeom prst="rightArrow">
            <a:avLst/>
          </a:prstGeom>
          <a:solidFill>
            <a:srgbClr val="4CB8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40" name="Flèche : droite 39">
            <a:extLst>
              <a:ext uri="{FF2B5EF4-FFF2-40B4-BE49-F238E27FC236}">
                <a16:creationId xmlns:a16="http://schemas.microsoft.com/office/drawing/2014/main" id="{A2D83EFF-4721-A1D4-7995-0FFA396DFD0A}"/>
              </a:ext>
            </a:extLst>
          </p:cNvPr>
          <p:cNvSpPr/>
          <p:nvPr/>
        </p:nvSpPr>
        <p:spPr>
          <a:xfrm>
            <a:off x="8046720" y="2487168"/>
            <a:ext cx="164592" cy="182880"/>
          </a:xfrm>
          <a:prstGeom prst="rightArrow">
            <a:avLst/>
          </a:prstGeom>
          <a:solidFill>
            <a:srgbClr val="4CB8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41" name="Rectangle : coins arrondis 40">
            <a:extLst>
              <a:ext uri="{FF2B5EF4-FFF2-40B4-BE49-F238E27FC236}">
                <a16:creationId xmlns:a16="http://schemas.microsoft.com/office/drawing/2014/main" id="{B1C2AADC-597D-4457-C1E8-AAB0127D0473}"/>
              </a:ext>
            </a:extLst>
          </p:cNvPr>
          <p:cNvSpPr/>
          <p:nvPr/>
        </p:nvSpPr>
        <p:spPr>
          <a:xfrm>
            <a:off x="1234439" y="4251960"/>
            <a:ext cx="4617720" cy="1024128"/>
          </a:xfrm>
          <a:prstGeom prst="roundRect">
            <a:avLst/>
          </a:prstGeom>
          <a:solidFill>
            <a:srgbClr val="E5F2F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42" name="ZoneTexte 41">
            <a:extLst>
              <a:ext uri="{FF2B5EF4-FFF2-40B4-BE49-F238E27FC236}">
                <a16:creationId xmlns:a16="http://schemas.microsoft.com/office/drawing/2014/main" id="{00F6B76F-8F72-D44D-58E4-7AAD8EA8529A}"/>
              </a:ext>
            </a:extLst>
          </p:cNvPr>
          <p:cNvSpPr txBox="1"/>
          <p:nvPr/>
        </p:nvSpPr>
        <p:spPr>
          <a:xfrm>
            <a:off x="1481328" y="4462273"/>
            <a:ext cx="3931920" cy="28732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fr-FR" sz="1867" b="1">
                <a:solidFill>
                  <a:srgbClr val="0B1F3A"/>
                </a:solidFill>
                <a:latin typeface="Aptos" panose="020B0004020202020204" pitchFamily="34" charset="0"/>
              </a:rPr>
              <a:t>Tete classification</a:t>
            </a:r>
          </a:p>
        </p:txBody>
      </p:sp>
      <p:sp>
        <p:nvSpPr>
          <p:cNvPr id="43" name="ZoneTexte 42">
            <a:extLst>
              <a:ext uri="{FF2B5EF4-FFF2-40B4-BE49-F238E27FC236}">
                <a16:creationId xmlns:a16="http://schemas.microsoft.com/office/drawing/2014/main" id="{927D71E3-4D4E-E9C8-C8D1-1B0C567F0921}"/>
              </a:ext>
            </a:extLst>
          </p:cNvPr>
          <p:cNvSpPr txBox="1"/>
          <p:nvPr/>
        </p:nvSpPr>
        <p:spPr>
          <a:xfrm>
            <a:off x="1481328" y="4846320"/>
            <a:ext cx="4160520" cy="47179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fr-FR" sz="1533">
                <a:solidFill>
                  <a:srgbClr val="424E5A"/>
                </a:solidFill>
                <a:latin typeface="Aptos" panose="020B0004020202020204" pitchFamily="34" charset="0"/>
              </a:rPr>
              <a:t>Linear 256 -&gt; 128 -&gt; ReLU -&gt; Dropout 30 % -&gt; Linear 128 -&gt; 3 logits</a:t>
            </a:r>
          </a:p>
        </p:txBody>
      </p:sp>
      <p:sp>
        <p:nvSpPr>
          <p:cNvPr id="44" name="Rectangle : coins arrondis 43">
            <a:extLst>
              <a:ext uri="{FF2B5EF4-FFF2-40B4-BE49-F238E27FC236}">
                <a16:creationId xmlns:a16="http://schemas.microsoft.com/office/drawing/2014/main" id="{FB12DD62-4ADB-B723-17B0-E2B2EBDE7916}"/>
              </a:ext>
            </a:extLst>
          </p:cNvPr>
          <p:cNvSpPr/>
          <p:nvPr/>
        </p:nvSpPr>
        <p:spPr>
          <a:xfrm>
            <a:off x="6382511" y="4251960"/>
            <a:ext cx="4617720" cy="1024128"/>
          </a:xfrm>
          <a:prstGeom prst="roundRect">
            <a:avLst/>
          </a:prstGeom>
          <a:solidFill>
            <a:srgbClr val="E2F7F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45" name="ZoneTexte 44">
            <a:extLst>
              <a:ext uri="{FF2B5EF4-FFF2-40B4-BE49-F238E27FC236}">
                <a16:creationId xmlns:a16="http://schemas.microsoft.com/office/drawing/2014/main" id="{C4AE217F-ADB7-E17A-17EB-08433FA99CCA}"/>
              </a:ext>
            </a:extLst>
          </p:cNvPr>
          <p:cNvSpPr txBox="1"/>
          <p:nvPr/>
        </p:nvSpPr>
        <p:spPr>
          <a:xfrm>
            <a:off x="6629400" y="4462272"/>
            <a:ext cx="406908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fr-FR" sz="2400" b="1">
                <a:solidFill>
                  <a:srgbClr val="0B1F3A"/>
                </a:solidFill>
                <a:latin typeface="Aptos" panose="020B0004020202020204" pitchFamily="34" charset="0"/>
              </a:rPr>
              <a:t>Tete regression (multi-tache)</a:t>
            </a:r>
          </a:p>
        </p:txBody>
      </p:sp>
      <p:sp>
        <p:nvSpPr>
          <p:cNvPr id="46" name="ZoneTexte 45">
            <a:extLst>
              <a:ext uri="{FF2B5EF4-FFF2-40B4-BE49-F238E27FC236}">
                <a16:creationId xmlns:a16="http://schemas.microsoft.com/office/drawing/2014/main" id="{2C2E9140-2A1E-68B3-A91E-034AB29B105D}"/>
              </a:ext>
            </a:extLst>
          </p:cNvPr>
          <p:cNvSpPr txBox="1"/>
          <p:nvPr/>
        </p:nvSpPr>
        <p:spPr>
          <a:xfrm>
            <a:off x="6629400" y="4846320"/>
            <a:ext cx="4160520" cy="47179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fr-FR" sz="1533">
                <a:solidFill>
                  <a:srgbClr val="424E5A"/>
                </a:solidFill>
                <a:latin typeface="Aptos" panose="020B0004020202020204" pitchFamily="34" charset="0"/>
              </a:rPr>
              <a:t>Linear 256 -&gt; 128 -&gt; 64 -&gt; 2, puis tanh x 100 pour speedA et speedB</a:t>
            </a:r>
          </a:p>
        </p:txBody>
      </p:sp>
      <p:sp>
        <p:nvSpPr>
          <p:cNvPr id="47" name="ZoneTexte 46">
            <a:extLst>
              <a:ext uri="{FF2B5EF4-FFF2-40B4-BE49-F238E27FC236}">
                <a16:creationId xmlns:a16="http://schemas.microsoft.com/office/drawing/2014/main" id="{E8A8ADCB-920F-1BD2-B13B-C6EC1687A2E3}"/>
              </a:ext>
            </a:extLst>
          </p:cNvPr>
          <p:cNvSpPr txBox="1"/>
          <p:nvPr/>
        </p:nvSpPr>
        <p:spPr>
          <a:xfrm>
            <a:off x="640079" y="5779008"/>
            <a:ext cx="10927080" cy="23589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fr-FR" sz="1533" b="1">
                <a:solidFill>
                  <a:srgbClr val="E74C3C"/>
                </a:solidFill>
                <a:latin typeface="Aptos" panose="020B0004020202020204" pitchFamily="34" charset="0"/>
              </a:rPr>
              <a:t>La boucle actuelle optimise les logits de classification ; la tete de regression est une fondation pour la suite.</a:t>
            </a:r>
          </a:p>
        </p:txBody>
      </p:sp>
    </p:spTree>
    <p:extLst>
      <p:ext uri="{BB962C8B-B14F-4D97-AF65-F5344CB8AC3E}">
        <p14:creationId xmlns:p14="http://schemas.microsoft.com/office/powerpoint/2010/main" val="931426372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F37AE54C-459E-B4B2-0435-9E3565ACF2AF}"/>
              </a:ext>
            </a:extLst>
          </p:cNvPr>
          <p:cNvSpPr/>
          <p:nvPr/>
        </p:nvSpPr>
        <p:spPr>
          <a:xfrm>
            <a:off x="-1" y="0"/>
            <a:ext cx="12191688" cy="6858000"/>
          </a:xfrm>
          <a:prstGeom prst="rect">
            <a:avLst/>
          </a:prstGeom>
          <a:solidFill>
            <a:srgbClr val="F8FA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64F71995-08CB-299E-EEFC-C54629680131}"/>
              </a:ext>
            </a:extLst>
          </p:cNvPr>
          <p:cNvSpPr/>
          <p:nvPr/>
        </p:nvSpPr>
        <p:spPr>
          <a:xfrm>
            <a:off x="-1" y="-1"/>
            <a:ext cx="12191688" cy="118872"/>
          </a:xfrm>
          <a:prstGeom prst="rect">
            <a:avLst/>
          </a:prstGeom>
          <a:solidFill>
            <a:srgbClr val="00B7A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59D2AE59-FF74-7723-17A4-40FF1717ED61}"/>
              </a:ext>
            </a:extLst>
          </p:cNvPr>
          <p:cNvSpPr txBox="1"/>
          <p:nvPr/>
        </p:nvSpPr>
        <p:spPr>
          <a:xfrm>
            <a:off x="548640" y="347473"/>
            <a:ext cx="10698480" cy="51289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fr-FR" sz="3333" b="1">
                <a:solidFill>
                  <a:srgbClr val="0B1F3A"/>
                </a:solidFill>
                <a:latin typeface="Aptos" panose="020B0004020202020204" pitchFamily="34" charset="0"/>
              </a:rPr>
              <a:t>Comment le modele apprend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26EC633F-22E2-0FA4-E18B-FDF820BD3651}"/>
              </a:ext>
            </a:extLst>
          </p:cNvPr>
          <p:cNvSpPr txBox="1"/>
          <p:nvPr/>
        </p:nvSpPr>
        <p:spPr>
          <a:xfrm>
            <a:off x="548640" y="6501385"/>
            <a:ext cx="4297680" cy="1743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fr-FR" sz="1133">
                <a:solidFill>
                  <a:srgbClr val="5F7387"/>
                </a:solidFill>
                <a:latin typeface="Aptos" panose="020B0004020202020204" pitchFamily="34" charset="0"/>
              </a:rPr>
              <a:t>AUTONOMOUS DRIVING CAR  |  SOUTENANCE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8E3C8486-9AD8-4786-5F02-799FA26DBCDF}"/>
              </a:ext>
            </a:extLst>
          </p:cNvPr>
          <p:cNvSpPr txBox="1"/>
          <p:nvPr/>
        </p:nvSpPr>
        <p:spPr>
          <a:xfrm>
            <a:off x="11109959" y="6501385"/>
            <a:ext cx="502920" cy="1743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fr-FR" sz="1133">
                <a:solidFill>
                  <a:srgbClr val="5F7387"/>
                </a:solidFill>
                <a:latin typeface="Aptos" panose="020B0004020202020204" pitchFamily="34" charset="0"/>
              </a:rPr>
              <a:t>6 / 10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EB67E7EF-F2C2-61C2-EBC2-A5A1E53CE1BE}"/>
              </a:ext>
            </a:extLst>
          </p:cNvPr>
          <p:cNvSpPr txBox="1"/>
          <p:nvPr/>
        </p:nvSpPr>
        <p:spPr>
          <a:xfrm>
            <a:off x="548640" y="932689"/>
            <a:ext cx="10972800" cy="623889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fr-FR" sz="2027">
                <a:solidFill>
                  <a:srgbClr val="424E5A"/>
                </a:solidFill>
                <a:latin typeface="Aptos" panose="020B0004020202020204" pitchFamily="34" charset="0"/>
              </a:rPr>
              <a:t>Un apprentissage consiste a repeter un cycle : predire, mesurer l'erreur, propager cette erreur, ajuster les poids.</a:t>
            </a:r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4AF03E0A-C84E-C267-68BD-4BE9A05F3E15}"/>
              </a:ext>
            </a:extLst>
          </p:cNvPr>
          <p:cNvSpPr/>
          <p:nvPr/>
        </p:nvSpPr>
        <p:spPr>
          <a:xfrm>
            <a:off x="548640" y="1828800"/>
            <a:ext cx="1901952" cy="1920240"/>
          </a:xfrm>
          <a:prstGeom prst="roundRect">
            <a:avLst/>
          </a:prstGeom>
          <a:solidFill>
            <a:srgbClr val="F8FAFC"/>
          </a:solidFill>
          <a:ln w="10160">
            <a:solidFill>
              <a:srgbClr val="EFF3F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9" name="Ellipse 8">
            <a:extLst>
              <a:ext uri="{FF2B5EF4-FFF2-40B4-BE49-F238E27FC236}">
                <a16:creationId xmlns:a16="http://schemas.microsoft.com/office/drawing/2014/main" id="{7B356C11-59F5-FBA0-B295-12DE920A36B8}"/>
              </a:ext>
            </a:extLst>
          </p:cNvPr>
          <p:cNvSpPr/>
          <p:nvPr/>
        </p:nvSpPr>
        <p:spPr>
          <a:xfrm>
            <a:off x="1225296" y="1572768"/>
            <a:ext cx="548640" cy="548640"/>
          </a:xfrm>
          <a:prstGeom prst="ellipse">
            <a:avLst/>
          </a:prstGeom>
          <a:solidFill>
            <a:srgbClr val="2980B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FF4F9593-4278-8493-DAC9-C04844821D9F}"/>
              </a:ext>
            </a:extLst>
          </p:cNvPr>
          <p:cNvSpPr txBox="1"/>
          <p:nvPr/>
        </p:nvSpPr>
        <p:spPr>
          <a:xfrm>
            <a:off x="1408176" y="1737360"/>
            <a:ext cx="182880" cy="23589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fr-FR" sz="1533" b="1">
                <a:solidFill>
                  <a:srgbClr val="F8FAFC"/>
                </a:solidFill>
                <a:latin typeface="Aptos" panose="020B0004020202020204" pitchFamily="34" charset="0"/>
              </a:rPr>
              <a:t>1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220C44C5-57EF-9389-A1AC-30934F49715F}"/>
              </a:ext>
            </a:extLst>
          </p:cNvPr>
          <p:cNvSpPr txBox="1"/>
          <p:nvPr/>
        </p:nvSpPr>
        <p:spPr>
          <a:xfrm>
            <a:off x="713232" y="2286001"/>
            <a:ext cx="1572768" cy="28732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fr-FR" sz="1867" b="1">
                <a:solidFill>
                  <a:srgbClr val="1B2631"/>
                </a:solidFill>
                <a:latin typeface="Aptos" panose="020B0004020202020204" pitchFamily="34" charset="0"/>
              </a:rPr>
              <a:t>Mini-batch</a:t>
            </a:r>
          </a:p>
        </p:txBody>
      </p:sp>
      <p:sp>
        <p:nvSpPr>
          <p:cNvPr id="12" name="ZoneTexte 11">
            <a:extLst>
              <a:ext uri="{FF2B5EF4-FFF2-40B4-BE49-F238E27FC236}">
                <a16:creationId xmlns:a16="http://schemas.microsoft.com/office/drawing/2014/main" id="{6FBC1B0A-EABA-8D08-062C-B7BE530E2CDB}"/>
              </a:ext>
            </a:extLst>
          </p:cNvPr>
          <p:cNvSpPr txBox="1"/>
          <p:nvPr/>
        </p:nvSpPr>
        <p:spPr>
          <a:xfrm>
            <a:off x="713232" y="2761489"/>
            <a:ext cx="1572768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fr-FR" sz="1400">
                <a:solidFill>
                  <a:srgbClr val="424E5A"/>
                </a:solidFill>
                <a:latin typeface="Aptos" panose="020B0004020202020204" pitchFamily="34" charset="0"/>
              </a:rPr>
              <a:t>32 images</a:t>
            </a:r>
          </a:p>
          <a:p>
            <a:pPr algn="ctr"/>
            <a:r>
              <a:rPr lang="fr-FR" sz="1400">
                <a:solidFill>
                  <a:srgbClr val="424E5A"/>
                </a:solidFill>
                <a:latin typeface="Aptos" panose="020B0004020202020204" pitchFamily="34" charset="0"/>
              </a:rPr>
              <a:t>+ labels</a:t>
            </a:r>
          </a:p>
        </p:txBody>
      </p:sp>
      <p:sp>
        <p:nvSpPr>
          <p:cNvPr id="13" name="Rectangle : coins arrondis 12">
            <a:extLst>
              <a:ext uri="{FF2B5EF4-FFF2-40B4-BE49-F238E27FC236}">
                <a16:creationId xmlns:a16="http://schemas.microsoft.com/office/drawing/2014/main" id="{F6EDC81E-485C-BE96-545D-877F30BE84FA}"/>
              </a:ext>
            </a:extLst>
          </p:cNvPr>
          <p:cNvSpPr/>
          <p:nvPr/>
        </p:nvSpPr>
        <p:spPr>
          <a:xfrm>
            <a:off x="2807208" y="1828800"/>
            <a:ext cx="1901952" cy="1920240"/>
          </a:xfrm>
          <a:prstGeom prst="roundRect">
            <a:avLst/>
          </a:prstGeom>
          <a:solidFill>
            <a:srgbClr val="F8FAFC"/>
          </a:solidFill>
          <a:ln w="10160">
            <a:solidFill>
              <a:srgbClr val="EFF3F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4" name="Ellipse 13">
            <a:extLst>
              <a:ext uri="{FF2B5EF4-FFF2-40B4-BE49-F238E27FC236}">
                <a16:creationId xmlns:a16="http://schemas.microsoft.com/office/drawing/2014/main" id="{C6F02F8A-50AC-D9FB-2C6F-02FB9A78DB1F}"/>
              </a:ext>
            </a:extLst>
          </p:cNvPr>
          <p:cNvSpPr/>
          <p:nvPr/>
        </p:nvSpPr>
        <p:spPr>
          <a:xfrm>
            <a:off x="3483864" y="1572768"/>
            <a:ext cx="548640" cy="548640"/>
          </a:xfrm>
          <a:prstGeom prst="ellipse">
            <a:avLst/>
          </a:prstGeom>
          <a:solidFill>
            <a:srgbClr val="00B7A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2AB43BD9-480F-D458-73F6-3A57AD1D16EB}"/>
              </a:ext>
            </a:extLst>
          </p:cNvPr>
          <p:cNvSpPr txBox="1"/>
          <p:nvPr/>
        </p:nvSpPr>
        <p:spPr>
          <a:xfrm>
            <a:off x="3666744" y="1737360"/>
            <a:ext cx="182880" cy="23589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fr-FR" sz="1533" b="1">
                <a:solidFill>
                  <a:srgbClr val="F8FAFC"/>
                </a:solidFill>
                <a:latin typeface="Aptos" panose="020B0004020202020204" pitchFamily="34" charset="0"/>
              </a:rPr>
              <a:t>2</a:t>
            </a:r>
          </a:p>
        </p:txBody>
      </p:sp>
      <p:sp>
        <p:nvSpPr>
          <p:cNvPr id="16" name="ZoneTexte 15">
            <a:extLst>
              <a:ext uri="{FF2B5EF4-FFF2-40B4-BE49-F238E27FC236}">
                <a16:creationId xmlns:a16="http://schemas.microsoft.com/office/drawing/2014/main" id="{4E67E320-1823-9F41-25A1-C68522A72014}"/>
              </a:ext>
            </a:extLst>
          </p:cNvPr>
          <p:cNvSpPr txBox="1"/>
          <p:nvPr/>
        </p:nvSpPr>
        <p:spPr>
          <a:xfrm>
            <a:off x="2971800" y="2286001"/>
            <a:ext cx="1572768" cy="28732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fr-FR" sz="1867" b="1">
                <a:solidFill>
                  <a:srgbClr val="1B2631"/>
                </a:solidFill>
                <a:latin typeface="Aptos" panose="020B0004020202020204" pitchFamily="34" charset="0"/>
              </a:rPr>
              <a:t>Forward</a:t>
            </a:r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FAE40A54-DF99-9BC4-BF41-D4FB9BFAD1DD}"/>
              </a:ext>
            </a:extLst>
          </p:cNvPr>
          <p:cNvSpPr txBox="1"/>
          <p:nvPr/>
        </p:nvSpPr>
        <p:spPr>
          <a:xfrm>
            <a:off x="2971800" y="2761489"/>
            <a:ext cx="1572768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fr-FR" sz="1400">
                <a:solidFill>
                  <a:srgbClr val="424E5A"/>
                </a:solidFill>
                <a:latin typeface="Aptos" panose="020B0004020202020204" pitchFamily="34" charset="0"/>
              </a:rPr>
              <a:t>CNN -&gt;</a:t>
            </a:r>
          </a:p>
          <a:p>
            <a:pPr algn="ctr"/>
            <a:r>
              <a:rPr lang="fr-FR" sz="1400">
                <a:solidFill>
                  <a:srgbClr val="424E5A"/>
                </a:solidFill>
                <a:latin typeface="Aptos" panose="020B0004020202020204" pitchFamily="34" charset="0"/>
              </a:rPr>
              <a:t>logits</a:t>
            </a:r>
          </a:p>
        </p:txBody>
      </p:sp>
      <p:sp>
        <p:nvSpPr>
          <p:cNvPr id="18" name="Rectangle : coins arrondis 17">
            <a:extLst>
              <a:ext uri="{FF2B5EF4-FFF2-40B4-BE49-F238E27FC236}">
                <a16:creationId xmlns:a16="http://schemas.microsoft.com/office/drawing/2014/main" id="{9C04AD36-A60E-FEC6-FF6A-DFB33587C3E8}"/>
              </a:ext>
            </a:extLst>
          </p:cNvPr>
          <p:cNvSpPr/>
          <p:nvPr/>
        </p:nvSpPr>
        <p:spPr>
          <a:xfrm>
            <a:off x="5065776" y="1828800"/>
            <a:ext cx="1901952" cy="1920240"/>
          </a:xfrm>
          <a:prstGeom prst="roundRect">
            <a:avLst/>
          </a:prstGeom>
          <a:solidFill>
            <a:srgbClr val="F8FAFC"/>
          </a:solidFill>
          <a:ln w="10160">
            <a:solidFill>
              <a:srgbClr val="EFF3F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9" name="Ellipse 18">
            <a:extLst>
              <a:ext uri="{FF2B5EF4-FFF2-40B4-BE49-F238E27FC236}">
                <a16:creationId xmlns:a16="http://schemas.microsoft.com/office/drawing/2014/main" id="{DD0EBB17-64EE-DF76-1FC8-E3F91FB8A4FC}"/>
              </a:ext>
            </a:extLst>
          </p:cNvPr>
          <p:cNvSpPr/>
          <p:nvPr/>
        </p:nvSpPr>
        <p:spPr>
          <a:xfrm>
            <a:off x="5742432" y="1572768"/>
            <a:ext cx="548640" cy="548640"/>
          </a:xfrm>
          <a:prstGeom prst="ellipse">
            <a:avLst/>
          </a:prstGeom>
          <a:solidFill>
            <a:srgbClr val="F5A623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20" name="ZoneTexte 19">
            <a:extLst>
              <a:ext uri="{FF2B5EF4-FFF2-40B4-BE49-F238E27FC236}">
                <a16:creationId xmlns:a16="http://schemas.microsoft.com/office/drawing/2014/main" id="{0B6EE1AF-09A3-8E3E-4238-ADB31AA2823E}"/>
              </a:ext>
            </a:extLst>
          </p:cNvPr>
          <p:cNvSpPr txBox="1"/>
          <p:nvPr/>
        </p:nvSpPr>
        <p:spPr>
          <a:xfrm>
            <a:off x="5925312" y="1737360"/>
            <a:ext cx="182880" cy="23589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fr-FR" sz="1533" b="1">
                <a:solidFill>
                  <a:srgbClr val="F8FAFC"/>
                </a:solidFill>
                <a:latin typeface="Aptos" panose="020B0004020202020204" pitchFamily="34" charset="0"/>
              </a:rPr>
              <a:t>3</a:t>
            </a:r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B73BC6CA-DA72-81D7-3DE9-70439B3412FC}"/>
              </a:ext>
            </a:extLst>
          </p:cNvPr>
          <p:cNvSpPr txBox="1"/>
          <p:nvPr/>
        </p:nvSpPr>
        <p:spPr>
          <a:xfrm>
            <a:off x="5230368" y="2286001"/>
            <a:ext cx="1572768" cy="28732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fr-FR" sz="1867" b="1">
                <a:solidFill>
                  <a:srgbClr val="1B2631"/>
                </a:solidFill>
                <a:latin typeface="Aptos" panose="020B0004020202020204" pitchFamily="34" charset="0"/>
              </a:rPr>
              <a:t>Loss</a:t>
            </a:r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92E5DCFF-0790-E8C6-A05C-83DE7F531FA7}"/>
              </a:ext>
            </a:extLst>
          </p:cNvPr>
          <p:cNvSpPr txBox="1"/>
          <p:nvPr/>
        </p:nvSpPr>
        <p:spPr>
          <a:xfrm>
            <a:off x="5230368" y="2761488"/>
            <a:ext cx="1572768" cy="64633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fr-FR" sz="1400">
                <a:solidFill>
                  <a:srgbClr val="424E5A"/>
                </a:solidFill>
                <a:latin typeface="Aptos" panose="020B0004020202020204" pitchFamily="34" charset="0"/>
              </a:rPr>
              <a:t>CrossEntropy</a:t>
            </a:r>
          </a:p>
          <a:p>
            <a:pPr algn="ctr"/>
            <a:r>
              <a:rPr lang="fr-FR" sz="1400">
                <a:solidFill>
                  <a:srgbClr val="424E5A"/>
                </a:solidFill>
                <a:latin typeface="Aptos" panose="020B0004020202020204" pitchFamily="34" charset="0"/>
              </a:rPr>
              <a:t>compare prediction / verite</a:t>
            </a:r>
          </a:p>
        </p:txBody>
      </p:sp>
      <p:sp>
        <p:nvSpPr>
          <p:cNvPr id="23" name="Rectangle : coins arrondis 22">
            <a:extLst>
              <a:ext uri="{FF2B5EF4-FFF2-40B4-BE49-F238E27FC236}">
                <a16:creationId xmlns:a16="http://schemas.microsoft.com/office/drawing/2014/main" id="{9EB559FF-2A97-CBB8-ABDF-BC3C8E5F8D79}"/>
              </a:ext>
            </a:extLst>
          </p:cNvPr>
          <p:cNvSpPr/>
          <p:nvPr/>
        </p:nvSpPr>
        <p:spPr>
          <a:xfrm>
            <a:off x="7324344" y="1828800"/>
            <a:ext cx="1901952" cy="1920240"/>
          </a:xfrm>
          <a:prstGeom prst="roundRect">
            <a:avLst/>
          </a:prstGeom>
          <a:solidFill>
            <a:srgbClr val="F8FAFC"/>
          </a:solidFill>
          <a:ln w="10160">
            <a:solidFill>
              <a:srgbClr val="EFF3F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24" name="Ellipse 23">
            <a:extLst>
              <a:ext uri="{FF2B5EF4-FFF2-40B4-BE49-F238E27FC236}">
                <a16:creationId xmlns:a16="http://schemas.microsoft.com/office/drawing/2014/main" id="{0BADCC91-420E-9E05-50DF-EEB13350DB55}"/>
              </a:ext>
            </a:extLst>
          </p:cNvPr>
          <p:cNvSpPr/>
          <p:nvPr/>
        </p:nvSpPr>
        <p:spPr>
          <a:xfrm>
            <a:off x="8001000" y="1572768"/>
            <a:ext cx="548640" cy="548640"/>
          </a:xfrm>
          <a:prstGeom prst="ellipse">
            <a:avLst/>
          </a:prstGeom>
          <a:solidFill>
            <a:srgbClr val="E74C3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25" name="ZoneTexte 24">
            <a:extLst>
              <a:ext uri="{FF2B5EF4-FFF2-40B4-BE49-F238E27FC236}">
                <a16:creationId xmlns:a16="http://schemas.microsoft.com/office/drawing/2014/main" id="{C36610AC-5276-1255-2058-DDE6BEB8A965}"/>
              </a:ext>
            </a:extLst>
          </p:cNvPr>
          <p:cNvSpPr txBox="1"/>
          <p:nvPr/>
        </p:nvSpPr>
        <p:spPr>
          <a:xfrm>
            <a:off x="8183880" y="1737360"/>
            <a:ext cx="182880" cy="23589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fr-FR" sz="1533" b="1">
                <a:solidFill>
                  <a:srgbClr val="F8FAFC"/>
                </a:solidFill>
                <a:latin typeface="Aptos" panose="020B0004020202020204" pitchFamily="34" charset="0"/>
              </a:rPr>
              <a:t>4</a:t>
            </a:r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7BA4A62B-3418-5BB2-2E22-EB5FA71B883D}"/>
              </a:ext>
            </a:extLst>
          </p:cNvPr>
          <p:cNvSpPr txBox="1"/>
          <p:nvPr/>
        </p:nvSpPr>
        <p:spPr>
          <a:xfrm>
            <a:off x="7488936" y="2286001"/>
            <a:ext cx="1572768" cy="28732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fr-FR" sz="1867" b="1">
                <a:solidFill>
                  <a:srgbClr val="1B2631"/>
                </a:solidFill>
                <a:latin typeface="Aptos" panose="020B0004020202020204" pitchFamily="34" charset="0"/>
              </a:rPr>
              <a:t>Backward</a:t>
            </a:r>
          </a:p>
        </p:txBody>
      </p:sp>
      <p:sp>
        <p:nvSpPr>
          <p:cNvPr id="27" name="ZoneTexte 26">
            <a:extLst>
              <a:ext uri="{FF2B5EF4-FFF2-40B4-BE49-F238E27FC236}">
                <a16:creationId xmlns:a16="http://schemas.microsoft.com/office/drawing/2014/main" id="{953F9CD9-256C-2758-CAD4-40B11C6CF643}"/>
              </a:ext>
            </a:extLst>
          </p:cNvPr>
          <p:cNvSpPr txBox="1"/>
          <p:nvPr/>
        </p:nvSpPr>
        <p:spPr>
          <a:xfrm>
            <a:off x="7488936" y="2761489"/>
            <a:ext cx="1572768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fr-FR" sz="1400">
                <a:solidFill>
                  <a:srgbClr val="424E5A"/>
                </a:solidFill>
                <a:latin typeface="Aptos" panose="020B0004020202020204" pitchFamily="34" charset="0"/>
              </a:rPr>
              <a:t>gradients par</a:t>
            </a:r>
          </a:p>
          <a:p>
            <a:pPr algn="ctr"/>
            <a:r>
              <a:rPr lang="fr-FR" sz="1400">
                <a:solidFill>
                  <a:srgbClr val="424E5A"/>
                </a:solidFill>
                <a:latin typeface="Aptos" panose="020B0004020202020204" pitchFamily="34" charset="0"/>
              </a:rPr>
              <a:t>retropropagation</a:t>
            </a:r>
          </a:p>
        </p:txBody>
      </p:sp>
      <p:sp>
        <p:nvSpPr>
          <p:cNvPr id="28" name="Rectangle : coins arrondis 27">
            <a:extLst>
              <a:ext uri="{FF2B5EF4-FFF2-40B4-BE49-F238E27FC236}">
                <a16:creationId xmlns:a16="http://schemas.microsoft.com/office/drawing/2014/main" id="{D526DCEE-2B15-9DE9-07DD-9CFFCB08297F}"/>
              </a:ext>
            </a:extLst>
          </p:cNvPr>
          <p:cNvSpPr/>
          <p:nvPr/>
        </p:nvSpPr>
        <p:spPr>
          <a:xfrm>
            <a:off x="9582912" y="1828800"/>
            <a:ext cx="1901952" cy="1920240"/>
          </a:xfrm>
          <a:prstGeom prst="roundRect">
            <a:avLst/>
          </a:prstGeom>
          <a:solidFill>
            <a:srgbClr val="F8FAFC"/>
          </a:solidFill>
          <a:ln w="10160">
            <a:solidFill>
              <a:srgbClr val="EFF3F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29" name="Ellipse 28">
            <a:extLst>
              <a:ext uri="{FF2B5EF4-FFF2-40B4-BE49-F238E27FC236}">
                <a16:creationId xmlns:a16="http://schemas.microsoft.com/office/drawing/2014/main" id="{656B923F-70BC-4EB3-E474-3998025A23E0}"/>
              </a:ext>
            </a:extLst>
          </p:cNvPr>
          <p:cNvSpPr/>
          <p:nvPr/>
        </p:nvSpPr>
        <p:spPr>
          <a:xfrm>
            <a:off x="10259568" y="1572768"/>
            <a:ext cx="548640" cy="548640"/>
          </a:xfrm>
          <a:prstGeom prst="ellipse">
            <a:avLst/>
          </a:prstGeom>
          <a:solidFill>
            <a:srgbClr val="2CB26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30" name="ZoneTexte 29">
            <a:extLst>
              <a:ext uri="{FF2B5EF4-FFF2-40B4-BE49-F238E27FC236}">
                <a16:creationId xmlns:a16="http://schemas.microsoft.com/office/drawing/2014/main" id="{AFB58CB2-85C7-361E-7765-6730B7191B4E}"/>
              </a:ext>
            </a:extLst>
          </p:cNvPr>
          <p:cNvSpPr txBox="1"/>
          <p:nvPr/>
        </p:nvSpPr>
        <p:spPr>
          <a:xfrm>
            <a:off x="10442448" y="1737360"/>
            <a:ext cx="182880" cy="23589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fr-FR" sz="1533" b="1">
                <a:solidFill>
                  <a:srgbClr val="F8FAFC"/>
                </a:solidFill>
                <a:latin typeface="Aptos" panose="020B0004020202020204" pitchFamily="34" charset="0"/>
              </a:rPr>
              <a:t>5</a:t>
            </a:r>
          </a:p>
        </p:txBody>
      </p:sp>
      <p:sp>
        <p:nvSpPr>
          <p:cNvPr id="31" name="ZoneTexte 30">
            <a:extLst>
              <a:ext uri="{FF2B5EF4-FFF2-40B4-BE49-F238E27FC236}">
                <a16:creationId xmlns:a16="http://schemas.microsoft.com/office/drawing/2014/main" id="{3A8FCD50-747F-1BE4-313A-B04CCB22A360}"/>
              </a:ext>
            </a:extLst>
          </p:cNvPr>
          <p:cNvSpPr txBox="1"/>
          <p:nvPr/>
        </p:nvSpPr>
        <p:spPr>
          <a:xfrm>
            <a:off x="9747504" y="2286001"/>
            <a:ext cx="1572768" cy="28732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fr-FR" sz="1867" b="1">
                <a:solidFill>
                  <a:srgbClr val="1B2631"/>
                </a:solidFill>
                <a:latin typeface="Aptos" panose="020B0004020202020204" pitchFamily="34" charset="0"/>
              </a:rPr>
              <a:t>Adam</a:t>
            </a:r>
          </a:p>
        </p:txBody>
      </p:sp>
      <p:sp>
        <p:nvSpPr>
          <p:cNvPr id="32" name="ZoneTexte 31">
            <a:extLst>
              <a:ext uri="{FF2B5EF4-FFF2-40B4-BE49-F238E27FC236}">
                <a16:creationId xmlns:a16="http://schemas.microsoft.com/office/drawing/2014/main" id="{287CE3BB-F326-66DA-BBF4-E3FAEF4B7F24}"/>
              </a:ext>
            </a:extLst>
          </p:cNvPr>
          <p:cNvSpPr txBox="1"/>
          <p:nvPr/>
        </p:nvSpPr>
        <p:spPr>
          <a:xfrm>
            <a:off x="9747504" y="2761489"/>
            <a:ext cx="1572768" cy="43088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fr-FR" sz="1400">
                <a:solidFill>
                  <a:srgbClr val="424E5A"/>
                </a:solidFill>
                <a:latin typeface="Aptos" panose="020B0004020202020204" pitchFamily="34" charset="0"/>
              </a:rPr>
              <a:t>mise a jour</a:t>
            </a:r>
          </a:p>
          <a:p>
            <a:pPr algn="ctr"/>
            <a:r>
              <a:rPr lang="fr-FR" sz="1400">
                <a:solidFill>
                  <a:srgbClr val="424E5A"/>
                </a:solidFill>
                <a:latin typeface="Aptos" panose="020B0004020202020204" pitchFamily="34" charset="0"/>
              </a:rPr>
              <a:t>des poids</a:t>
            </a:r>
          </a:p>
        </p:txBody>
      </p:sp>
      <p:sp>
        <p:nvSpPr>
          <p:cNvPr id="33" name="Flèche : droite 32">
            <a:extLst>
              <a:ext uri="{FF2B5EF4-FFF2-40B4-BE49-F238E27FC236}">
                <a16:creationId xmlns:a16="http://schemas.microsoft.com/office/drawing/2014/main" id="{32C0B12C-CCAB-1729-9A2F-3B71AC749203}"/>
              </a:ext>
            </a:extLst>
          </p:cNvPr>
          <p:cNvSpPr/>
          <p:nvPr/>
        </p:nvSpPr>
        <p:spPr>
          <a:xfrm>
            <a:off x="2514599" y="2697480"/>
            <a:ext cx="283464" cy="274320"/>
          </a:xfrm>
          <a:prstGeom prst="rightArrow">
            <a:avLst/>
          </a:prstGeom>
          <a:solidFill>
            <a:srgbClr val="4CB8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34" name="Flèche : droite 33">
            <a:extLst>
              <a:ext uri="{FF2B5EF4-FFF2-40B4-BE49-F238E27FC236}">
                <a16:creationId xmlns:a16="http://schemas.microsoft.com/office/drawing/2014/main" id="{EE08AD08-AB1F-48FE-8B88-2183008794F9}"/>
              </a:ext>
            </a:extLst>
          </p:cNvPr>
          <p:cNvSpPr/>
          <p:nvPr/>
        </p:nvSpPr>
        <p:spPr>
          <a:xfrm>
            <a:off x="4773167" y="2697480"/>
            <a:ext cx="283464" cy="274320"/>
          </a:xfrm>
          <a:prstGeom prst="rightArrow">
            <a:avLst/>
          </a:prstGeom>
          <a:solidFill>
            <a:srgbClr val="4CB8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35" name="Flèche : droite 34">
            <a:extLst>
              <a:ext uri="{FF2B5EF4-FFF2-40B4-BE49-F238E27FC236}">
                <a16:creationId xmlns:a16="http://schemas.microsoft.com/office/drawing/2014/main" id="{74F8601E-354B-EF13-2493-A7CFFE6726F1}"/>
              </a:ext>
            </a:extLst>
          </p:cNvPr>
          <p:cNvSpPr/>
          <p:nvPr/>
        </p:nvSpPr>
        <p:spPr>
          <a:xfrm>
            <a:off x="7031735" y="2697480"/>
            <a:ext cx="283464" cy="274320"/>
          </a:xfrm>
          <a:prstGeom prst="rightArrow">
            <a:avLst/>
          </a:prstGeom>
          <a:solidFill>
            <a:srgbClr val="4CB8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36" name="Rectangle : coins arrondis 35">
            <a:extLst>
              <a:ext uri="{FF2B5EF4-FFF2-40B4-BE49-F238E27FC236}">
                <a16:creationId xmlns:a16="http://schemas.microsoft.com/office/drawing/2014/main" id="{81A00F88-3475-65FA-5D66-0897B8312787}"/>
              </a:ext>
            </a:extLst>
          </p:cNvPr>
          <p:cNvSpPr/>
          <p:nvPr/>
        </p:nvSpPr>
        <p:spPr>
          <a:xfrm>
            <a:off x="731520" y="4498848"/>
            <a:ext cx="5212080" cy="859536"/>
          </a:xfrm>
          <a:prstGeom prst="roundRect">
            <a:avLst/>
          </a:prstGeom>
          <a:solidFill>
            <a:srgbClr val="E5F2F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37" name="ZoneTexte 36">
            <a:extLst>
              <a:ext uri="{FF2B5EF4-FFF2-40B4-BE49-F238E27FC236}">
                <a16:creationId xmlns:a16="http://schemas.microsoft.com/office/drawing/2014/main" id="{B96FA2C4-509F-BA52-043F-2BB72F2B0C2B}"/>
              </a:ext>
            </a:extLst>
          </p:cNvPr>
          <p:cNvSpPr txBox="1"/>
          <p:nvPr/>
        </p:nvSpPr>
        <p:spPr>
          <a:xfrm>
            <a:off x="960120" y="4718305"/>
            <a:ext cx="4736592" cy="26667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fr-FR" sz="1733" b="1">
                <a:solidFill>
                  <a:srgbClr val="0B1F3A"/>
                </a:solidFill>
                <a:latin typeface="Aptos" panose="020B0004020202020204" pitchFamily="34" charset="0"/>
              </a:rPr>
              <a:t>Loss : -log(probabilite de la vraie classe)</a:t>
            </a:r>
          </a:p>
        </p:txBody>
      </p:sp>
      <p:sp>
        <p:nvSpPr>
          <p:cNvPr id="38" name="ZoneTexte 37">
            <a:extLst>
              <a:ext uri="{FF2B5EF4-FFF2-40B4-BE49-F238E27FC236}">
                <a16:creationId xmlns:a16="http://schemas.microsoft.com/office/drawing/2014/main" id="{AA2001F0-8930-57FA-91A0-F4AF9B9364B2}"/>
              </a:ext>
            </a:extLst>
          </p:cNvPr>
          <p:cNvSpPr txBox="1"/>
          <p:nvPr/>
        </p:nvSpPr>
        <p:spPr>
          <a:xfrm>
            <a:off x="960120" y="5010912"/>
            <a:ext cx="4736592" cy="41857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fr-FR" sz="1360">
                <a:solidFill>
                  <a:srgbClr val="424E5A"/>
                </a:solidFill>
                <a:latin typeface="Aptos" panose="020B0004020202020204" pitchFamily="34" charset="0"/>
              </a:rPr>
              <a:t>Avec 3 classes uniformes, loss ~ 1.10. Une baisse durable traduit en general une meilleure attribution de probabilite.</a:t>
            </a:r>
          </a:p>
        </p:txBody>
      </p:sp>
      <p:sp>
        <p:nvSpPr>
          <p:cNvPr id="39" name="Rectangle : coins arrondis 38">
            <a:extLst>
              <a:ext uri="{FF2B5EF4-FFF2-40B4-BE49-F238E27FC236}">
                <a16:creationId xmlns:a16="http://schemas.microsoft.com/office/drawing/2014/main" id="{5BB2197C-84AF-720E-73AE-10E0159E0481}"/>
              </a:ext>
            </a:extLst>
          </p:cNvPr>
          <p:cNvSpPr/>
          <p:nvPr/>
        </p:nvSpPr>
        <p:spPr>
          <a:xfrm>
            <a:off x="6245352" y="4498848"/>
            <a:ext cx="5212080" cy="859536"/>
          </a:xfrm>
          <a:prstGeom prst="roundRect">
            <a:avLst/>
          </a:prstGeom>
          <a:solidFill>
            <a:srgbClr val="E2F7F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40" name="ZoneTexte 39">
            <a:extLst>
              <a:ext uri="{FF2B5EF4-FFF2-40B4-BE49-F238E27FC236}">
                <a16:creationId xmlns:a16="http://schemas.microsoft.com/office/drawing/2014/main" id="{FCE1ED9E-DC7B-0B20-0FDB-A0BDD5FFA195}"/>
              </a:ext>
            </a:extLst>
          </p:cNvPr>
          <p:cNvSpPr txBox="1"/>
          <p:nvPr/>
        </p:nvSpPr>
        <p:spPr>
          <a:xfrm>
            <a:off x="6473952" y="4718304"/>
            <a:ext cx="4736592" cy="26667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fr-FR" sz="1733" b="1">
                <a:solidFill>
                  <a:srgbClr val="0B1F3A"/>
                </a:solidFill>
                <a:latin typeface="Aptos" panose="020B0004020202020204" pitchFamily="34" charset="0"/>
              </a:rPr>
              <a:t>Adam : lr = 0.001</a:t>
            </a:r>
          </a:p>
        </p:txBody>
      </p:sp>
      <p:sp>
        <p:nvSpPr>
          <p:cNvPr id="41" name="ZoneTexte 40">
            <a:extLst>
              <a:ext uri="{FF2B5EF4-FFF2-40B4-BE49-F238E27FC236}">
                <a16:creationId xmlns:a16="http://schemas.microsoft.com/office/drawing/2014/main" id="{3D017E13-A374-560A-CB52-A32154CEEBB9}"/>
              </a:ext>
            </a:extLst>
          </p:cNvPr>
          <p:cNvSpPr txBox="1"/>
          <p:nvPr/>
        </p:nvSpPr>
        <p:spPr>
          <a:xfrm>
            <a:off x="6473952" y="5010912"/>
            <a:ext cx="4736592" cy="418576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fr-FR" sz="1360">
                <a:solidFill>
                  <a:srgbClr val="424E5A"/>
                </a:solidFill>
                <a:latin typeface="Aptos" panose="020B0004020202020204" pitchFamily="34" charset="0"/>
              </a:rPr>
              <a:t>Il utilise l'historique des gradients pour adapter le pas de chaque poids. Les gradients sont remis a zero avant chaque lot.</a:t>
            </a:r>
          </a:p>
        </p:txBody>
      </p:sp>
      <p:sp>
        <p:nvSpPr>
          <p:cNvPr id="42" name="ZoneTexte 41">
            <a:extLst>
              <a:ext uri="{FF2B5EF4-FFF2-40B4-BE49-F238E27FC236}">
                <a16:creationId xmlns:a16="http://schemas.microsoft.com/office/drawing/2014/main" id="{5D3E3D3F-D776-CDE1-0F39-63E5018B2DC0}"/>
              </a:ext>
            </a:extLst>
          </p:cNvPr>
          <p:cNvSpPr txBox="1"/>
          <p:nvPr/>
        </p:nvSpPr>
        <p:spPr>
          <a:xfrm>
            <a:off x="658367" y="5833873"/>
            <a:ext cx="10927080" cy="23192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fr-FR" sz="1507" b="1">
                <a:solidFill>
                  <a:srgbClr val="E74C3C"/>
                </a:solidFill>
                <a:latin typeface="Aptos" panose="020B0004020202020204" pitchFamily="34" charset="0"/>
              </a:rPr>
              <a:t>Une loss de train qui baisse alors que la validation stagne peut signaler du surapprentissage : le test final reste indispensable.</a:t>
            </a:r>
          </a:p>
        </p:txBody>
      </p:sp>
    </p:spTree>
    <p:extLst>
      <p:ext uri="{BB962C8B-B14F-4D97-AF65-F5344CB8AC3E}">
        <p14:creationId xmlns:p14="http://schemas.microsoft.com/office/powerpoint/2010/main" val="163052421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D89A93DA-147B-A0C5-BF6B-9CDF4F355C7E}"/>
              </a:ext>
            </a:extLst>
          </p:cNvPr>
          <p:cNvSpPr/>
          <p:nvPr/>
        </p:nvSpPr>
        <p:spPr>
          <a:xfrm>
            <a:off x="-1" y="0"/>
            <a:ext cx="12191688" cy="6858000"/>
          </a:xfrm>
          <a:prstGeom prst="rect">
            <a:avLst/>
          </a:prstGeom>
          <a:solidFill>
            <a:srgbClr val="F8FA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9466ABFE-3246-2806-24D8-599E94EBBD95}"/>
              </a:ext>
            </a:extLst>
          </p:cNvPr>
          <p:cNvSpPr/>
          <p:nvPr/>
        </p:nvSpPr>
        <p:spPr>
          <a:xfrm>
            <a:off x="-1" y="-1"/>
            <a:ext cx="12191688" cy="118872"/>
          </a:xfrm>
          <a:prstGeom prst="rect">
            <a:avLst/>
          </a:prstGeom>
          <a:solidFill>
            <a:srgbClr val="00B7A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D3F5A51C-6482-C0C0-14BA-13CD10F92237}"/>
              </a:ext>
            </a:extLst>
          </p:cNvPr>
          <p:cNvSpPr txBox="1"/>
          <p:nvPr/>
        </p:nvSpPr>
        <p:spPr>
          <a:xfrm>
            <a:off x="548640" y="347472"/>
            <a:ext cx="10698480" cy="51289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fr-FR" sz="3333" b="1">
                <a:solidFill>
                  <a:srgbClr val="0B1F3A"/>
                </a:solidFill>
                <a:latin typeface="Aptos" panose="020B0004020202020204" pitchFamily="34" charset="0"/>
              </a:rPr>
              <a:t>Evaluer et selectionner le meilleur checkpoint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E9AFF849-53AC-2B87-5693-7A33ECCBF624}"/>
              </a:ext>
            </a:extLst>
          </p:cNvPr>
          <p:cNvSpPr txBox="1"/>
          <p:nvPr/>
        </p:nvSpPr>
        <p:spPr>
          <a:xfrm>
            <a:off x="548640" y="6501385"/>
            <a:ext cx="4297680" cy="1743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fr-FR" sz="1133">
                <a:solidFill>
                  <a:srgbClr val="5F7387"/>
                </a:solidFill>
                <a:latin typeface="Aptos" panose="020B0004020202020204" pitchFamily="34" charset="0"/>
              </a:rPr>
              <a:t>AUTONOMOUS DRIVING CAR  |  SOUTENANCE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31232813-4748-8F1C-69DC-A4E504F61B03}"/>
              </a:ext>
            </a:extLst>
          </p:cNvPr>
          <p:cNvSpPr txBox="1"/>
          <p:nvPr/>
        </p:nvSpPr>
        <p:spPr>
          <a:xfrm>
            <a:off x="11109959" y="6501385"/>
            <a:ext cx="502920" cy="1743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fr-FR" sz="1133">
                <a:solidFill>
                  <a:srgbClr val="5F7387"/>
                </a:solidFill>
                <a:latin typeface="Aptos" panose="020B0004020202020204" pitchFamily="34" charset="0"/>
              </a:rPr>
              <a:t>7 / 10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456C563D-D102-EC18-2D63-A965EBBAD494}"/>
              </a:ext>
            </a:extLst>
          </p:cNvPr>
          <p:cNvSpPr txBox="1"/>
          <p:nvPr/>
        </p:nvSpPr>
        <p:spPr>
          <a:xfrm>
            <a:off x="548639" y="932688"/>
            <a:ext cx="11018520" cy="61157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fr-FR" sz="1987">
                <a:solidFill>
                  <a:srgbClr val="424E5A"/>
                </a:solidFill>
                <a:latin typeface="Aptos" panose="020B0004020202020204" pitchFamily="34" charset="0"/>
              </a:rPr>
              <a:t>La validation est effectuee apres chaque epoque en mode evaluation : dropout inactif, BatchNorm stabilisee et aucun gradient conserve.</a:t>
            </a:r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F42C22E8-6DD0-058D-09EA-3609D60277DC}"/>
              </a:ext>
            </a:extLst>
          </p:cNvPr>
          <p:cNvSpPr/>
          <p:nvPr/>
        </p:nvSpPr>
        <p:spPr>
          <a:xfrm>
            <a:off x="685799" y="1536191"/>
            <a:ext cx="3246120" cy="3337560"/>
          </a:xfrm>
          <a:prstGeom prst="roundRect">
            <a:avLst/>
          </a:prstGeom>
          <a:solidFill>
            <a:srgbClr val="F8FAFC"/>
          </a:solidFill>
          <a:ln w="10160">
            <a:solidFill>
              <a:srgbClr val="EFF3F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E32126A9-069E-D856-7AC8-49D01E5A4DE4}"/>
              </a:ext>
            </a:extLst>
          </p:cNvPr>
          <p:cNvSpPr/>
          <p:nvPr/>
        </p:nvSpPr>
        <p:spPr>
          <a:xfrm>
            <a:off x="685799" y="1536191"/>
            <a:ext cx="82296" cy="3337560"/>
          </a:xfrm>
          <a:prstGeom prst="rect">
            <a:avLst/>
          </a:prstGeom>
          <a:solidFill>
            <a:srgbClr val="2980B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BBB262FA-5E43-1AE6-EED4-735EA91D8922}"/>
              </a:ext>
            </a:extLst>
          </p:cNvPr>
          <p:cNvSpPr txBox="1"/>
          <p:nvPr/>
        </p:nvSpPr>
        <p:spPr>
          <a:xfrm>
            <a:off x="914400" y="1719073"/>
            <a:ext cx="2834640" cy="34887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fr-FR" sz="2267" b="1">
                <a:solidFill>
                  <a:srgbClr val="1B2631"/>
                </a:solidFill>
                <a:latin typeface="Aptos" panose="020B0004020202020204" pitchFamily="34" charset="0"/>
              </a:rPr>
              <a:t>Mesures calculees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05E61691-DFFD-84A4-8F18-B825594CE470}"/>
              </a:ext>
            </a:extLst>
          </p:cNvPr>
          <p:cNvSpPr txBox="1"/>
          <p:nvPr/>
        </p:nvSpPr>
        <p:spPr>
          <a:xfrm>
            <a:off x="914400" y="2157985"/>
            <a:ext cx="2834640" cy="94359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fr-FR" sz="1533">
                <a:solidFill>
                  <a:srgbClr val="424E5A"/>
                </a:solidFill>
                <a:latin typeface="Aptos" panose="020B0004020202020204" pitchFamily="34" charset="0"/>
              </a:rPr>
              <a:t>Accuracy globale</a:t>
            </a:r>
          </a:p>
          <a:p>
            <a:r>
              <a:rPr lang="fr-FR" sz="1533">
                <a:solidFill>
                  <a:srgbClr val="424E5A"/>
                </a:solidFill>
                <a:latin typeface="Aptos" panose="020B0004020202020204" pitchFamily="34" charset="0"/>
              </a:rPr>
              <a:t>Accuracy par classe</a:t>
            </a:r>
          </a:p>
          <a:p>
            <a:r>
              <a:rPr lang="fr-FR" sz="1533">
                <a:solidFill>
                  <a:srgbClr val="424E5A"/>
                </a:solidFill>
                <a:latin typeface="Aptos" panose="020B0004020202020204" pitchFamily="34" charset="0"/>
              </a:rPr>
              <a:t>Matrice de confusion sur test</a:t>
            </a:r>
          </a:p>
          <a:p>
            <a:r>
              <a:rPr lang="fr-FR" sz="1533">
                <a:solidFill>
                  <a:srgbClr val="424E5A"/>
                </a:solidFill>
                <a:latin typeface="Aptos" panose="020B0004020202020204" pitchFamily="34" charset="0"/>
              </a:rPr>
              <a:t>Precision, recall et F1-score</a:t>
            </a:r>
          </a:p>
        </p:txBody>
      </p:sp>
      <p:sp>
        <p:nvSpPr>
          <p:cNvPr id="12" name="Rectangle : coins arrondis 11">
            <a:extLst>
              <a:ext uri="{FF2B5EF4-FFF2-40B4-BE49-F238E27FC236}">
                <a16:creationId xmlns:a16="http://schemas.microsoft.com/office/drawing/2014/main" id="{957443D9-D7BB-35DE-7ACC-FF01F12101DE}"/>
              </a:ext>
            </a:extLst>
          </p:cNvPr>
          <p:cNvSpPr/>
          <p:nvPr/>
        </p:nvSpPr>
        <p:spPr>
          <a:xfrm>
            <a:off x="4462271" y="1536191"/>
            <a:ext cx="3246120" cy="3337560"/>
          </a:xfrm>
          <a:prstGeom prst="roundRect">
            <a:avLst/>
          </a:prstGeom>
          <a:solidFill>
            <a:srgbClr val="F8FAFC"/>
          </a:solidFill>
          <a:ln w="10160">
            <a:solidFill>
              <a:srgbClr val="EFF3F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60F97DDD-F4E4-488B-DF9A-E759890A6CB4}"/>
              </a:ext>
            </a:extLst>
          </p:cNvPr>
          <p:cNvSpPr/>
          <p:nvPr/>
        </p:nvSpPr>
        <p:spPr>
          <a:xfrm>
            <a:off x="4462271" y="1536191"/>
            <a:ext cx="82296" cy="3337560"/>
          </a:xfrm>
          <a:prstGeom prst="rect">
            <a:avLst/>
          </a:prstGeom>
          <a:solidFill>
            <a:srgbClr val="00B7A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0033C8E9-BCE7-6B57-A743-E8F7E73C4AE1}"/>
              </a:ext>
            </a:extLst>
          </p:cNvPr>
          <p:cNvSpPr txBox="1"/>
          <p:nvPr/>
        </p:nvSpPr>
        <p:spPr>
          <a:xfrm>
            <a:off x="4690872" y="1719073"/>
            <a:ext cx="2834640" cy="34887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fr-FR" sz="2267" b="1">
                <a:solidFill>
                  <a:srgbClr val="1B2631"/>
                </a:solidFill>
                <a:latin typeface="Aptos" panose="020B0004020202020204" pitchFamily="34" charset="0"/>
              </a:rPr>
              <a:t>Regle de sauvegarde</a:t>
            </a: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D7B8052B-32F5-F59B-C64C-5A17A9EF6FEC}"/>
              </a:ext>
            </a:extLst>
          </p:cNvPr>
          <p:cNvSpPr txBox="1"/>
          <p:nvPr/>
        </p:nvSpPr>
        <p:spPr>
          <a:xfrm>
            <a:off x="4690872" y="2157984"/>
            <a:ext cx="2834640" cy="94359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fr-FR" sz="1533">
                <a:solidFill>
                  <a:srgbClr val="424E5A"/>
                </a:solidFill>
                <a:latin typeface="Aptos" panose="020B0004020202020204" pitchFamily="34" charset="0"/>
              </a:rPr>
              <a:t>Le checkpoint doit battre la meilleure accuracy globale et respecter les trois seuils de classe durant la meme epoque.</a:t>
            </a:r>
          </a:p>
        </p:txBody>
      </p:sp>
      <p:sp>
        <p:nvSpPr>
          <p:cNvPr id="16" name="Rectangle : coins arrondis 15">
            <a:extLst>
              <a:ext uri="{FF2B5EF4-FFF2-40B4-BE49-F238E27FC236}">
                <a16:creationId xmlns:a16="http://schemas.microsoft.com/office/drawing/2014/main" id="{7CD1F072-C496-E8AF-7495-5E0633ECA3F9}"/>
              </a:ext>
            </a:extLst>
          </p:cNvPr>
          <p:cNvSpPr/>
          <p:nvPr/>
        </p:nvSpPr>
        <p:spPr>
          <a:xfrm>
            <a:off x="8238743" y="1536191"/>
            <a:ext cx="3246120" cy="3337560"/>
          </a:xfrm>
          <a:prstGeom prst="roundRect">
            <a:avLst/>
          </a:prstGeom>
          <a:solidFill>
            <a:srgbClr val="F8FAFC"/>
          </a:solidFill>
          <a:ln w="10160">
            <a:solidFill>
              <a:srgbClr val="EFF3F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A840335F-130F-12B9-E16F-A3F0DB47CCBA}"/>
              </a:ext>
            </a:extLst>
          </p:cNvPr>
          <p:cNvSpPr/>
          <p:nvPr/>
        </p:nvSpPr>
        <p:spPr>
          <a:xfrm>
            <a:off x="8238743" y="1536191"/>
            <a:ext cx="82296" cy="3337560"/>
          </a:xfrm>
          <a:prstGeom prst="rect">
            <a:avLst/>
          </a:prstGeom>
          <a:solidFill>
            <a:srgbClr val="F5A623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036BAF39-097B-856F-C719-9826B7CA5D1D}"/>
              </a:ext>
            </a:extLst>
          </p:cNvPr>
          <p:cNvSpPr txBox="1"/>
          <p:nvPr/>
        </p:nvSpPr>
        <p:spPr>
          <a:xfrm>
            <a:off x="8467344" y="1719072"/>
            <a:ext cx="2834640" cy="34887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fr-FR" sz="2267" b="1">
                <a:solidFill>
                  <a:srgbClr val="1B2631"/>
                </a:solidFill>
                <a:latin typeface="Aptos" panose="020B0004020202020204" pitchFamily="34" charset="0"/>
              </a:rPr>
              <a:t>Sortie finale</a:t>
            </a:r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D5D9AD5F-CE88-9C6D-39D9-425264A4E452}"/>
              </a:ext>
            </a:extLst>
          </p:cNvPr>
          <p:cNvSpPr txBox="1"/>
          <p:nvPr/>
        </p:nvSpPr>
        <p:spPr>
          <a:xfrm>
            <a:off x="8467344" y="2157984"/>
            <a:ext cx="2834640" cy="94359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fr-FR" sz="1533">
                <a:solidFill>
                  <a:srgbClr val="424E5A"/>
                </a:solidFill>
                <a:latin typeface="Aptos" panose="020B0004020202020204" pitchFamily="34" charset="0"/>
              </a:rPr>
              <a:t>Le meilleur etat des poids est recharge, puis evalue une derniere fois sur le split test, separe du train.</a:t>
            </a:r>
          </a:p>
        </p:txBody>
      </p:sp>
      <p:sp>
        <p:nvSpPr>
          <p:cNvPr id="20" name="Rectangle : coins arrondis 19">
            <a:extLst>
              <a:ext uri="{FF2B5EF4-FFF2-40B4-BE49-F238E27FC236}">
                <a16:creationId xmlns:a16="http://schemas.microsoft.com/office/drawing/2014/main" id="{C55BED7B-A656-BB2D-02EF-3504527C8060}"/>
              </a:ext>
            </a:extLst>
          </p:cNvPr>
          <p:cNvSpPr/>
          <p:nvPr/>
        </p:nvSpPr>
        <p:spPr>
          <a:xfrm>
            <a:off x="2057400" y="5212080"/>
            <a:ext cx="8074152" cy="566928"/>
          </a:xfrm>
          <a:prstGeom prst="roundRect">
            <a:avLst/>
          </a:prstGeom>
          <a:solidFill>
            <a:srgbClr val="0B1F3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C7DE617F-8E1C-8956-E691-8560E9EB3D26}"/>
              </a:ext>
            </a:extLst>
          </p:cNvPr>
          <p:cNvSpPr txBox="1"/>
          <p:nvPr/>
        </p:nvSpPr>
        <p:spPr>
          <a:xfrm>
            <a:off x="2286000" y="5404105"/>
            <a:ext cx="7635240" cy="22576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sz="1467" b="1">
                <a:solidFill>
                  <a:srgbClr val="F8FAFC"/>
                </a:solidFill>
                <a:latin typeface="Aptos" panose="020B0004020202020204" pitchFamily="34" charset="0"/>
              </a:rPr>
              <a:t>Seuils minimums : left &gt;= 0.90     forward &gt;= 0.60     right &gt;= 0.92</a:t>
            </a:r>
            <a:endParaRPr lang="fr-FR" sz="1467" b="1">
              <a:solidFill>
                <a:srgbClr val="F8FAFC"/>
              </a:solidFill>
              <a:latin typeface="Aptos" panose="020B0004020202020204" pitchFamily="34" charset="0"/>
            </a:endParaRPr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86EAB826-4C43-353E-6FF5-9176EBF28316}"/>
              </a:ext>
            </a:extLst>
          </p:cNvPr>
          <p:cNvSpPr txBox="1"/>
          <p:nvPr/>
        </p:nvSpPr>
        <p:spPr>
          <a:xfrm>
            <a:off x="685799" y="5961889"/>
            <a:ext cx="10835640" cy="2297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fr-FR" sz="1493" b="1">
                <a:solidFill>
                  <a:srgbClr val="E74C3C"/>
                </a:solidFill>
                <a:latin typeface="Aptos" panose="020B0004020202020204" pitchFamily="34" charset="0"/>
              </a:rPr>
              <a:t>Pas de chiffres fabriques : les valeurs presentees a l'oral doivent venir de la derniere execution reelle du script.</a:t>
            </a:r>
          </a:p>
        </p:txBody>
      </p:sp>
    </p:spTree>
    <p:extLst>
      <p:ext uri="{BB962C8B-B14F-4D97-AF65-F5344CB8AC3E}">
        <p14:creationId xmlns:p14="http://schemas.microsoft.com/office/powerpoint/2010/main" val="143228613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0F23D3CB-DC43-9559-A805-E341DA2BF9AE}"/>
              </a:ext>
            </a:extLst>
          </p:cNvPr>
          <p:cNvSpPr/>
          <p:nvPr/>
        </p:nvSpPr>
        <p:spPr>
          <a:xfrm>
            <a:off x="-1" y="0"/>
            <a:ext cx="12191688" cy="6858000"/>
          </a:xfrm>
          <a:prstGeom prst="rect">
            <a:avLst/>
          </a:prstGeom>
          <a:solidFill>
            <a:srgbClr val="F8FA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8754244D-4AC0-C24B-166B-DBECB8F4A3AB}"/>
              </a:ext>
            </a:extLst>
          </p:cNvPr>
          <p:cNvSpPr/>
          <p:nvPr/>
        </p:nvSpPr>
        <p:spPr>
          <a:xfrm>
            <a:off x="-1" y="-1"/>
            <a:ext cx="12191688" cy="118872"/>
          </a:xfrm>
          <a:prstGeom prst="rect">
            <a:avLst/>
          </a:prstGeom>
          <a:solidFill>
            <a:srgbClr val="00B7A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CF92C4F6-6C0B-583A-6245-B5549DF32FCE}"/>
              </a:ext>
            </a:extLst>
          </p:cNvPr>
          <p:cNvSpPr txBox="1"/>
          <p:nvPr/>
        </p:nvSpPr>
        <p:spPr>
          <a:xfrm>
            <a:off x="548640" y="347473"/>
            <a:ext cx="10698480" cy="51289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fr-FR" sz="3333" b="1">
                <a:solidFill>
                  <a:srgbClr val="0B1F3A"/>
                </a:solidFill>
                <a:latin typeface="Aptos" panose="020B0004020202020204" pitchFamily="34" charset="0"/>
              </a:rPr>
              <a:t>Inference : d'une image a une action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DFE131D2-1FF1-22D1-2CBC-281B34F44681}"/>
              </a:ext>
            </a:extLst>
          </p:cNvPr>
          <p:cNvSpPr txBox="1"/>
          <p:nvPr/>
        </p:nvSpPr>
        <p:spPr>
          <a:xfrm>
            <a:off x="548640" y="6501385"/>
            <a:ext cx="4297680" cy="1743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fr-FR" sz="1133">
                <a:solidFill>
                  <a:srgbClr val="5F7387"/>
                </a:solidFill>
                <a:latin typeface="Aptos" panose="020B0004020202020204" pitchFamily="34" charset="0"/>
              </a:rPr>
              <a:t>AUTONOMOUS DRIVING CAR  |  SOUTENANCE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ADAB2FE4-D7B4-098B-EA90-F0B634AB59D2}"/>
              </a:ext>
            </a:extLst>
          </p:cNvPr>
          <p:cNvSpPr txBox="1"/>
          <p:nvPr/>
        </p:nvSpPr>
        <p:spPr>
          <a:xfrm>
            <a:off x="11109959" y="6501385"/>
            <a:ext cx="502920" cy="1743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fr-FR" sz="1133" dirty="0">
                <a:solidFill>
                  <a:srgbClr val="5F7387"/>
                </a:solidFill>
                <a:latin typeface="Aptos" panose="020B0004020202020204" pitchFamily="34" charset="0"/>
              </a:rPr>
              <a:t>8 / 10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6B013420-4663-C4F1-3880-2EDADEC260C7}"/>
              </a:ext>
            </a:extLst>
          </p:cNvPr>
          <p:cNvSpPr txBox="1"/>
          <p:nvPr/>
        </p:nvSpPr>
        <p:spPr>
          <a:xfrm>
            <a:off x="548640" y="932689"/>
            <a:ext cx="10972800" cy="61555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fr-FR" sz="2000" dirty="0">
                <a:solidFill>
                  <a:srgbClr val="424E5A"/>
                </a:solidFill>
                <a:latin typeface="Aptos" panose="020B0004020202020204" pitchFamily="34" charset="0"/>
              </a:rPr>
              <a:t>L'</a:t>
            </a:r>
            <a:r>
              <a:rPr lang="fr-FR" sz="2000" dirty="0" err="1">
                <a:solidFill>
                  <a:srgbClr val="424E5A"/>
                </a:solidFill>
                <a:latin typeface="Aptos" panose="020B0004020202020204" pitchFamily="34" charset="0"/>
              </a:rPr>
              <a:t>inference</a:t>
            </a:r>
            <a:r>
              <a:rPr lang="fr-FR" sz="2000" dirty="0">
                <a:solidFill>
                  <a:srgbClr val="424E5A"/>
                </a:solidFill>
                <a:latin typeface="Aptos" panose="020B0004020202020204" pitchFamily="34" charset="0"/>
              </a:rPr>
              <a:t> recharge un checkpoint, applique exactement le </a:t>
            </a:r>
            <a:r>
              <a:rPr lang="fr-FR" sz="2000" dirty="0" err="1">
                <a:solidFill>
                  <a:srgbClr val="424E5A"/>
                </a:solidFill>
                <a:latin typeface="Aptos" panose="020B0004020202020204" pitchFamily="34" charset="0"/>
              </a:rPr>
              <a:t>pretraitement</a:t>
            </a:r>
            <a:r>
              <a:rPr lang="fr-FR" sz="2000" dirty="0">
                <a:solidFill>
                  <a:srgbClr val="424E5A"/>
                </a:solidFill>
                <a:latin typeface="Aptos" panose="020B0004020202020204" pitchFamily="34" charset="0"/>
              </a:rPr>
              <a:t> d'</a:t>
            </a:r>
            <a:r>
              <a:rPr lang="fr-FR" sz="2000" dirty="0" err="1">
                <a:solidFill>
                  <a:srgbClr val="424E5A"/>
                </a:solidFill>
                <a:latin typeface="Aptos" panose="020B0004020202020204" pitchFamily="34" charset="0"/>
              </a:rPr>
              <a:t>evaluation</a:t>
            </a:r>
            <a:r>
              <a:rPr lang="fr-FR" sz="2000" dirty="0">
                <a:solidFill>
                  <a:srgbClr val="424E5A"/>
                </a:solidFill>
                <a:latin typeface="Aptos" panose="020B0004020202020204" pitchFamily="34" charset="0"/>
              </a:rPr>
              <a:t>, puis renvoie une classe et sa confiance.</a:t>
            </a:r>
          </a:p>
        </p:txBody>
      </p:sp>
      <p:sp>
        <p:nvSpPr>
          <p:cNvPr id="8" name="Rectangle : coins arrondis 7">
            <a:extLst>
              <a:ext uri="{FF2B5EF4-FFF2-40B4-BE49-F238E27FC236}">
                <a16:creationId xmlns:a16="http://schemas.microsoft.com/office/drawing/2014/main" id="{00EB6F08-9ABC-7F3A-C7E4-57417D5F6E3E}"/>
              </a:ext>
            </a:extLst>
          </p:cNvPr>
          <p:cNvSpPr/>
          <p:nvPr/>
        </p:nvSpPr>
        <p:spPr>
          <a:xfrm>
            <a:off x="566928" y="1828800"/>
            <a:ext cx="1828800" cy="1938528"/>
          </a:xfrm>
          <a:prstGeom prst="roundRect">
            <a:avLst/>
          </a:prstGeom>
          <a:solidFill>
            <a:srgbClr val="F8FAFC"/>
          </a:solidFill>
          <a:ln w="10160">
            <a:solidFill>
              <a:srgbClr val="EFF3F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9" name="Rectangle 8">
            <a:extLst>
              <a:ext uri="{FF2B5EF4-FFF2-40B4-BE49-F238E27FC236}">
                <a16:creationId xmlns:a16="http://schemas.microsoft.com/office/drawing/2014/main" id="{4BD7ADF9-76D7-E545-E293-CF3416C3262C}"/>
              </a:ext>
            </a:extLst>
          </p:cNvPr>
          <p:cNvSpPr/>
          <p:nvPr/>
        </p:nvSpPr>
        <p:spPr>
          <a:xfrm>
            <a:off x="566928" y="1828799"/>
            <a:ext cx="1828800" cy="118872"/>
          </a:xfrm>
          <a:prstGeom prst="rect">
            <a:avLst/>
          </a:prstGeom>
          <a:solidFill>
            <a:srgbClr val="2980B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ACFDBFBC-F930-D834-0D5D-3D777577AB28}"/>
              </a:ext>
            </a:extLst>
          </p:cNvPr>
          <p:cNvSpPr txBox="1"/>
          <p:nvPr/>
        </p:nvSpPr>
        <p:spPr>
          <a:xfrm>
            <a:off x="617220" y="2249424"/>
            <a:ext cx="1641348" cy="73866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fr-FR" sz="2400" b="1" dirty="0">
                <a:solidFill>
                  <a:srgbClr val="1B2631"/>
                </a:solidFill>
                <a:latin typeface="Aptos" panose="020B0004020202020204" pitchFamily="34" charset="0"/>
              </a:rPr>
              <a:t>Checkpoint .</a:t>
            </a:r>
            <a:r>
              <a:rPr lang="fr-FR" sz="2400" b="1" dirty="0" err="1">
                <a:solidFill>
                  <a:srgbClr val="1B2631"/>
                </a:solidFill>
                <a:latin typeface="Aptos" panose="020B0004020202020204" pitchFamily="34" charset="0"/>
              </a:rPr>
              <a:t>pth</a:t>
            </a:r>
            <a:endParaRPr lang="fr-FR" sz="2400" b="1" dirty="0">
              <a:solidFill>
                <a:srgbClr val="1B2631"/>
              </a:solidFill>
              <a:latin typeface="Aptos" panose="020B0004020202020204" pitchFamily="34" charset="0"/>
            </a:endParaRP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2485F7F6-1713-5127-E9D0-0F802FB6B6F8}"/>
              </a:ext>
            </a:extLst>
          </p:cNvPr>
          <p:cNvSpPr txBox="1"/>
          <p:nvPr/>
        </p:nvSpPr>
        <p:spPr>
          <a:xfrm>
            <a:off x="617220" y="3008063"/>
            <a:ext cx="1554480" cy="43922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fr-FR" sz="1427" dirty="0">
                <a:solidFill>
                  <a:srgbClr val="424E5A"/>
                </a:solidFill>
                <a:latin typeface="Aptos" panose="020B0004020202020204" pitchFamily="34" charset="0"/>
              </a:rPr>
              <a:t>poids + classes</a:t>
            </a:r>
          </a:p>
          <a:p>
            <a:pPr algn="ctr"/>
            <a:r>
              <a:rPr lang="fr-FR" sz="1427" dirty="0">
                <a:solidFill>
                  <a:srgbClr val="424E5A"/>
                </a:solidFill>
                <a:latin typeface="Aptos" panose="020B0004020202020204" pitchFamily="34" charset="0"/>
              </a:rPr>
              <a:t>+ taille image</a:t>
            </a:r>
          </a:p>
        </p:txBody>
      </p:sp>
      <p:sp>
        <p:nvSpPr>
          <p:cNvPr id="12" name="Rectangle : coins arrondis 11">
            <a:extLst>
              <a:ext uri="{FF2B5EF4-FFF2-40B4-BE49-F238E27FC236}">
                <a16:creationId xmlns:a16="http://schemas.microsoft.com/office/drawing/2014/main" id="{C9ABD065-08C6-34C2-E906-B5C8C3CC4DB3}"/>
              </a:ext>
            </a:extLst>
          </p:cNvPr>
          <p:cNvSpPr/>
          <p:nvPr/>
        </p:nvSpPr>
        <p:spPr>
          <a:xfrm>
            <a:off x="2880360" y="1828800"/>
            <a:ext cx="1828800" cy="1938528"/>
          </a:xfrm>
          <a:prstGeom prst="roundRect">
            <a:avLst/>
          </a:prstGeom>
          <a:solidFill>
            <a:srgbClr val="F8FAFC"/>
          </a:solidFill>
          <a:ln w="10160">
            <a:solidFill>
              <a:srgbClr val="EFF3F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3" name="Rectangle 12">
            <a:extLst>
              <a:ext uri="{FF2B5EF4-FFF2-40B4-BE49-F238E27FC236}">
                <a16:creationId xmlns:a16="http://schemas.microsoft.com/office/drawing/2014/main" id="{B4048CDD-3039-3347-EAC1-15AA73D571E4}"/>
              </a:ext>
            </a:extLst>
          </p:cNvPr>
          <p:cNvSpPr/>
          <p:nvPr/>
        </p:nvSpPr>
        <p:spPr>
          <a:xfrm>
            <a:off x="2880360" y="1828799"/>
            <a:ext cx="1828800" cy="118872"/>
          </a:xfrm>
          <a:prstGeom prst="rect">
            <a:avLst/>
          </a:prstGeom>
          <a:solidFill>
            <a:srgbClr val="00B7A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8045ECCB-DFD3-FD4C-5CC9-EAC12ECC5516}"/>
              </a:ext>
            </a:extLst>
          </p:cNvPr>
          <p:cNvSpPr txBox="1"/>
          <p:nvPr/>
        </p:nvSpPr>
        <p:spPr>
          <a:xfrm>
            <a:off x="3017520" y="2249424"/>
            <a:ext cx="155448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fr-FR" sz="2400" b="1">
                <a:solidFill>
                  <a:srgbClr val="1B2631"/>
                </a:solidFill>
                <a:latin typeface="Aptos" panose="020B0004020202020204" pitchFamily="34" charset="0"/>
              </a:rPr>
              <a:t>Image RGB</a:t>
            </a: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9E17FB50-9602-2F96-79EC-E0658AA93E67}"/>
              </a:ext>
            </a:extLst>
          </p:cNvPr>
          <p:cNvSpPr txBox="1"/>
          <p:nvPr/>
        </p:nvSpPr>
        <p:spPr>
          <a:xfrm>
            <a:off x="3017520" y="2697481"/>
            <a:ext cx="1554480" cy="43922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fr-FR" sz="1427" dirty="0" err="1">
                <a:solidFill>
                  <a:srgbClr val="424E5A"/>
                </a:solidFill>
                <a:latin typeface="Aptos" panose="020B0004020202020204" pitchFamily="34" charset="0"/>
              </a:rPr>
              <a:t>resize</a:t>
            </a:r>
            <a:endParaRPr lang="fr-FR" sz="1427" dirty="0">
              <a:solidFill>
                <a:srgbClr val="424E5A"/>
              </a:solidFill>
              <a:latin typeface="Aptos" panose="020B0004020202020204" pitchFamily="34" charset="0"/>
            </a:endParaRPr>
          </a:p>
          <a:p>
            <a:pPr algn="ctr"/>
            <a:r>
              <a:rPr lang="fr-FR" sz="1427" dirty="0">
                <a:solidFill>
                  <a:srgbClr val="424E5A"/>
                </a:solidFill>
                <a:latin typeface="Aptos" panose="020B0004020202020204" pitchFamily="34" charset="0"/>
              </a:rPr>
              <a:t>normalisation</a:t>
            </a:r>
          </a:p>
        </p:txBody>
      </p:sp>
      <p:sp>
        <p:nvSpPr>
          <p:cNvPr id="16" name="Rectangle : coins arrondis 15">
            <a:extLst>
              <a:ext uri="{FF2B5EF4-FFF2-40B4-BE49-F238E27FC236}">
                <a16:creationId xmlns:a16="http://schemas.microsoft.com/office/drawing/2014/main" id="{6E5F054C-7D03-1B05-6D32-4DDD40906C5E}"/>
              </a:ext>
            </a:extLst>
          </p:cNvPr>
          <p:cNvSpPr/>
          <p:nvPr/>
        </p:nvSpPr>
        <p:spPr>
          <a:xfrm>
            <a:off x="5193792" y="1828800"/>
            <a:ext cx="1828800" cy="1938528"/>
          </a:xfrm>
          <a:prstGeom prst="roundRect">
            <a:avLst/>
          </a:prstGeom>
          <a:solidFill>
            <a:srgbClr val="F8FAFC"/>
          </a:solidFill>
          <a:ln w="10160">
            <a:solidFill>
              <a:srgbClr val="EFF3F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364B5FF4-7C4F-BCDC-0795-7EC56635EE08}"/>
              </a:ext>
            </a:extLst>
          </p:cNvPr>
          <p:cNvSpPr/>
          <p:nvPr/>
        </p:nvSpPr>
        <p:spPr>
          <a:xfrm>
            <a:off x="5193792" y="1828799"/>
            <a:ext cx="1828800" cy="118872"/>
          </a:xfrm>
          <a:prstGeom prst="rect">
            <a:avLst/>
          </a:prstGeom>
          <a:solidFill>
            <a:srgbClr val="F5A623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FAD788C6-4A0E-68E2-5428-F179519278F2}"/>
              </a:ext>
            </a:extLst>
          </p:cNvPr>
          <p:cNvSpPr txBox="1"/>
          <p:nvPr/>
        </p:nvSpPr>
        <p:spPr>
          <a:xfrm>
            <a:off x="5330952" y="2249424"/>
            <a:ext cx="1554480" cy="73866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fr-FR" sz="2400" b="1">
                <a:solidFill>
                  <a:srgbClr val="1B2631"/>
                </a:solidFill>
                <a:latin typeface="Aptos" panose="020B0004020202020204" pitchFamily="34" charset="0"/>
              </a:rPr>
              <a:t>Modele eval</a:t>
            </a:r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32E8C4CE-1FFF-ABE7-A324-4562E43B1A23}"/>
              </a:ext>
            </a:extLst>
          </p:cNvPr>
          <p:cNvSpPr txBox="1"/>
          <p:nvPr/>
        </p:nvSpPr>
        <p:spPr>
          <a:xfrm>
            <a:off x="5330952" y="3268824"/>
            <a:ext cx="1554480" cy="43922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fr-FR" sz="1427" dirty="0" err="1">
                <a:solidFill>
                  <a:srgbClr val="424E5A"/>
                </a:solidFill>
                <a:latin typeface="Aptos" panose="020B0004020202020204" pitchFamily="34" charset="0"/>
              </a:rPr>
              <a:t>forward</a:t>
            </a:r>
            <a:r>
              <a:rPr lang="fr-FR" sz="1427" dirty="0">
                <a:solidFill>
                  <a:srgbClr val="424E5A"/>
                </a:solidFill>
                <a:latin typeface="Aptos" panose="020B0004020202020204" pitchFamily="34" charset="0"/>
              </a:rPr>
              <a:t> sans</a:t>
            </a:r>
          </a:p>
          <a:p>
            <a:pPr algn="ctr"/>
            <a:r>
              <a:rPr lang="fr-FR" sz="1427" dirty="0">
                <a:solidFill>
                  <a:srgbClr val="424E5A"/>
                </a:solidFill>
                <a:latin typeface="Aptos" panose="020B0004020202020204" pitchFamily="34" charset="0"/>
              </a:rPr>
              <a:t>gradient</a:t>
            </a:r>
          </a:p>
        </p:txBody>
      </p:sp>
      <p:sp>
        <p:nvSpPr>
          <p:cNvPr id="20" name="Rectangle : coins arrondis 19">
            <a:extLst>
              <a:ext uri="{FF2B5EF4-FFF2-40B4-BE49-F238E27FC236}">
                <a16:creationId xmlns:a16="http://schemas.microsoft.com/office/drawing/2014/main" id="{82E87039-1132-9F4A-B662-583DD2ED28A9}"/>
              </a:ext>
            </a:extLst>
          </p:cNvPr>
          <p:cNvSpPr/>
          <p:nvPr/>
        </p:nvSpPr>
        <p:spPr>
          <a:xfrm>
            <a:off x="7507224" y="1828800"/>
            <a:ext cx="1828800" cy="1938528"/>
          </a:xfrm>
          <a:prstGeom prst="roundRect">
            <a:avLst/>
          </a:prstGeom>
          <a:solidFill>
            <a:srgbClr val="F8FAFC"/>
          </a:solidFill>
          <a:ln w="10160">
            <a:solidFill>
              <a:srgbClr val="EFF3F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21" name="Rectangle 20">
            <a:extLst>
              <a:ext uri="{FF2B5EF4-FFF2-40B4-BE49-F238E27FC236}">
                <a16:creationId xmlns:a16="http://schemas.microsoft.com/office/drawing/2014/main" id="{9722637B-19C1-4AF8-DB94-282F0367916F}"/>
              </a:ext>
            </a:extLst>
          </p:cNvPr>
          <p:cNvSpPr/>
          <p:nvPr/>
        </p:nvSpPr>
        <p:spPr>
          <a:xfrm>
            <a:off x="7507224" y="1828799"/>
            <a:ext cx="1828800" cy="118872"/>
          </a:xfrm>
          <a:prstGeom prst="rect">
            <a:avLst/>
          </a:prstGeom>
          <a:solidFill>
            <a:srgbClr val="2CB26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22" name="ZoneTexte 21">
            <a:extLst>
              <a:ext uri="{FF2B5EF4-FFF2-40B4-BE49-F238E27FC236}">
                <a16:creationId xmlns:a16="http://schemas.microsoft.com/office/drawing/2014/main" id="{773F68CB-46EC-FA5F-9EC2-9FE3D9FC06DB}"/>
              </a:ext>
            </a:extLst>
          </p:cNvPr>
          <p:cNvSpPr txBox="1"/>
          <p:nvPr/>
        </p:nvSpPr>
        <p:spPr>
          <a:xfrm>
            <a:off x="7644384" y="2249424"/>
            <a:ext cx="155448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fr-FR" sz="2400" b="1">
                <a:solidFill>
                  <a:srgbClr val="1B2631"/>
                </a:solidFill>
                <a:latin typeface="Aptos" panose="020B0004020202020204" pitchFamily="34" charset="0"/>
              </a:rPr>
              <a:t>Softmax</a:t>
            </a:r>
          </a:p>
        </p:txBody>
      </p:sp>
      <p:sp>
        <p:nvSpPr>
          <p:cNvPr id="23" name="ZoneTexte 22">
            <a:extLst>
              <a:ext uri="{FF2B5EF4-FFF2-40B4-BE49-F238E27FC236}">
                <a16:creationId xmlns:a16="http://schemas.microsoft.com/office/drawing/2014/main" id="{9A57A891-597C-0CFB-1336-066E85623C88}"/>
              </a:ext>
            </a:extLst>
          </p:cNvPr>
          <p:cNvSpPr txBox="1"/>
          <p:nvPr/>
        </p:nvSpPr>
        <p:spPr>
          <a:xfrm>
            <a:off x="7644384" y="2697481"/>
            <a:ext cx="1554480" cy="43922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fr-FR" sz="1427">
                <a:solidFill>
                  <a:srgbClr val="424E5A"/>
                </a:solidFill>
                <a:latin typeface="Aptos" panose="020B0004020202020204" pitchFamily="34" charset="0"/>
              </a:rPr>
              <a:t>probabilites</a:t>
            </a:r>
          </a:p>
          <a:p>
            <a:pPr algn="ctr"/>
            <a:r>
              <a:rPr lang="fr-FR" sz="1427">
                <a:solidFill>
                  <a:srgbClr val="424E5A"/>
                </a:solidFill>
                <a:latin typeface="Aptos" panose="020B0004020202020204" pitchFamily="34" charset="0"/>
              </a:rPr>
              <a:t>par classe</a:t>
            </a:r>
          </a:p>
        </p:txBody>
      </p:sp>
      <p:sp>
        <p:nvSpPr>
          <p:cNvPr id="24" name="Rectangle : coins arrondis 23">
            <a:extLst>
              <a:ext uri="{FF2B5EF4-FFF2-40B4-BE49-F238E27FC236}">
                <a16:creationId xmlns:a16="http://schemas.microsoft.com/office/drawing/2014/main" id="{CF49BF69-5216-72AD-C715-E2EFEB98224E}"/>
              </a:ext>
            </a:extLst>
          </p:cNvPr>
          <p:cNvSpPr/>
          <p:nvPr/>
        </p:nvSpPr>
        <p:spPr>
          <a:xfrm>
            <a:off x="9820656" y="1828800"/>
            <a:ext cx="1828800" cy="1938528"/>
          </a:xfrm>
          <a:prstGeom prst="roundRect">
            <a:avLst/>
          </a:prstGeom>
          <a:solidFill>
            <a:srgbClr val="F8FAFC"/>
          </a:solidFill>
          <a:ln w="10160">
            <a:solidFill>
              <a:srgbClr val="EFF3F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25" name="Rectangle 24">
            <a:extLst>
              <a:ext uri="{FF2B5EF4-FFF2-40B4-BE49-F238E27FC236}">
                <a16:creationId xmlns:a16="http://schemas.microsoft.com/office/drawing/2014/main" id="{9930C9C9-5617-3CD0-D904-B3090F145583}"/>
              </a:ext>
            </a:extLst>
          </p:cNvPr>
          <p:cNvSpPr/>
          <p:nvPr/>
        </p:nvSpPr>
        <p:spPr>
          <a:xfrm>
            <a:off x="9820656" y="1828799"/>
            <a:ext cx="1828800" cy="118872"/>
          </a:xfrm>
          <a:prstGeom prst="rect">
            <a:avLst/>
          </a:prstGeom>
          <a:solidFill>
            <a:srgbClr val="E74C3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26" name="ZoneTexte 25">
            <a:extLst>
              <a:ext uri="{FF2B5EF4-FFF2-40B4-BE49-F238E27FC236}">
                <a16:creationId xmlns:a16="http://schemas.microsoft.com/office/drawing/2014/main" id="{951D8533-259D-092C-16F4-F8B4D6E3819D}"/>
              </a:ext>
            </a:extLst>
          </p:cNvPr>
          <p:cNvSpPr txBox="1"/>
          <p:nvPr/>
        </p:nvSpPr>
        <p:spPr>
          <a:xfrm>
            <a:off x="9957816" y="2249424"/>
            <a:ext cx="155448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fr-FR" sz="2400" b="1">
                <a:solidFill>
                  <a:srgbClr val="1B2631"/>
                </a:solidFill>
                <a:latin typeface="Aptos" panose="020B0004020202020204" pitchFamily="34" charset="0"/>
              </a:rPr>
              <a:t>Decision</a:t>
            </a:r>
          </a:p>
        </p:txBody>
      </p:sp>
      <p:sp>
        <p:nvSpPr>
          <p:cNvPr id="27" name="ZoneTexte 26">
            <a:extLst>
              <a:ext uri="{FF2B5EF4-FFF2-40B4-BE49-F238E27FC236}">
                <a16:creationId xmlns:a16="http://schemas.microsoft.com/office/drawing/2014/main" id="{CCD456B7-6395-7A28-DAD5-B5D0FFD726DC}"/>
              </a:ext>
            </a:extLst>
          </p:cNvPr>
          <p:cNvSpPr txBox="1"/>
          <p:nvPr/>
        </p:nvSpPr>
        <p:spPr>
          <a:xfrm>
            <a:off x="9957816" y="2697481"/>
            <a:ext cx="1554480" cy="43922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fr-FR" sz="1427">
                <a:solidFill>
                  <a:srgbClr val="424E5A"/>
                </a:solidFill>
                <a:latin typeface="Aptos" panose="020B0004020202020204" pitchFamily="34" charset="0"/>
              </a:rPr>
              <a:t>argmax -&gt; action</a:t>
            </a:r>
          </a:p>
          <a:p>
            <a:pPr algn="ctr"/>
            <a:r>
              <a:rPr lang="fr-FR" sz="1427">
                <a:solidFill>
                  <a:srgbClr val="424E5A"/>
                </a:solidFill>
                <a:latin typeface="Aptos" panose="020B0004020202020204" pitchFamily="34" charset="0"/>
              </a:rPr>
              <a:t>+ confiance</a:t>
            </a:r>
          </a:p>
        </p:txBody>
      </p:sp>
      <p:sp>
        <p:nvSpPr>
          <p:cNvPr id="28" name="Flèche : droite 27">
            <a:extLst>
              <a:ext uri="{FF2B5EF4-FFF2-40B4-BE49-F238E27FC236}">
                <a16:creationId xmlns:a16="http://schemas.microsoft.com/office/drawing/2014/main" id="{F30B9F15-FA1D-BC9C-01AB-82DA22F997AA}"/>
              </a:ext>
            </a:extLst>
          </p:cNvPr>
          <p:cNvSpPr/>
          <p:nvPr/>
        </p:nvSpPr>
        <p:spPr>
          <a:xfrm>
            <a:off x="2542032" y="2688336"/>
            <a:ext cx="292608" cy="274320"/>
          </a:xfrm>
          <a:prstGeom prst="rightArrow">
            <a:avLst/>
          </a:prstGeom>
          <a:solidFill>
            <a:srgbClr val="4CB8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29" name="Flèche : droite 28">
            <a:extLst>
              <a:ext uri="{FF2B5EF4-FFF2-40B4-BE49-F238E27FC236}">
                <a16:creationId xmlns:a16="http://schemas.microsoft.com/office/drawing/2014/main" id="{F5ED7C84-307C-86CC-CCD2-5263F569F30E}"/>
              </a:ext>
            </a:extLst>
          </p:cNvPr>
          <p:cNvSpPr/>
          <p:nvPr/>
        </p:nvSpPr>
        <p:spPr>
          <a:xfrm>
            <a:off x="4855464" y="2688336"/>
            <a:ext cx="292608" cy="274320"/>
          </a:xfrm>
          <a:prstGeom prst="rightArrow">
            <a:avLst/>
          </a:prstGeom>
          <a:solidFill>
            <a:srgbClr val="4CB8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30" name="Flèche : droite 29">
            <a:extLst>
              <a:ext uri="{FF2B5EF4-FFF2-40B4-BE49-F238E27FC236}">
                <a16:creationId xmlns:a16="http://schemas.microsoft.com/office/drawing/2014/main" id="{5544F053-C719-8375-1CDF-3DBBECA84E9A}"/>
              </a:ext>
            </a:extLst>
          </p:cNvPr>
          <p:cNvSpPr/>
          <p:nvPr/>
        </p:nvSpPr>
        <p:spPr>
          <a:xfrm>
            <a:off x="7168896" y="2688336"/>
            <a:ext cx="292608" cy="274320"/>
          </a:xfrm>
          <a:prstGeom prst="rightArrow">
            <a:avLst/>
          </a:prstGeom>
          <a:solidFill>
            <a:srgbClr val="4CB8E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31" name="Rectangle : coins arrondis 30">
            <a:extLst>
              <a:ext uri="{FF2B5EF4-FFF2-40B4-BE49-F238E27FC236}">
                <a16:creationId xmlns:a16="http://schemas.microsoft.com/office/drawing/2014/main" id="{200FADB7-65A2-B871-2371-80F07573C3C4}"/>
              </a:ext>
            </a:extLst>
          </p:cNvPr>
          <p:cNvSpPr/>
          <p:nvPr/>
        </p:nvSpPr>
        <p:spPr>
          <a:xfrm>
            <a:off x="777239" y="4480559"/>
            <a:ext cx="5623560" cy="777240"/>
          </a:xfrm>
          <a:prstGeom prst="roundRect">
            <a:avLst/>
          </a:prstGeom>
          <a:solidFill>
            <a:srgbClr val="E5F2FB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32" name="ZoneTexte 31">
            <a:extLst>
              <a:ext uri="{FF2B5EF4-FFF2-40B4-BE49-F238E27FC236}">
                <a16:creationId xmlns:a16="http://schemas.microsoft.com/office/drawing/2014/main" id="{4EBA6A71-E1B5-A438-EEAA-0345BFB9887A}"/>
              </a:ext>
            </a:extLst>
          </p:cNvPr>
          <p:cNvSpPr txBox="1"/>
          <p:nvPr/>
        </p:nvSpPr>
        <p:spPr>
          <a:xfrm>
            <a:off x="1024128" y="4736593"/>
            <a:ext cx="5138928" cy="48013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fr-FR" sz="1560" b="1">
                <a:solidFill>
                  <a:srgbClr val="0B1F3A"/>
                </a:solidFill>
                <a:latin typeface="Aptos" panose="020B0004020202020204" pitchFamily="34" charset="0"/>
              </a:rPr>
              <a:t>Commande : python predict_action.py image.png --model-path MULTITASK_DRIVING_CNN.pth</a:t>
            </a:r>
          </a:p>
        </p:txBody>
      </p:sp>
      <p:sp>
        <p:nvSpPr>
          <p:cNvPr id="33" name="Rectangle : coins arrondis 32">
            <a:extLst>
              <a:ext uri="{FF2B5EF4-FFF2-40B4-BE49-F238E27FC236}">
                <a16:creationId xmlns:a16="http://schemas.microsoft.com/office/drawing/2014/main" id="{E85E4B1B-C4A8-62FE-B799-E9C25040CD02}"/>
              </a:ext>
            </a:extLst>
          </p:cNvPr>
          <p:cNvSpPr/>
          <p:nvPr/>
        </p:nvSpPr>
        <p:spPr>
          <a:xfrm>
            <a:off x="6693407" y="4480559"/>
            <a:ext cx="4709160" cy="777240"/>
          </a:xfrm>
          <a:prstGeom prst="roundRect">
            <a:avLst/>
          </a:prstGeom>
          <a:solidFill>
            <a:srgbClr val="E2F7F4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34" name="ZoneTexte 33">
            <a:extLst>
              <a:ext uri="{FF2B5EF4-FFF2-40B4-BE49-F238E27FC236}">
                <a16:creationId xmlns:a16="http://schemas.microsoft.com/office/drawing/2014/main" id="{D52CACE4-0653-9D20-A8B1-ED377D85A95E}"/>
              </a:ext>
            </a:extLst>
          </p:cNvPr>
          <p:cNvSpPr txBox="1"/>
          <p:nvPr/>
        </p:nvSpPr>
        <p:spPr>
          <a:xfrm>
            <a:off x="6931152" y="4736593"/>
            <a:ext cx="4224528" cy="48013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en-US" sz="1560" b="1">
                <a:solidFill>
                  <a:srgbClr val="0B1F3A"/>
                </a:solidFill>
                <a:latin typeface="Aptos" panose="020B0004020202020204" pitchFamily="34" charset="0"/>
              </a:rPr>
              <a:t>Sortie attendue : Predicted action: left | Confidence: 87.42 %</a:t>
            </a:r>
            <a:endParaRPr lang="fr-FR" sz="1560" b="1">
              <a:solidFill>
                <a:srgbClr val="0B1F3A"/>
              </a:solidFill>
              <a:latin typeface="Aptos" panose="020B0004020202020204" pitchFamily="34" charset="0"/>
            </a:endParaRPr>
          </a:p>
        </p:txBody>
      </p:sp>
      <p:sp>
        <p:nvSpPr>
          <p:cNvPr id="35" name="ZoneTexte 34">
            <a:extLst>
              <a:ext uri="{FF2B5EF4-FFF2-40B4-BE49-F238E27FC236}">
                <a16:creationId xmlns:a16="http://schemas.microsoft.com/office/drawing/2014/main" id="{7A3928FE-AEEB-23D2-9A5E-4ACDC4BAAD63}"/>
              </a:ext>
            </a:extLst>
          </p:cNvPr>
          <p:cNvSpPr txBox="1"/>
          <p:nvPr/>
        </p:nvSpPr>
        <p:spPr>
          <a:xfrm>
            <a:off x="685800" y="5833873"/>
            <a:ext cx="10881360" cy="23192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fr-FR" sz="1507" b="1">
                <a:solidFill>
                  <a:srgbClr val="E74C3C"/>
                </a:solidFill>
                <a:latin typeface="Aptos" panose="020B0004020202020204" pitchFamily="34" charset="0"/>
              </a:rPr>
              <a:t>Point technique actuel : le modele multi-tache retourne un dictionnaire ; il faut extraire outputs["logits"] avant softmax.</a:t>
            </a:r>
          </a:p>
        </p:txBody>
      </p:sp>
    </p:spTree>
    <p:extLst>
      <p:ext uri="{BB962C8B-B14F-4D97-AF65-F5344CB8AC3E}">
        <p14:creationId xmlns:p14="http://schemas.microsoft.com/office/powerpoint/2010/main" val="2406397242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B4BEAC12-3346-71D2-96C9-B869A3165832}"/>
              </a:ext>
            </a:extLst>
          </p:cNvPr>
          <p:cNvSpPr/>
          <p:nvPr/>
        </p:nvSpPr>
        <p:spPr>
          <a:xfrm>
            <a:off x="-1" y="0"/>
            <a:ext cx="12191688" cy="6858000"/>
          </a:xfrm>
          <a:prstGeom prst="rect">
            <a:avLst/>
          </a:prstGeom>
          <a:solidFill>
            <a:srgbClr val="F8FA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FAEDA6C9-21FC-739F-7E8F-34252AB97686}"/>
              </a:ext>
            </a:extLst>
          </p:cNvPr>
          <p:cNvSpPr/>
          <p:nvPr/>
        </p:nvSpPr>
        <p:spPr>
          <a:xfrm>
            <a:off x="-1" y="-1"/>
            <a:ext cx="12191688" cy="118872"/>
          </a:xfrm>
          <a:prstGeom prst="rect">
            <a:avLst/>
          </a:prstGeom>
          <a:solidFill>
            <a:srgbClr val="00B7A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9ACB1E3B-AF8B-E3E3-4917-109BC56905EF}"/>
              </a:ext>
            </a:extLst>
          </p:cNvPr>
          <p:cNvSpPr txBox="1"/>
          <p:nvPr/>
        </p:nvSpPr>
        <p:spPr>
          <a:xfrm>
            <a:off x="548640" y="347473"/>
            <a:ext cx="10698480" cy="51289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fr-FR" sz="3333" b="1">
                <a:solidFill>
                  <a:srgbClr val="0B1F3A"/>
                </a:solidFill>
                <a:latin typeface="Aptos" panose="020B0004020202020204" pitchFamily="34" charset="0"/>
              </a:rPr>
              <a:t>Acquis, limites et perspectives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5D4F777D-18E8-9075-B0F4-718F4601B1ED}"/>
              </a:ext>
            </a:extLst>
          </p:cNvPr>
          <p:cNvSpPr txBox="1"/>
          <p:nvPr/>
        </p:nvSpPr>
        <p:spPr>
          <a:xfrm>
            <a:off x="548640" y="6501385"/>
            <a:ext cx="4297680" cy="1743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fr-FR" sz="1133">
                <a:solidFill>
                  <a:srgbClr val="5F7387"/>
                </a:solidFill>
                <a:latin typeface="Aptos" panose="020B0004020202020204" pitchFamily="34" charset="0"/>
              </a:rPr>
              <a:t>AUTONOMOUS DRIVING CAR  |  SOUTENANCE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8C6DAA10-E399-602A-590C-0A4DF5BD0773}"/>
              </a:ext>
            </a:extLst>
          </p:cNvPr>
          <p:cNvSpPr txBox="1"/>
          <p:nvPr/>
        </p:nvSpPr>
        <p:spPr>
          <a:xfrm>
            <a:off x="11109959" y="6501385"/>
            <a:ext cx="502920" cy="1743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fr-FR" sz="1133">
                <a:solidFill>
                  <a:srgbClr val="5F7387"/>
                </a:solidFill>
                <a:latin typeface="Aptos" panose="020B0004020202020204" pitchFamily="34" charset="0"/>
              </a:rPr>
              <a:t>9 / 10</a:t>
            </a:r>
          </a:p>
        </p:txBody>
      </p:sp>
      <p:sp>
        <p:nvSpPr>
          <p:cNvPr id="7" name="Rectangle : coins arrondis 6">
            <a:extLst>
              <a:ext uri="{FF2B5EF4-FFF2-40B4-BE49-F238E27FC236}">
                <a16:creationId xmlns:a16="http://schemas.microsoft.com/office/drawing/2014/main" id="{4777EE67-D3CA-E1D1-7D87-9EF5AF65160E}"/>
              </a:ext>
            </a:extLst>
          </p:cNvPr>
          <p:cNvSpPr/>
          <p:nvPr/>
        </p:nvSpPr>
        <p:spPr>
          <a:xfrm>
            <a:off x="640080" y="1417319"/>
            <a:ext cx="3566160" cy="4069080"/>
          </a:xfrm>
          <a:prstGeom prst="roundRect">
            <a:avLst/>
          </a:prstGeom>
          <a:solidFill>
            <a:srgbClr val="F8FAFC"/>
          </a:solidFill>
          <a:ln w="10160">
            <a:solidFill>
              <a:srgbClr val="EFF3F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E63B17BF-8830-153D-B5A8-60FB3A3AEEE6}"/>
              </a:ext>
            </a:extLst>
          </p:cNvPr>
          <p:cNvSpPr/>
          <p:nvPr/>
        </p:nvSpPr>
        <p:spPr>
          <a:xfrm>
            <a:off x="640079" y="1417319"/>
            <a:ext cx="82296" cy="4069080"/>
          </a:xfrm>
          <a:prstGeom prst="rect">
            <a:avLst/>
          </a:prstGeom>
          <a:solidFill>
            <a:srgbClr val="2CB26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8FF0EE0A-0827-CE03-1139-22C7A9880984}"/>
              </a:ext>
            </a:extLst>
          </p:cNvPr>
          <p:cNvSpPr txBox="1"/>
          <p:nvPr/>
        </p:nvSpPr>
        <p:spPr>
          <a:xfrm>
            <a:off x="868679" y="1600201"/>
            <a:ext cx="3154680" cy="34887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fr-FR" sz="2267" b="1">
                <a:solidFill>
                  <a:srgbClr val="1B2631"/>
                </a:solidFill>
                <a:latin typeface="Aptos" panose="020B0004020202020204" pitchFamily="34" charset="0"/>
              </a:rPr>
              <a:t>Ce qui est en place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474FF0E5-0AB1-D47F-A3B2-D427332432BA}"/>
              </a:ext>
            </a:extLst>
          </p:cNvPr>
          <p:cNvSpPr txBox="1"/>
          <p:nvPr/>
        </p:nvSpPr>
        <p:spPr>
          <a:xfrm>
            <a:off x="868679" y="2039113"/>
            <a:ext cx="3154680" cy="141538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fr-FR" sz="1533">
                <a:solidFill>
                  <a:srgbClr val="424E5A"/>
                </a:solidFill>
                <a:latin typeface="Aptos" panose="020B0004020202020204" pitchFamily="34" charset="0"/>
              </a:rPr>
              <a:t>- Pipeline de donnees reutilisable</a:t>
            </a:r>
          </a:p>
          <a:p>
            <a:r>
              <a:rPr lang="fr-FR" sz="1533">
                <a:solidFill>
                  <a:srgbClr val="424E5A"/>
                </a:solidFill>
                <a:latin typeface="Aptos" panose="020B0004020202020204" pitchFamily="34" charset="0"/>
              </a:rPr>
              <a:t>- Dataset train / valid / test</a:t>
            </a:r>
          </a:p>
          <a:p>
            <a:r>
              <a:rPr lang="fr-FR" sz="1533">
                <a:solidFill>
                  <a:srgbClr val="424E5A"/>
                </a:solidFill>
                <a:latin typeface="Aptos" panose="020B0004020202020204" pitchFamily="34" charset="0"/>
              </a:rPr>
              <a:t>- CNN et transformations image</a:t>
            </a:r>
          </a:p>
          <a:p>
            <a:r>
              <a:rPr lang="fr-FR" sz="1533">
                <a:solidFill>
                  <a:srgbClr val="424E5A"/>
                </a:solidFill>
                <a:latin typeface="Aptos" panose="020B0004020202020204" pitchFamily="34" charset="0"/>
              </a:rPr>
              <a:t>- Validation par classe</a:t>
            </a:r>
          </a:p>
          <a:p>
            <a:r>
              <a:rPr lang="fr-FR" sz="1533">
                <a:solidFill>
                  <a:srgbClr val="424E5A"/>
                </a:solidFill>
                <a:latin typeface="Aptos" panose="020B0004020202020204" pitchFamily="34" charset="0"/>
              </a:rPr>
              <a:t>- Tests unitaires ciblant la logique metier</a:t>
            </a:r>
          </a:p>
        </p:txBody>
      </p:sp>
      <p:sp>
        <p:nvSpPr>
          <p:cNvPr id="11" name="Rectangle : coins arrondis 10">
            <a:extLst>
              <a:ext uri="{FF2B5EF4-FFF2-40B4-BE49-F238E27FC236}">
                <a16:creationId xmlns:a16="http://schemas.microsoft.com/office/drawing/2014/main" id="{E9FA1C7C-CE88-9976-335E-127BA8B80DBC}"/>
              </a:ext>
            </a:extLst>
          </p:cNvPr>
          <p:cNvSpPr/>
          <p:nvPr/>
        </p:nvSpPr>
        <p:spPr>
          <a:xfrm>
            <a:off x="4315968" y="1417319"/>
            <a:ext cx="3566160" cy="4069080"/>
          </a:xfrm>
          <a:prstGeom prst="roundRect">
            <a:avLst/>
          </a:prstGeom>
          <a:solidFill>
            <a:srgbClr val="F8FAFC"/>
          </a:solidFill>
          <a:ln w="10160">
            <a:solidFill>
              <a:srgbClr val="EFF3F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2" name="Rectangle 11">
            <a:extLst>
              <a:ext uri="{FF2B5EF4-FFF2-40B4-BE49-F238E27FC236}">
                <a16:creationId xmlns:a16="http://schemas.microsoft.com/office/drawing/2014/main" id="{B95FFCEF-37C8-EB6F-B298-62E164408EC5}"/>
              </a:ext>
            </a:extLst>
          </p:cNvPr>
          <p:cNvSpPr/>
          <p:nvPr/>
        </p:nvSpPr>
        <p:spPr>
          <a:xfrm>
            <a:off x="4315967" y="1417319"/>
            <a:ext cx="82296" cy="4069080"/>
          </a:xfrm>
          <a:prstGeom prst="rect">
            <a:avLst/>
          </a:prstGeom>
          <a:solidFill>
            <a:srgbClr val="E74C3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6DD11E19-B79F-2DEF-9A27-FC1292BEACD3}"/>
              </a:ext>
            </a:extLst>
          </p:cNvPr>
          <p:cNvSpPr txBox="1"/>
          <p:nvPr/>
        </p:nvSpPr>
        <p:spPr>
          <a:xfrm>
            <a:off x="4544567" y="1600200"/>
            <a:ext cx="3154680" cy="34887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fr-FR" sz="2267" b="1">
                <a:solidFill>
                  <a:srgbClr val="1B2631"/>
                </a:solidFill>
                <a:latin typeface="Aptos" panose="020B0004020202020204" pitchFamily="34" charset="0"/>
              </a:rPr>
              <a:t>Limites actuelles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A9909DDF-AA55-CD31-1733-F64DC56C021C}"/>
              </a:ext>
            </a:extLst>
          </p:cNvPr>
          <p:cNvSpPr txBox="1"/>
          <p:nvPr/>
        </p:nvSpPr>
        <p:spPr>
          <a:xfrm>
            <a:off x="4544567" y="2039113"/>
            <a:ext cx="3154680" cy="18871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fr-FR" sz="1533">
                <a:solidFill>
                  <a:srgbClr val="424E5A"/>
                </a:solidFill>
                <a:latin typeface="Aptos" panose="020B0004020202020204" pitchFamily="34" charset="0"/>
              </a:rPr>
              <a:t>- Pas de resultats chiffres affiches ici sans execution</a:t>
            </a:r>
          </a:p>
          <a:p>
            <a:r>
              <a:rPr lang="fr-FR" sz="1533">
                <a:solidFill>
                  <a:srgbClr val="424E5A"/>
                </a:solidFill>
                <a:latin typeface="Aptos" panose="020B0004020202020204" pitchFamily="34" charset="0"/>
              </a:rPr>
              <a:t>- Tete de regression non supervisee</a:t>
            </a:r>
          </a:p>
          <a:p>
            <a:r>
              <a:rPr lang="fr-FR" sz="1533">
                <a:solidFill>
                  <a:srgbClr val="424E5A"/>
                </a:solidFill>
                <a:latin typeface="Aptos" panose="020B0004020202020204" pitchFamily="34" charset="0"/>
              </a:rPr>
              <a:t>- Inference multi-tache a finaliser</a:t>
            </a:r>
          </a:p>
          <a:p>
            <a:r>
              <a:rPr lang="fr-FR" sz="1533">
                <a:solidFill>
                  <a:srgbClr val="424E5A"/>
                </a:solidFill>
                <a:latin typeface="Aptos" panose="020B0004020202020204" pitchFamily="34" charset="0"/>
              </a:rPr>
              <a:t>- Pas de boucle camera / moteurs temps reel</a:t>
            </a:r>
          </a:p>
          <a:p>
            <a:r>
              <a:rPr lang="fr-FR" sz="1533">
                <a:solidFill>
                  <a:srgbClr val="424E5A"/>
                </a:solidFill>
                <a:latin typeface="Aptos" panose="020B0004020202020204" pitchFamily="34" charset="0"/>
              </a:rPr>
              <a:t>- Confiance non calibree pour la securite</a:t>
            </a:r>
          </a:p>
        </p:txBody>
      </p:sp>
      <p:sp>
        <p:nvSpPr>
          <p:cNvPr id="15" name="Rectangle : coins arrondis 14">
            <a:extLst>
              <a:ext uri="{FF2B5EF4-FFF2-40B4-BE49-F238E27FC236}">
                <a16:creationId xmlns:a16="http://schemas.microsoft.com/office/drawing/2014/main" id="{5047D4DC-3EFC-AC01-452D-D1CD7D409F00}"/>
              </a:ext>
            </a:extLst>
          </p:cNvPr>
          <p:cNvSpPr/>
          <p:nvPr/>
        </p:nvSpPr>
        <p:spPr>
          <a:xfrm>
            <a:off x="7991856" y="1417319"/>
            <a:ext cx="3566160" cy="4069080"/>
          </a:xfrm>
          <a:prstGeom prst="roundRect">
            <a:avLst/>
          </a:prstGeom>
          <a:solidFill>
            <a:srgbClr val="F8FAFC"/>
          </a:solidFill>
          <a:ln w="10160">
            <a:solidFill>
              <a:srgbClr val="EFF3F7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B5DB8A77-B891-D524-CB59-EBF7339678AD}"/>
              </a:ext>
            </a:extLst>
          </p:cNvPr>
          <p:cNvSpPr/>
          <p:nvPr/>
        </p:nvSpPr>
        <p:spPr>
          <a:xfrm>
            <a:off x="7991855" y="1417319"/>
            <a:ext cx="82296" cy="4069080"/>
          </a:xfrm>
          <a:prstGeom prst="rect">
            <a:avLst/>
          </a:prstGeom>
          <a:solidFill>
            <a:srgbClr val="2980B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5B5032B1-9B35-9F36-78FE-5C1BFECEA471}"/>
              </a:ext>
            </a:extLst>
          </p:cNvPr>
          <p:cNvSpPr txBox="1"/>
          <p:nvPr/>
        </p:nvSpPr>
        <p:spPr>
          <a:xfrm>
            <a:off x="8220455" y="1600201"/>
            <a:ext cx="3154680" cy="348878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fr-FR" sz="2267" b="1">
                <a:solidFill>
                  <a:srgbClr val="1B2631"/>
                </a:solidFill>
                <a:latin typeface="Aptos" panose="020B0004020202020204" pitchFamily="34" charset="0"/>
              </a:rPr>
              <a:t>Prochaines etapes</a:t>
            </a: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E9E93605-7DC6-EB13-A9A2-F6BF01F85C7A}"/>
              </a:ext>
            </a:extLst>
          </p:cNvPr>
          <p:cNvSpPr txBox="1"/>
          <p:nvPr/>
        </p:nvSpPr>
        <p:spPr>
          <a:xfrm>
            <a:off x="8220455" y="2039112"/>
            <a:ext cx="3154680" cy="188718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fr-FR" sz="1533">
                <a:solidFill>
                  <a:srgbClr val="424E5A"/>
                </a:solidFill>
                <a:latin typeface="Aptos" panose="020B0004020202020204" pitchFamily="34" charset="0"/>
              </a:rPr>
              <a:t>- Ajouter une loss de regression moteur</a:t>
            </a:r>
          </a:p>
          <a:p>
            <a:r>
              <a:rPr lang="fr-FR" sz="1533">
                <a:solidFill>
                  <a:srgbClr val="424E5A"/>
                </a:solidFill>
                <a:latin typeface="Aptos" panose="020B0004020202020204" pitchFamily="34" charset="0"/>
              </a:rPr>
              <a:t>- Corriger et tester predict_action.py</a:t>
            </a:r>
          </a:p>
          <a:p>
            <a:r>
              <a:rPr lang="fr-FR" sz="1533">
                <a:solidFill>
                  <a:srgbClr val="424E5A"/>
                </a:solidFill>
                <a:latin typeface="Aptos" panose="020B0004020202020204" pitchFamily="34" charset="0"/>
              </a:rPr>
              <a:t>- Mesurer les resultats sur nouvelles scenes</a:t>
            </a:r>
          </a:p>
          <a:p>
            <a:r>
              <a:rPr lang="fr-FR" sz="1533">
                <a:solidFill>
                  <a:srgbClr val="424E5A"/>
                </a:solidFill>
                <a:latin typeface="Aptos" panose="020B0004020202020204" pitchFamily="34" charset="0"/>
              </a:rPr>
              <a:t>- Calibrer la confiance</a:t>
            </a:r>
          </a:p>
          <a:p>
            <a:r>
              <a:rPr lang="fr-FR" sz="1533">
                <a:solidFill>
                  <a:srgbClr val="424E5A"/>
                </a:solidFill>
                <a:latin typeface="Aptos" panose="020B0004020202020204" pitchFamily="34" charset="0"/>
              </a:rPr>
              <a:t>- Valider en conditions reelles avec garde-fous</a:t>
            </a:r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015E4BD9-A533-9BD3-B40F-99C112BB5238}"/>
              </a:ext>
            </a:extLst>
          </p:cNvPr>
          <p:cNvSpPr txBox="1"/>
          <p:nvPr/>
        </p:nvSpPr>
        <p:spPr>
          <a:xfrm>
            <a:off x="777239" y="5870449"/>
            <a:ext cx="10652760" cy="48410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fr-FR" sz="1573" b="1">
                <a:solidFill>
                  <a:srgbClr val="0B1F3A"/>
                </a:solidFill>
                <a:latin typeface="Aptos" panose="020B0004020202020204" pitchFamily="34" charset="0"/>
              </a:rPr>
              <a:t>La suite logique : passer d'un classifieur d'images a une chaine de decision evaluee dans des scenarios de conduite representatifs.</a:t>
            </a:r>
          </a:p>
        </p:txBody>
      </p:sp>
    </p:spTree>
    <p:extLst>
      <p:ext uri="{BB962C8B-B14F-4D97-AF65-F5344CB8AC3E}">
        <p14:creationId xmlns:p14="http://schemas.microsoft.com/office/powerpoint/2010/main" val="330333489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>
            <a:extLst>
              <a:ext uri="{FF2B5EF4-FFF2-40B4-BE49-F238E27FC236}">
                <a16:creationId xmlns:a16="http://schemas.microsoft.com/office/drawing/2014/main" id="{1D57429A-CAAD-E8A3-EFD3-8DE3AF3DF452}"/>
              </a:ext>
            </a:extLst>
          </p:cNvPr>
          <p:cNvSpPr/>
          <p:nvPr/>
        </p:nvSpPr>
        <p:spPr>
          <a:xfrm>
            <a:off x="-1" y="0"/>
            <a:ext cx="12191688" cy="6858000"/>
          </a:xfrm>
          <a:prstGeom prst="rect">
            <a:avLst/>
          </a:prstGeom>
          <a:solidFill>
            <a:srgbClr val="F8FAFC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B11085B-3CCC-DCA1-3F34-9878F7B5A3D9}"/>
              </a:ext>
            </a:extLst>
          </p:cNvPr>
          <p:cNvSpPr/>
          <p:nvPr/>
        </p:nvSpPr>
        <p:spPr>
          <a:xfrm>
            <a:off x="-1" y="-1"/>
            <a:ext cx="12191688" cy="118872"/>
          </a:xfrm>
          <a:prstGeom prst="rect">
            <a:avLst/>
          </a:prstGeom>
          <a:solidFill>
            <a:srgbClr val="00B7A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4" name="ZoneTexte 3">
            <a:extLst>
              <a:ext uri="{FF2B5EF4-FFF2-40B4-BE49-F238E27FC236}">
                <a16:creationId xmlns:a16="http://schemas.microsoft.com/office/drawing/2014/main" id="{E2480AC9-026F-1000-B12F-85106A36D697}"/>
              </a:ext>
            </a:extLst>
          </p:cNvPr>
          <p:cNvSpPr txBox="1"/>
          <p:nvPr/>
        </p:nvSpPr>
        <p:spPr>
          <a:xfrm>
            <a:off x="548640" y="347473"/>
            <a:ext cx="10698480" cy="51289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fr-FR" sz="3333" b="1">
                <a:solidFill>
                  <a:srgbClr val="0B1F3A"/>
                </a:solidFill>
                <a:latin typeface="Aptos" panose="020B0004020202020204" pitchFamily="34" charset="0"/>
              </a:rPr>
              <a:t>Conclusion</a:t>
            </a:r>
          </a:p>
        </p:txBody>
      </p:sp>
      <p:sp>
        <p:nvSpPr>
          <p:cNvPr id="5" name="ZoneTexte 4">
            <a:extLst>
              <a:ext uri="{FF2B5EF4-FFF2-40B4-BE49-F238E27FC236}">
                <a16:creationId xmlns:a16="http://schemas.microsoft.com/office/drawing/2014/main" id="{987B714F-AE1E-0850-D872-5612B47FD0A3}"/>
              </a:ext>
            </a:extLst>
          </p:cNvPr>
          <p:cNvSpPr txBox="1"/>
          <p:nvPr/>
        </p:nvSpPr>
        <p:spPr>
          <a:xfrm>
            <a:off x="548640" y="6501385"/>
            <a:ext cx="4297680" cy="1743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fr-FR" sz="1133">
                <a:solidFill>
                  <a:srgbClr val="5F7387"/>
                </a:solidFill>
                <a:latin typeface="Aptos" panose="020B0004020202020204" pitchFamily="34" charset="0"/>
              </a:rPr>
              <a:t>AUTONOMOUS DRIVING CAR  |  SOUTENANCE</a:t>
            </a:r>
          </a:p>
        </p:txBody>
      </p:sp>
      <p:sp>
        <p:nvSpPr>
          <p:cNvPr id="6" name="ZoneTexte 5">
            <a:extLst>
              <a:ext uri="{FF2B5EF4-FFF2-40B4-BE49-F238E27FC236}">
                <a16:creationId xmlns:a16="http://schemas.microsoft.com/office/drawing/2014/main" id="{3318795D-A1D0-702D-6A07-E278306D8AB6}"/>
              </a:ext>
            </a:extLst>
          </p:cNvPr>
          <p:cNvSpPr txBox="1"/>
          <p:nvPr/>
        </p:nvSpPr>
        <p:spPr>
          <a:xfrm>
            <a:off x="11109959" y="6501385"/>
            <a:ext cx="502920" cy="174343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r"/>
            <a:r>
              <a:rPr lang="fr-FR" sz="1133">
                <a:solidFill>
                  <a:srgbClr val="5F7387"/>
                </a:solidFill>
                <a:latin typeface="Aptos" panose="020B0004020202020204" pitchFamily="34" charset="0"/>
              </a:rPr>
              <a:t>10 / 10</a:t>
            </a:r>
          </a:p>
        </p:txBody>
      </p:sp>
      <p:sp>
        <p:nvSpPr>
          <p:cNvPr id="7" name="ZoneTexte 6">
            <a:extLst>
              <a:ext uri="{FF2B5EF4-FFF2-40B4-BE49-F238E27FC236}">
                <a16:creationId xmlns:a16="http://schemas.microsoft.com/office/drawing/2014/main" id="{6EB3A311-4EF3-5028-CA03-4CF2329D0B2C}"/>
              </a:ext>
            </a:extLst>
          </p:cNvPr>
          <p:cNvSpPr txBox="1"/>
          <p:nvPr/>
        </p:nvSpPr>
        <p:spPr>
          <a:xfrm>
            <a:off x="685800" y="960120"/>
            <a:ext cx="10789920" cy="738664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fr-FR" sz="2400" b="1" dirty="0">
                <a:solidFill>
                  <a:srgbClr val="0B1F3A"/>
                </a:solidFill>
                <a:latin typeface="Aptos" panose="020B0004020202020204" pitchFamily="34" charset="0"/>
              </a:rPr>
              <a:t>Le projet établit une base complète et explicable pour relier vision, données de conduite et apprentissage profond.</a:t>
            </a:r>
          </a:p>
        </p:txBody>
      </p:sp>
      <p:sp>
        <p:nvSpPr>
          <p:cNvPr id="8" name="Ellipse 7">
            <a:extLst>
              <a:ext uri="{FF2B5EF4-FFF2-40B4-BE49-F238E27FC236}">
                <a16:creationId xmlns:a16="http://schemas.microsoft.com/office/drawing/2014/main" id="{E1592702-2059-4B6A-681C-8A216A0D3844}"/>
              </a:ext>
            </a:extLst>
          </p:cNvPr>
          <p:cNvSpPr/>
          <p:nvPr/>
        </p:nvSpPr>
        <p:spPr>
          <a:xfrm>
            <a:off x="960119" y="1874519"/>
            <a:ext cx="960120" cy="960120"/>
          </a:xfrm>
          <a:prstGeom prst="ellipse">
            <a:avLst/>
          </a:prstGeom>
          <a:solidFill>
            <a:srgbClr val="2980B9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9" name="ZoneTexte 8">
            <a:extLst>
              <a:ext uri="{FF2B5EF4-FFF2-40B4-BE49-F238E27FC236}">
                <a16:creationId xmlns:a16="http://schemas.microsoft.com/office/drawing/2014/main" id="{F00F702C-057F-18EB-F144-FBB87F018424}"/>
              </a:ext>
            </a:extLst>
          </p:cNvPr>
          <p:cNvSpPr txBox="1"/>
          <p:nvPr/>
        </p:nvSpPr>
        <p:spPr>
          <a:xfrm>
            <a:off x="1280159" y="2176272"/>
            <a:ext cx="32004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fr-FR" sz="2400" b="1">
                <a:solidFill>
                  <a:srgbClr val="F8FAFC"/>
                </a:solidFill>
                <a:latin typeface="Aptos" panose="020B0004020202020204" pitchFamily="34" charset="0"/>
              </a:rPr>
              <a:t>1</a:t>
            </a:r>
          </a:p>
        </p:txBody>
      </p:sp>
      <p:sp>
        <p:nvSpPr>
          <p:cNvPr id="10" name="ZoneTexte 9">
            <a:extLst>
              <a:ext uri="{FF2B5EF4-FFF2-40B4-BE49-F238E27FC236}">
                <a16:creationId xmlns:a16="http://schemas.microsoft.com/office/drawing/2014/main" id="{6B810C1D-D2FB-E82B-ED6D-271BE00E8411}"/>
              </a:ext>
            </a:extLst>
          </p:cNvPr>
          <p:cNvSpPr txBox="1"/>
          <p:nvPr/>
        </p:nvSpPr>
        <p:spPr>
          <a:xfrm>
            <a:off x="2148839" y="2148841"/>
            <a:ext cx="8001000" cy="32823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fr-FR" sz="2133" b="1">
                <a:solidFill>
                  <a:srgbClr val="1B2631"/>
                </a:solidFill>
                <a:latin typeface="Aptos" panose="020B0004020202020204" pitchFamily="34" charset="0"/>
              </a:rPr>
              <a:t>Donnees preparees et labels normalises</a:t>
            </a:r>
          </a:p>
        </p:txBody>
      </p:sp>
      <p:sp>
        <p:nvSpPr>
          <p:cNvPr id="11" name="ZoneTexte 10">
            <a:extLst>
              <a:ext uri="{FF2B5EF4-FFF2-40B4-BE49-F238E27FC236}">
                <a16:creationId xmlns:a16="http://schemas.microsoft.com/office/drawing/2014/main" id="{620B7558-FFA9-2205-A755-5F8AEB835F8B}"/>
              </a:ext>
            </a:extLst>
          </p:cNvPr>
          <p:cNvSpPr txBox="1"/>
          <p:nvPr/>
        </p:nvSpPr>
        <p:spPr>
          <a:xfrm>
            <a:off x="2148839" y="2487169"/>
            <a:ext cx="8001000" cy="48410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fr-FR" sz="1573">
                <a:solidFill>
                  <a:srgbClr val="424E5A"/>
                </a:solidFill>
                <a:latin typeface="Aptos" panose="020B0004020202020204" pitchFamily="34" charset="0"/>
              </a:rPr>
              <a:t>Le pipeline transforme les enregistrements horodates en echantillons image-action exploitables.</a:t>
            </a:r>
          </a:p>
        </p:txBody>
      </p:sp>
      <p:sp>
        <p:nvSpPr>
          <p:cNvPr id="12" name="Ellipse 11">
            <a:extLst>
              <a:ext uri="{FF2B5EF4-FFF2-40B4-BE49-F238E27FC236}">
                <a16:creationId xmlns:a16="http://schemas.microsoft.com/office/drawing/2014/main" id="{B90FFD60-C71C-E913-CFFF-DD86C0D6A837}"/>
              </a:ext>
            </a:extLst>
          </p:cNvPr>
          <p:cNvSpPr/>
          <p:nvPr/>
        </p:nvSpPr>
        <p:spPr>
          <a:xfrm>
            <a:off x="960119" y="3246119"/>
            <a:ext cx="960120" cy="960120"/>
          </a:xfrm>
          <a:prstGeom prst="ellipse">
            <a:avLst/>
          </a:prstGeom>
          <a:solidFill>
            <a:srgbClr val="00B7A5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3" name="ZoneTexte 12">
            <a:extLst>
              <a:ext uri="{FF2B5EF4-FFF2-40B4-BE49-F238E27FC236}">
                <a16:creationId xmlns:a16="http://schemas.microsoft.com/office/drawing/2014/main" id="{9FE77500-4F3E-AD05-8F6C-91B469EA083B}"/>
              </a:ext>
            </a:extLst>
          </p:cNvPr>
          <p:cNvSpPr txBox="1"/>
          <p:nvPr/>
        </p:nvSpPr>
        <p:spPr>
          <a:xfrm>
            <a:off x="1280159" y="3547872"/>
            <a:ext cx="32004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fr-FR" sz="2400" b="1">
                <a:solidFill>
                  <a:srgbClr val="F8FAFC"/>
                </a:solidFill>
                <a:latin typeface="Aptos" panose="020B0004020202020204" pitchFamily="34" charset="0"/>
              </a:rPr>
              <a:t>2</a:t>
            </a:r>
          </a:p>
        </p:txBody>
      </p:sp>
      <p:sp>
        <p:nvSpPr>
          <p:cNvPr id="14" name="ZoneTexte 13">
            <a:extLst>
              <a:ext uri="{FF2B5EF4-FFF2-40B4-BE49-F238E27FC236}">
                <a16:creationId xmlns:a16="http://schemas.microsoft.com/office/drawing/2014/main" id="{C84296DA-E0C6-3C74-1765-709429176E3F}"/>
              </a:ext>
            </a:extLst>
          </p:cNvPr>
          <p:cNvSpPr txBox="1"/>
          <p:nvPr/>
        </p:nvSpPr>
        <p:spPr>
          <a:xfrm>
            <a:off x="2148839" y="3520441"/>
            <a:ext cx="8001000" cy="32823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fr-FR" sz="2133" b="1">
                <a:solidFill>
                  <a:srgbClr val="1B2631"/>
                </a:solidFill>
                <a:latin typeface="Aptos" panose="020B0004020202020204" pitchFamily="34" charset="0"/>
              </a:rPr>
              <a:t>CNN interpretable et entrainement controle</a:t>
            </a:r>
          </a:p>
        </p:txBody>
      </p:sp>
      <p:sp>
        <p:nvSpPr>
          <p:cNvPr id="15" name="ZoneTexte 14">
            <a:extLst>
              <a:ext uri="{FF2B5EF4-FFF2-40B4-BE49-F238E27FC236}">
                <a16:creationId xmlns:a16="http://schemas.microsoft.com/office/drawing/2014/main" id="{299A7F04-2D29-601F-2D43-3FE6F7D3BF67}"/>
              </a:ext>
            </a:extLst>
          </p:cNvPr>
          <p:cNvSpPr txBox="1"/>
          <p:nvPr/>
        </p:nvSpPr>
        <p:spPr>
          <a:xfrm>
            <a:off x="2148839" y="3858769"/>
            <a:ext cx="8001000" cy="48410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fr-FR" sz="1573">
                <a:solidFill>
                  <a:srgbClr val="424E5A"/>
                </a:solidFill>
                <a:latin typeface="Aptos" panose="020B0004020202020204" pitchFamily="34" charset="0"/>
              </a:rPr>
              <a:t>La loss, la retropropagation, Adam et les seuils de validation rendent le processus mesurable.</a:t>
            </a:r>
          </a:p>
        </p:txBody>
      </p:sp>
      <p:sp>
        <p:nvSpPr>
          <p:cNvPr id="16" name="Ellipse 15">
            <a:extLst>
              <a:ext uri="{FF2B5EF4-FFF2-40B4-BE49-F238E27FC236}">
                <a16:creationId xmlns:a16="http://schemas.microsoft.com/office/drawing/2014/main" id="{8E1014F8-4853-F9FC-B211-C354B2501F9A}"/>
              </a:ext>
            </a:extLst>
          </p:cNvPr>
          <p:cNvSpPr/>
          <p:nvPr/>
        </p:nvSpPr>
        <p:spPr>
          <a:xfrm>
            <a:off x="960119" y="4617719"/>
            <a:ext cx="960120" cy="960120"/>
          </a:xfrm>
          <a:prstGeom prst="ellipse">
            <a:avLst/>
          </a:prstGeom>
          <a:solidFill>
            <a:srgbClr val="F5A623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17" name="ZoneTexte 16">
            <a:extLst>
              <a:ext uri="{FF2B5EF4-FFF2-40B4-BE49-F238E27FC236}">
                <a16:creationId xmlns:a16="http://schemas.microsoft.com/office/drawing/2014/main" id="{5E565847-67FF-788F-BC55-ECB5A47E80CF}"/>
              </a:ext>
            </a:extLst>
          </p:cNvPr>
          <p:cNvSpPr txBox="1"/>
          <p:nvPr/>
        </p:nvSpPr>
        <p:spPr>
          <a:xfrm>
            <a:off x="1280159" y="4919472"/>
            <a:ext cx="320040" cy="369332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fr-FR" sz="2400" b="1">
                <a:solidFill>
                  <a:srgbClr val="F8FAFC"/>
                </a:solidFill>
                <a:latin typeface="Aptos" panose="020B0004020202020204" pitchFamily="34" charset="0"/>
              </a:rPr>
              <a:t>3</a:t>
            </a:r>
          </a:p>
        </p:txBody>
      </p:sp>
      <p:sp>
        <p:nvSpPr>
          <p:cNvPr id="18" name="ZoneTexte 17">
            <a:extLst>
              <a:ext uri="{FF2B5EF4-FFF2-40B4-BE49-F238E27FC236}">
                <a16:creationId xmlns:a16="http://schemas.microsoft.com/office/drawing/2014/main" id="{4F4B4551-0179-B5C2-E4C2-5EA8D2BD2268}"/>
              </a:ext>
            </a:extLst>
          </p:cNvPr>
          <p:cNvSpPr txBox="1"/>
          <p:nvPr/>
        </p:nvSpPr>
        <p:spPr>
          <a:xfrm>
            <a:off x="2148839" y="4892041"/>
            <a:ext cx="8001000" cy="328231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fr-FR" sz="2133" b="1">
                <a:solidFill>
                  <a:srgbClr val="1B2631"/>
                </a:solidFill>
                <a:latin typeface="Aptos" panose="020B0004020202020204" pitchFamily="34" charset="0"/>
              </a:rPr>
              <a:t>Une plateforme prete a etre consolidee</a:t>
            </a:r>
          </a:p>
        </p:txBody>
      </p:sp>
      <p:sp>
        <p:nvSpPr>
          <p:cNvPr id="19" name="ZoneTexte 18">
            <a:extLst>
              <a:ext uri="{FF2B5EF4-FFF2-40B4-BE49-F238E27FC236}">
                <a16:creationId xmlns:a16="http://schemas.microsoft.com/office/drawing/2014/main" id="{F4CA68B7-CE43-792B-38B4-5B881C3F833C}"/>
              </a:ext>
            </a:extLst>
          </p:cNvPr>
          <p:cNvSpPr txBox="1"/>
          <p:nvPr/>
        </p:nvSpPr>
        <p:spPr>
          <a:xfrm>
            <a:off x="2148839" y="5230369"/>
            <a:ext cx="8001000" cy="48410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r>
              <a:rPr lang="fr-FR" sz="1573">
                <a:solidFill>
                  <a:srgbClr val="424E5A"/>
                </a:solidFill>
                <a:latin typeface="Aptos" panose="020B0004020202020204" pitchFamily="34" charset="0"/>
              </a:rPr>
              <a:t>Les prochaines etapes portent sur la regression moteur, l'inference et la validation terrain securisee.</a:t>
            </a:r>
          </a:p>
        </p:txBody>
      </p:sp>
      <p:sp>
        <p:nvSpPr>
          <p:cNvPr id="20" name="Rectangle : coins arrondis 19">
            <a:extLst>
              <a:ext uri="{FF2B5EF4-FFF2-40B4-BE49-F238E27FC236}">
                <a16:creationId xmlns:a16="http://schemas.microsoft.com/office/drawing/2014/main" id="{45E3D7D8-C32F-055E-BB84-48C7E203D418}"/>
              </a:ext>
            </a:extLst>
          </p:cNvPr>
          <p:cNvSpPr/>
          <p:nvPr/>
        </p:nvSpPr>
        <p:spPr>
          <a:xfrm>
            <a:off x="8549639" y="5833871"/>
            <a:ext cx="2697480" cy="411480"/>
          </a:xfrm>
          <a:prstGeom prst="roundRect">
            <a:avLst/>
          </a:prstGeom>
          <a:solidFill>
            <a:srgbClr val="0B1F3A"/>
          </a:solidFill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fr-FR" sz="2400"/>
          </a:p>
        </p:txBody>
      </p:sp>
      <p:sp>
        <p:nvSpPr>
          <p:cNvPr id="21" name="ZoneTexte 20">
            <a:extLst>
              <a:ext uri="{FF2B5EF4-FFF2-40B4-BE49-F238E27FC236}">
                <a16:creationId xmlns:a16="http://schemas.microsoft.com/office/drawing/2014/main" id="{BF1848ED-68E5-265D-7D27-B990DFE01E75}"/>
              </a:ext>
            </a:extLst>
          </p:cNvPr>
          <p:cNvSpPr txBox="1"/>
          <p:nvPr/>
        </p:nvSpPr>
        <p:spPr>
          <a:xfrm>
            <a:off x="8549639" y="5943601"/>
            <a:ext cx="2697480" cy="307777"/>
          </a:xfrm>
          <a:prstGeom prst="rect">
            <a:avLst/>
          </a:prstGeom>
          <a:noFill/>
        </p:spPr>
        <p:txBody>
          <a:bodyPr vert="horz" wrap="square" lIns="0" tIns="0" rIns="0" bIns="0" rtlCol="0">
            <a:spAutoFit/>
          </a:bodyPr>
          <a:lstStyle/>
          <a:p>
            <a:pPr algn="ctr"/>
            <a:r>
              <a:rPr lang="fr-FR" sz="2000" b="1">
                <a:solidFill>
                  <a:srgbClr val="F8FAFC"/>
                </a:solidFill>
                <a:latin typeface="Aptos" panose="020B0004020202020204" pitchFamily="34" charset="0"/>
              </a:rPr>
              <a:t>Questions ?</a:t>
            </a:r>
          </a:p>
        </p:txBody>
      </p:sp>
    </p:spTree>
    <p:extLst>
      <p:ext uri="{BB962C8B-B14F-4D97-AF65-F5344CB8AC3E}">
        <p14:creationId xmlns:p14="http://schemas.microsoft.com/office/powerpoint/2010/main" val="1928418961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Équilibrage et augmentation : corriger le biais du circuit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12064" y="804672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 dataset brut reflète le circuit et les acquisitions, pas une distribution idéale.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22960" y="123444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EF4444"/>
                </a:solidFill>
              </a:rPr>
              <a:t>DÉSÉQUILIBRE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822960" y="1600200"/>
            <a:ext cx="4206240" cy="1234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34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Certaines directions sont naturellement plus fréquentes dans les acquisitions.</a:t>
            </a:r>
            <a:endParaRPr lang="en-US" sz="1340" dirty="0"/>
          </a:p>
          <a:p>
            <a:pPr marL="0" indent="0">
              <a:buNone/>
            </a:pPr>
            <a:r>
              <a:rPr lang="en-US" sz="134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Un modèle non corrigé apprendrait la classe majoritaire.</a:t>
            </a:r>
            <a:endParaRPr lang="en-US" sz="1340" dirty="0"/>
          </a:p>
          <a:p>
            <a:pPr marL="0" indent="0">
              <a:buNone/>
            </a:pPr>
            <a:r>
              <a:rPr lang="en-US" sz="134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La métrique globale peut masquer une mauvaise classe minoritaire.</a:t>
            </a:r>
            <a:endParaRPr lang="en-US" sz="1340" dirty="0"/>
          </a:p>
        </p:txBody>
      </p:sp>
      <p:sp>
        <p:nvSpPr>
          <p:cNvPr id="6" name="Text 4"/>
          <p:cNvSpPr/>
          <p:nvPr/>
        </p:nvSpPr>
        <p:spPr>
          <a:xfrm>
            <a:off x="5577840" y="123444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22C55E"/>
                </a:solidFill>
              </a:rPr>
              <a:t>SOLUTION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5577840" y="1600200"/>
            <a:ext cx="4937760" cy="1234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34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Flip horizontal : left ↔ right, cohérent avec la symétrie du véhicule.</a:t>
            </a:r>
            <a:endParaRPr lang="en-US" sz="1340" dirty="0"/>
          </a:p>
          <a:p>
            <a:pPr marL="0" indent="0">
              <a:buNone/>
            </a:pPr>
            <a:r>
              <a:rPr lang="en-US" sz="134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Échange speedA/speedB après flip.</a:t>
            </a:r>
            <a:endParaRPr lang="en-US" sz="1340" dirty="0"/>
          </a:p>
          <a:p>
            <a:pPr marL="0" indent="0">
              <a:buNone/>
            </a:pPr>
            <a:r>
              <a:rPr lang="en-US" sz="134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Brightness/contrast pour simuler les variations d’éclairage.</a:t>
            </a:r>
            <a:endParaRPr lang="en-US" sz="1340" dirty="0"/>
          </a:p>
        </p:txBody>
      </p:sp>
      <p:sp>
        <p:nvSpPr>
          <p:cNvPr id="8" name="Text 6"/>
          <p:cNvSpPr/>
          <p:nvPr/>
        </p:nvSpPr>
        <p:spPr>
          <a:xfrm>
            <a:off x="960120" y="3730752"/>
            <a:ext cx="5120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4748B"/>
                </a:solidFill>
              </a:rPr>
              <a:t>validation de l’augmentation miroir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960120" y="3977640"/>
            <a:ext cx="5120640" cy="1508760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>
              <a:buNone/>
            </a:pPr>
            <a:r>
              <a:rPr lang="en-US" sz="920" dirty="0">
                <a:solidFill>
                  <a:srgbClr val="E5E7EB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if row["direction_class"] == "left":</a:t>
            </a:r>
            <a:endParaRPr lang="en-US" sz="920" dirty="0"/>
          </a:p>
          <a:p>
            <a:pPr marL="0" indent="0">
              <a:buNone/>
            </a:pPr>
            <a:r>
              <a:rPr lang="en-US" sz="920" dirty="0">
                <a:solidFill>
                  <a:srgbClr val="E5E7EB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   new_class = "right"</a:t>
            </a:r>
            <a:endParaRPr lang="en-US" sz="920" dirty="0"/>
          </a:p>
          <a:p>
            <a:pPr marL="0" indent="0">
              <a:buNone/>
            </a:pPr>
            <a:r>
              <a:rPr lang="en-US" sz="920" dirty="0">
                <a:solidFill>
                  <a:srgbClr val="E5E7EB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elif row["direction_class"] == "right":</a:t>
            </a:r>
            <a:endParaRPr lang="en-US" sz="920" dirty="0"/>
          </a:p>
          <a:p>
            <a:pPr marL="0" indent="0">
              <a:buNone/>
            </a:pPr>
            <a:r>
              <a:rPr lang="en-US" sz="920" dirty="0">
                <a:solidFill>
                  <a:srgbClr val="E5E7EB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   new_class = "left"</a:t>
            </a:r>
            <a:endParaRPr lang="en-US" sz="920" dirty="0"/>
          </a:p>
          <a:p>
            <a:pPr marL="0" indent="0">
              <a:buNone/>
            </a:pPr>
            <a:endParaRPr lang="en-US" sz="920" dirty="0"/>
          </a:p>
          <a:p>
            <a:pPr marL="0" indent="0">
              <a:buNone/>
            </a:pPr>
            <a:r>
              <a:rPr lang="en-US" sz="920" dirty="0">
                <a:solidFill>
                  <a:srgbClr val="E5E7EB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new_row["speedA"], new_row["speedB"] =</a:t>
            </a:r>
            <a:endParaRPr lang="en-US" sz="920" dirty="0"/>
          </a:p>
          <a:p>
            <a:pPr marL="0" indent="0">
              <a:buNone/>
            </a:pPr>
            <a:r>
              <a:rPr lang="en-US" sz="920" dirty="0">
                <a:solidFill>
                  <a:srgbClr val="E5E7EB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   new_row["speedB"], new_row["speedA"]</a:t>
            </a:r>
            <a:endParaRPr lang="en-US" sz="920" dirty="0"/>
          </a:p>
        </p:txBody>
      </p:sp>
      <p:sp>
        <p:nvSpPr>
          <p:cNvPr id="10" name="Text 8"/>
          <p:cNvSpPr/>
          <p:nvPr/>
        </p:nvSpPr>
        <p:spPr>
          <a:xfrm>
            <a:off x="6583680" y="3977640"/>
            <a:ext cx="1417320" cy="640080"/>
          </a:xfrm>
          <a:prstGeom prst="rect">
            <a:avLst/>
          </a:prstGeom>
          <a:solidFill>
            <a:srgbClr val="DBEAFE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</a:rPr>
              <a:t>Train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</a:rPr>
              <a:t>1000 / classe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229600" y="3977640"/>
            <a:ext cx="1417320" cy="640080"/>
          </a:xfrm>
          <a:prstGeom prst="rect">
            <a:avLst/>
          </a:prstGeom>
          <a:solidFill>
            <a:srgbClr val="DCFCE7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</a:rPr>
              <a:t>Validation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</a:rPr>
              <a:t>200 / classe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9875520" y="3977640"/>
            <a:ext cx="1143000" cy="640080"/>
          </a:xfrm>
          <a:prstGeom prst="rect">
            <a:avLst/>
          </a:prstGeom>
          <a:solidFill>
            <a:srgbClr val="FEF3C7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</a:rPr>
              <a:t>Test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</a:rPr>
              <a:t>60 / classe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502920" y="6473952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Projet voiture miniature autonome • Vision-based decision making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11301984" y="6437376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502920" y="6336792"/>
            <a:ext cx="112014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Chargement PyTorch : images, labels et vitesses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12064" y="804672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 Dataset fournit simultanément les cibles classification et régression.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777240" y="1170432"/>
            <a:ext cx="48006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4748B"/>
                </a:solidFill>
              </a:rPr>
              <a:t>classe Dataset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777240" y="1417320"/>
            <a:ext cx="4800600" cy="2057400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>
              <a:buNone/>
            </a:pPr>
            <a:r>
              <a:rPr lang="en-US" sz="1000" dirty="0">
                <a:solidFill>
                  <a:srgbClr val="E5E7EB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label = CLASS_TO_IDX[row["direction_class"]]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5E7EB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label = torch.tensor(label, dtype=torch.long)</a:t>
            </a:r>
            <a:endParaRPr lang="en-US" sz="1000" dirty="0"/>
          </a:p>
          <a:p>
            <a:pPr marL="0" indent="0">
              <a:buNone/>
            </a:pP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5E7EB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speedA = float(row["speedA"]) / 100.0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5E7EB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speedB = float(row["speedB"]) / 100.0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E5E7EB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speeds = torch.tensor([speedA, speedB], dtype=torch.float32)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6172200" y="132588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2563EB"/>
                </a:solidFill>
              </a:rPr>
              <a:t>TRANSFORMS TRAIN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6172200" y="1664208"/>
            <a:ext cx="2468880" cy="12801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Resize 224×224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ColorJitter + blur léger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RandomAffine modéré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Normalisation ImageNet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9189720" y="132588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22C55E"/>
                </a:solidFill>
              </a:rPr>
              <a:t>TRANSFORMS EVAL</a:t>
            </a:r>
            <a:endParaRPr lang="en-US" sz="750" dirty="0"/>
          </a:p>
        </p:txBody>
      </p:sp>
      <p:sp>
        <p:nvSpPr>
          <p:cNvPr id="9" name="Text 7"/>
          <p:cNvSpPr/>
          <p:nvPr/>
        </p:nvSpPr>
        <p:spPr>
          <a:xfrm>
            <a:off x="9189720" y="1664208"/>
            <a:ext cx="2286000" cy="12801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Resize 224×224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ToTensor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Normalisation ImageNet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Aucune augmentation aléatoire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68680" y="4617720"/>
            <a:ext cx="5303520" cy="502920"/>
          </a:xfrm>
          <a:prstGeom prst="rect">
            <a:avLst/>
          </a:prstGeom>
          <a:noFill/>
          <a:ln/>
        </p:spPr>
        <p:txBody>
          <a:bodyPr wrap="square" lIns="1397" tIns="1397" rIns="1397" bIns="1397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7C3AED"/>
                </a:solidFill>
              </a:rPr>
              <a:t>Pourquoi 224×224 ? Cohérence avec les poids ImageNet de MobileNetV3.</a:t>
            </a:r>
            <a:endParaRPr lang="en-US" sz="1500" dirty="0"/>
          </a:p>
        </p:txBody>
      </p:sp>
      <p:sp>
        <p:nvSpPr>
          <p:cNvPr id="11" name="Text 9"/>
          <p:cNvSpPr/>
          <p:nvPr/>
        </p:nvSpPr>
        <p:spPr>
          <a:xfrm>
            <a:off x="6309360" y="4617720"/>
            <a:ext cx="5029200" cy="502920"/>
          </a:xfrm>
          <a:prstGeom prst="rect">
            <a:avLst/>
          </a:prstGeom>
          <a:noFill/>
          <a:ln/>
        </p:spPr>
        <p:txBody>
          <a:bodyPr wrap="square" lIns="1397" tIns="1397" rIns="1397" bIns="1397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F97316"/>
                </a:solidFill>
              </a:rPr>
              <a:t>Pourquoi vitesses /100 ? Sortie régression bornée entre 0 et 1.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502920" y="6473952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Projet voiture miniature autonome • Vision-based decision making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1301984" y="6437376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502920" y="6336792"/>
            <a:ext cx="112014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Choix modèle : du CNN baseline au MobileNetV3 multi-tâches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12064" y="804672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 choix final répond aux contraintes de performance, données limitées et potentiel embarqué.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68680" y="1417320"/>
            <a:ext cx="1920240" cy="685800"/>
          </a:xfrm>
          <a:prstGeom prst="rect">
            <a:avLst/>
          </a:prstGeom>
          <a:solidFill>
            <a:srgbClr val="DBEAFE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11827"/>
                </a:solidFill>
              </a:rPr>
              <a:t>CNN compact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111827"/>
                </a:solidFill>
              </a:rPr>
              <a:t>from scratch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2971800" y="1755648"/>
            <a:ext cx="822960" cy="0"/>
          </a:xfrm>
          <a:prstGeom prst="line">
            <a:avLst/>
          </a:prstGeom>
          <a:noFill/>
          <a:ln w="17780">
            <a:solidFill>
              <a:srgbClr val="CBD5E1"/>
            </a:solidFill>
            <a:prstDash val="solid"/>
            <a:headEnd type="none"/>
            <a:tailEnd type="triangle"/>
          </a:ln>
        </p:spPr>
      </p:sp>
      <p:sp>
        <p:nvSpPr>
          <p:cNvPr id="6" name="Text 4"/>
          <p:cNvSpPr/>
          <p:nvPr/>
        </p:nvSpPr>
        <p:spPr>
          <a:xfrm>
            <a:off x="3886200" y="1417320"/>
            <a:ext cx="2148840" cy="685800"/>
          </a:xfrm>
          <a:prstGeom prst="rect">
            <a:avLst/>
          </a:prstGeom>
          <a:solidFill>
            <a:srgbClr val="DCFCE7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11827"/>
                </a:solidFill>
              </a:rPr>
              <a:t>MobileNetV3 Large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111827"/>
                </a:solidFill>
              </a:rPr>
              <a:t>pré-entraîné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217920" y="1755648"/>
            <a:ext cx="822960" cy="0"/>
          </a:xfrm>
          <a:prstGeom prst="line">
            <a:avLst/>
          </a:prstGeom>
          <a:noFill/>
          <a:ln w="17780">
            <a:solidFill>
              <a:srgbClr val="CBD5E1"/>
            </a:solidFill>
            <a:prstDash val="solid"/>
            <a:headEnd type="none"/>
            <a:tailEnd type="triangle"/>
          </a:ln>
        </p:spPr>
      </p:sp>
      <p:sp>
        <p:nvSpPr>
          <p:cNvPr id="8" name="Text 6"/>
          <p:cNvSpPr/>
          <p:nvPr/>
        </p:nvSpPr>
        <p:spPr>
          <a:xfrm>
            <a:off x="7132320" y="1417320"/>
            <a:ext cx="2240280" cy="685800"/>
          </a:xfrm>
          <a:prstGeom prst="rect">
            <a:avLst/>
          </a:prstGeom>
          <a:solidFill>
            <a:srgbClr val="FEF3C7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11827"/>
                </a:solidFill>
              </a:rPr>
              <a:t>Multi-tâches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111827"/>
                </a:solidFill>
              </a:rPr>
              <a:t>direction + vitesses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868680" y="274320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EF4444"/>
                </a:solidFill>
              </a:rPr>
              <a:t>POURQUOI PAS UNIQUEMENT UN CNN FROM SCRATCH ?</a:t>
            </a:r>
            <a:endParaRPr lang="en-US" sz="750" dirty="0"/>
          </a:p>
        </p:txBody>
      </p:sp>
      <p:sp>
        <p:nvSpPr>
          <p:cNvPr id="10" name="Text 8"/>
          <p:cNvSpPr/>
          <p:nvPr/>
        </p:nvSpPr>
        <p:spPr>
          <a:xfrm>
            <a:off x="868680" y="3063240"/>
            <a:ext cx="4754880" cy="11430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32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Besoin de plus de données réelles pour généraliser.</a:t>
            </a:r>
            <a:endParaRPr lang="en-US" sz="1320" dirty="0"/>
          </a:p>
          <a:p>
            <a:pPr marL="0" indent="0">
              <a:buNone/>
            </a:pPr>
            <a:r>
              <a:rPr lang="en-US" sz="132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Risque d’apprendre le circuit plutôt que des indices visuels robustes.</a:t>
            </a:r>
            <a:endParaRPr lang="en-US" sz="1320" dirty="0"/>
          </a:p>
          <a:p>
            <a:pPr marL="0" indent="0">
              <a:buNone/>
            </a:pPr>
            <a:r>
              <a:rPr lang="en-US" sz="132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Convergence plus lente et sensibilité au split.</a:t>
            </a:r>
            <a:endParaRPr lang="en-US" sz="1320" dirty="0"/>
          </a:p>
        </p:txBody>
      </p:sp>
      <p:sp>
        <p:nvSpPr>
          <p:cNvPr id="11" name="Text 9"/>
          <p:cNvSpPr/>
          <p:nvPr/>
        </p:nvSpPr>
        <p:spPr>
          <a:xfrm>
            <a:off x="6400800" y="274320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22C55E"/>
                </a:solidFill>
              </a:rPr>
              <a:t>POURQUOI MOBILENETV3 ?</a:t>
            </a:r>
            <a:endParaRPr lang="en-US" sz="750" dirty="0"/>
          </a:p>
        </p:txBody>
      </p:sp>
      <p:sp>
        <p:nvSpPr>
          <p:cNvPr id="12" name="Text 10"/>
          <p:cNvSpPr/>
          <p:nvPr/>
        </p:nvSpPr>
        <p:spPr>
          <a:xfrm>
            <a:off x="6400800" y="3063240"/>
            <a:ext cx="4480560" cy="11430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32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Transfert ImageNet : contours, textures, contrastes déjà appris.</a:t>
            </a:r>
            <a:endParaRPr lang="en-US" sz="1320" dirty="0"/>
          </a:p>
          <a:p>
            <a:pPr marL="0" indent="0">
              <a:buNone/>
            </a:pPr>
            <a:r>
              <a:rPr lang="en-US" sz="132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Architecture légère et pertinente pour un véhicule miniature.</a:t>
            </a:r>
            <a:endParaRPr lang="en-US" sz="1320" dirty="0"/>
          </a:p>
          <a:p>
            <a:pPr marL="0" indent="0">
              <a:buNone/>
            </a:pPr>
            <a:r>
              <a:rPr lang="en-US" sz="132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Facile à adapter avec deux têtes de sortie.</a:t>
            </a:r>
            <a:endParaRPr lang="en-US" sz="1320" dirty="0"/>
          </a:p>
        </p:txBody>
      </p:sp>
      <p:sp>
        <p:nvSpPr>
          <p:cNvPr id="13" name="Text 11"/>
          <p:cNvSpPr/>
          <p:nvPr/>
        </p:nvSpPr>
        <p:spPr>
          <a:xfrm>
            <a:off x="502920" y="6473952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Projet voiture miniature autonome • Vision-based decision making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11301984" y="6437376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11</a:t>
            </a:r>
            <a:endParaRPr lang="en-US" sz="800" dirty="0"/>
          </a:p>
        </p:txBody>
      </p:sp>
      <p:sp>
        <p:nvSpPr>
          <p:cNvPr id="15" name="Shape 13"/>
          <p:cNvSpPr/>
          <p:nvPr/>
        </p:nvSpPr>
        <p:spPr>
          <a:xfrm>
            <a:off x="502920" y="6336792"/>
            <a:ext cx="112014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Architecture finale : MobileNetV3 multi-tâches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12064" y="804672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 extracteur visuel partagé, deux sorties spécialisées.</a:t>
            </a:r>
            <a:endParaRPr lang="en-US" sz="1050" dirty="0"/>
          </a:p>
        </p:txBody>
      </p:sp>
      <p:sp>
        <p:nvSpPr>
          <p:cNvPr id="4" name="Shape 2"/>
          <p:cNvSpPr/>
          <p:nvPr/>
        </p:nvSpPr>
        <p:spPr>
          <a:xfrm>
            <a:off x="2029968" y="2743200"/>
            <a:ext cx="713232" cy="0"/>
          </a:xfrm>
          <a:prstGeom prst="line">
            <a:avLst/>
          </a:prstGeom>
          <a:noFill/>
          <a:ln w="17780">
            <a:solidFill>
              <a:srgbClr val="CBD5E1"/>
            </a:solidFill>
            <a:prstDash val="solid"/>
            <a:headEnd type="none"/>
            <a:tailEnd type="triangle"/>
          </a:ln>
        </p:spPr>
      </p:sp>
      <p:sp>
        <p:nvSpPr>
          <p:cNvPr id="5" name="Shape 3"/>
          <p:cNvSpPr/>
          <p:nvPr/>
        </p:nvSpPr>
        <p:spPr>
          <a:xfrm>
            <a:off x="4956048" y="2743200"/>
            <a:ext cx="603504" cy="0"/>
          </a:xfrm>
          <a:prstGeom prst="line">
            <a:avLst/>
          </a:prstGeom>
          <a:noFill/>
          <a:ln w="17780">
            <a:solidFill>
              <a:srgbClr val="CBD5E1"/>
            </a:solidFill>
            <a:prstDash val="solid"/>
            <a:headEnd type="none"/>
            <a:tailEnd type="triangle"/>
          </a:ln>
        </p:spPr>
      </p:sp>
      <p:sp>
        <p:nvSpPr>
          <p:cNvPr id="6" name="Shape 4"/>
          <p:cNvSpPr/>
          <p:nvPr/>
        </p:nvSpPr>
        <p:spPr>
          <a:xfrm>
            <a:off x="7424928" y="2505456"/>
            <a:ext cx="713232" cy="0"/>
          </a:xfrm>
          <a:prstGeom prst="line">
            <a:avLst/>
          </a:prstGeom>
          <a:noFill/>
          <a:ln w="17780">
            <a:solidFill>
              <a:srgbClr val="CBD5E1"/>
            </a:solidFill>
            <a:prstDash val="solid"/>
            <a:headEnd type="none"/>
            <a:tailEnd type="triangle"/>
          </a:ln>
        </p:spPr>
      </p:sp>
      <p:sp>
        <p:nvSpPr>
          <p:cNvPr id="7" name="Shape 5"/>
          <p:cNvSpPr/>
          <p:nvPr/>
        </p:nvSpPr>
        <p:spPr>
          <a:xfrm>
            <a:off x="7424928" y="2980944"/>
            <a:ext cx="713232" cy="603504"/>
          </a:xfrm>
          <a:prstGeom prst="line">
            <a:avLst/>
          </a:prstGeom>
          <a:noFill/>
          <a:ln w="17780">
            <a:solidFill>
              <a:srgbClr val="CBD5E1"/>
            </a:solidFill>
            <a:prstDash val="solid"/>
            <a:headEnd type="none"/>
            <a:tailEnd type="triangle"/>
          </a:ln>
        </p:spPr>
      </p:sp>
      <p:sp>
        <p:nvSpPr>
          <p:cNvPr id="8" name="Text 6"/>
          <p:cNvSpPr/>
          <p:nvPr/>
        </p:nvSpPr>
        <p:spPr>
          <a:xfrm>
            <a:off x="777240" y="2331720"/>
            <a:ext cx="1234440" cy="822960"/>
          </a:xfrm>
          <a:prstGeom prst="rect">
            <a:avLst/>
          </a:prstGeom>
          <a:solidFill>
            <a:srgbClr val="DBEAFE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</a:rPr>
              <a:t>Image caméra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</a:rPr>
              <a:t>224×224×3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880360" y="2240280"/>
            <a:ext cx="1965960" cy="1005840"/>
          </a:xfrm>
          <a:prstGeom prst="rect">
            <a:avLst/>
          </a:prstGeom>
          <a:solidFill>
            <a:srgbClr val="DCFCE7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11827"/>
                </a:solidFill>
              </a:rPr>
              <a:t>MobileNetV3</a:t>
            </a:r>
            <a:endParaRPr lang="en-US" sz="1300" dirty="0"/>
          </a:p>
          <a:p>
            <a:pPr marL="0" indent="0" algn="ctr">
              <a:buNone/>
            </a:pPr>
            <a:r>
              <a:rPr lang="en-US" sz="1300" b="1" dirty="0">
                <a:solidFill>
                  <a:srgbClr val="111827"/>
                </a:solidFill>
              </a:rPr>
              <a:t>features</a:t>
            </a:r>
            <a:endParaRPr lang="en-US" sz="1300" dirty="0"/>
          </a:p>
        </p:txBody>
      </p:sp>
      <p:sp>
        <p:nvSpPr>
          <p:cNvPr id="10" name="Text 8"/>
          <p:cNvSpPr/>
          <p:nvPr/>
        </p:nvSpPr>
        <p:spPr>
          <a:xfrm>
            <a:off x="5669280" y="2240280"/>
            <a:ext cx="1691640" cy="1005840"/>
          </a:xfrm>
          <a:prstGeom prst="rect">
            <a:avLst/>
          </a:prstGeom>
          <a:solidFill>
            <a:srgbClr val="FEF3C7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</a:rPr>
              <a:t>Shared head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111827"/>
                </a:solidFill>
              </a:rPr>
              <a:t>Linear 512 + Hardswish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8275320" y="1600200"/>
            <a:ext cx="2148840" cy="777240"/>
          </a:xfrm>
          <a:prstGeom prst="rect">
            <a:avLst/>
          </a:prstGeom>
          <a:solidFill>
            <a:srgbClr val="EF4444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Classification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left / forward / right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275320" y="3401568"/>
            <a:ext cx="2148840" cy="777240"/>
          </a:xfrm>
          <a:prstGeom prst="rect">
            <a:avLst/>
          </a:prstGeom>
          <a:solidFill>
            <a:srgbClr val="2563EB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Régression</a:t>
            </a:r>
            <a:endParaRPr lang="en-US" sz="1200" dirty="0"/>
          </a:p>
          <a:p>
            <a:pPr marL="0" indent="0" algn="ctr">
              <a:buNone/>
            </a:pPr>
            <a:r>
              <a:rPr lang="en-US" sz="1200" b="1" dirty="0">
                <a:solidFill>
                  <a:srgbClr val="FFFFFF"/>
                </a:solidFill>
              </a:rPr>
              <a:t>speedA, speedB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868680" y="4526280"/>
            <a:ext cx="104241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4748B"/>
                </a:solidFill>
              </a:rPr>
              <a:t>extrait modèle MobileNetV3MultiTask</a:t>
            </a:r>
            <a:endParaRPr lang="en-US" sz="750" dirty="0"/>
          </a:p>
        </p:txBody>
      </p:sp>
      <p:sp>
        <p:nvSpPr>
          <p:cNvPr id="14" name="Text 12"/>
          <p:cNvSpPr/>
          <p:nvPr/>
        </p:nvSpPr>
        <p:spPr>
          <a:xfrm>
            <a:off x="868680" y="4773168"/>
            <a:ext cx="10424160" cy="1170432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txBody>
          <a:bodyPr wrap="square" lIns="1524" tIns="1524" rIns="1524" bIns="1524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760" dirty="0">
                <a:solidFill>
                  <a:srgbClr val="E5E7EB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self.features = base_model.features</a:t>
            </a:r>
            <a:endParaRPr lang="en-US" sz="760" dirty="0"/>
          </a:p>
          <a:p>
            <a:pPr marL="0" indent="0">
              <a:buNone/>
            </a:pPr>
            <a:r>
              <a:rPr lang="en-US" sz="760" dirty="0">
                <a:solidFill>
                  <a:srgbClr val="E5E7EB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self.avgpool = base_model.avgpool</a:t>
            </a:r>
            <a:endParaRPr lang="en-US" sz="760" dirty="0"/>
          </a:p>
          <a:p>
            <a:pPr marL="0" indent="0">
              <a:buNone/>
            </a:pPr>
            <a:endParaRPr lang="en-US" sz="760" dirty="0"/>
          </a:p>
          <a:p>
            <a:pPr marL="0" indent="0">
              <a:buNone/>
            </a:pPr>
            <a:r>
              <a:rPr lang="en-US" sz="760" dirty="0">
                <a:solidFill>
                  <a:srgbClr val="E5E7EB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self.shared = nn.Sequential(</a:t>
            </a:r>
            <a:endParaRPr lang="en-US" sz="760" dirty="0"/>
          </a:p>
          <a:p>
            <a:pPr marL="0" indent="0">
              <a:buNone/>
            </a:pPr>
            <a:r>
              <a:rPr lang="en-US" sz="760" dirty="0">
                <a:solidFill>
                  <a:srgbClr val="E5E7EB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   nn.Linear(in_features, 512),</a:t>
            </a:r>
            <a:endParaRPr lang="en-US" sz="760" dirty="0"/>
          </a:p>
          <a:p>
            <a:pPr marL="0" indent="0">
              <a:buNone/>
            </a:pPr>
            <a:r>
              <a:rPr lang="en-US" sz="760" dirty="0">
                <a:solidFill>
                  <a:srgbClr val="E5E7EB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   nn.Hardswish(),</a:t>
            </a:r>
            <a:endParaRPr lang="en-US" sz="760" dirty="0"/>
          </a:p>
          <a:p>
            <a:pPr marL="0" indent="0">
              <a:buNone/>
            </a:pPr>
            <a:r>
              <a:rPr lang="en-US" sz="760" dirty="0">
                <a:solidFill>
                  <a:srgbClr val="E5E7EB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    nn.Dropout(p=0.2)</a:t>
            </a:r>
            <a:endParaRPr lang="en-US" sz="760" dirty="0"/>
          </a:p>
          <a:p>
            <a:pPr marL="0" indent="0">
              <a:buNone/>
            </a:pPr>
            <a:r>
              <a:rPr lang="en-US" sz="760" dirty="0">
                <a:solidFill>
                  <a:srgbClr val="E5E7EB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)</a:t>
            </a:r>
            <a:endParaRPr lang="en-US" sz="760" dirty="0"/>
          </a:p>
          <a:p>
            <a:pPr marL="0" indent="0">
              <a:buNone/>
            </a:pPr>
            <a:endParaRPr lang="en-US" sz="760" dirty="0"/>
          </a:p>
          <a:p>
            <a:pPr marL="0" indent="0">
              <a:buNone/>
            </a:pPr>
            <a:r>
              <a:rPr lang="en-US" sz="760" dirty="0">
                <a:solidFill>
                  <a:srgbClr val="E5E7EB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self.classifier_head = nn.Linear(512, num_classes)</a:t>
            </a:r>
            <a:endParaRPr lang="en-US" sz="760" dirty="0"/>
          </a:p>
          <a:p>
            <a:pPr marL="0" indent="0">
              <a:buNone/>
            </a:pPr>
            <a:r>
              <a:rPr lang="en-US" sz="760" dirty="0">
                <a:solidFill>
                  <a:srgbClr val="E5E7EB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self.regression_head = nn.Sequential(nn.Linear(512, 2), nn.Sigmoid())</a:t>
            </a:r>
            <a:endParaRPr lang="en-US" sz="760" dirty="0"/>
          </a:p>
        </p:txBody>
      </p:sp>
      <p:sp>
        <p:nvSpPr>
          <p:cNvPr id="15" name="Text 13"/>
          <p:cNvSpPr/>
          <p:nvPr/>
        </p:nvSpPr>
        <p:spPr>
          <a:xfrm>
            <a:off x="502920" y="6473952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Projet voiture miniature autonome • Vision-based decision making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11301984" y="6437376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502920" y="6336792"/>
            <a:ext cx="112014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Entraînement : fonction objectif et protocole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12064" y="804672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loss totale combine classification et régression moteur.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22960" y="1124712"/>
            <a:ext cx="493776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4748B"/>
                </a:solidFill>
              </a:rPr>
              <a:t>boucle d’entraînement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822960" y="1371600"/>
            <a:ext cx="4937760" cy="1828800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>
              <a:buNone/>
            </a:pPr>
            <a:r>
              <a:rPr lang="en-US" sz="1050" dirty="0">
                <a:solidFill>
                  <a:srgbClr val="E5E7EB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cls_loss = CrossEntropyLoss(class_logits, labels)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5E7EB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reg_loss = SmoothL1Loss(speed_preds, speeds)</a:t>
            </a:r>
            <a:endParaRPr lang="en-US" sz="1050" dirty="0"/>
          </a:p>
          <a:p>
            <a:pPr marL="0" indent="0">
              <a:buNone/>
            </a:pP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5E7EB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loss = cls_loss + REG_LOSS_WEIGHT * reg_loss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5E7EB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loss.backward()</a:t>
            </a:r>
            <a:endParaRPr lang="en-US" sz="1050" dirty="0"/>
          </a:p>
          <a:p>
            <a:pPr marL="0" indent="0">
              <a:buNone/>
            </a:pPr>
            <a:r>
              <a:rPr lang="en-US" sz="1050" dirty="0">
                <a:solidFill>
                  <a:srgbClr val="E5E7EB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optimizer.step()</a:t>
            </a:r>
            <a:endParaRPr lang="en-US" sz="1050" dirty="0"/>
          </a:p>
        </p:txBody>
      </p:sp>
      <p:sp>
        <p:nvSpPr>
          <p:cNvPr id="6" name="Text 4"/>
          <p:cNvSpPr/>
          <p:nvPr/>
        </p:nvSpPr>
        <p:spPr>
          <a:xfrm>
            <a:off x="6263640" y="132588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64748B"/>
                </a:solidFill>
              </a:rPr>
              <a:t>Architecture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6263640" y="1527048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MobileNetV3 Large ImageNet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778240" y="1325880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64748B"/>
                </a:solidFill>
              </a:rPr>
              <a:t>Batch</a:t>
            </a:r>
            <a:endParaRPr lang="en-US" sz="850" dirty="0"/>
          </a:p>
        </p:txBody>
      </p:sp>
      <p:sp>
        <p:nvSpPr>
          <p:cNvPr id="9" name="Text 7"/>
          <p:cNvSpPr/>
          <p:nvPr/>
        </p:nvSpPr>
        <p:spPr>
          <a:xfrm>
            <a:off x="8778240" y="1527048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4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6263640" y="198424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64748B"/>
                </a:solidFill>
              </a:rPr>
              <a:t>Epochs</a:t>
            </a:r>
            <a:endParaRPr lang="en-US" sz="850" dirty="0"/>
          </a:p>
        </p:txBody>
      </p:sp>
      <p:sp>
        <p:nvSpPr>
          <p:cNvPr id="11" name="Text 9"/>
          <p:cNvSpPr/>
          <p:nvPr/>
        </p:nvSpPr>
        <p:spPr>
          <a:xfrm>
            <a:off x="6263640" y="2185416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30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8778240" y="1984248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64748B"/>
                </a:solidFill>
              </a:rPr>
              <a:t>LR</a:t>
            </a:r>
            <a:endParaRPr lang="en-US" sz="850" dirty="0"/>
          </a:p>
        </p:txBody>
      </p:sp>
      <p:sp>
        <p:nvSpPr>
          <p:cNvPr id="13" name="Text 11"/>
          <p:cNvSpPr/>
          <p:nvPr/>
        </p:nvSpPr>
        <p:spPr>
          <a:xfrm>
            <a:off x="8778240" y="2185416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1e-4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6263640" y="264261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64748B"/>
                </a:solidFill>
              </a:rPr>
              <a:t>Optimiseur</a:t>
            </a:r>
            <a:endParaRPr lang="en-US" sz="850" dirty="0"/>
          </a:p>
        </p:txBody>
      </p:sp>
      <p:sp>
        <p:nvSpPr>
          <p:cNvPr id="15" name="Text 13"/>
          <p:cNvSpPr/>
          <p:nvPr/>
        </p:nvSpPr>
        <p:spPr>
          <a:xfrm>
            <a:off x="6263640" y="2843784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AdamW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8778240" y="2642616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64748B"/>
                </a:solidFill>
              </a:rPr>
              <a:t>Weight decay</a:t>
            </a:r>
            <a:endParaRPr lang="en-US" sz="850" dirty="0"/>
          </a:p>
        </p:txBody>
      </p:sp>
      <p:sp>
        <p:nvSpPr>
          <p:cNvPr id="17" name="Text 15"/>
          <p:cNvSpPr/>
          <p:nvPr/>
        </p:nvSpPr>
        <p:spPr>
          <a:xfrm>
            <a:off x="8778240" y="2843784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1e-4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263640" y="330098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64748B"/>
                </a:solidFill>
              </a:rPr>
              <a:t>Scheduler</a:t>
            </a:r>
            <a:endParaRPr lang="en-US" sz="850" dirty="0"/>
          </a:p>
        </p:txBody>
      </p:sp>
      <p:sp>
        <p:nvSpPr>
          <p:cNvPr id="19" name="Text 17"/>
          <p:cNvSpPr/>
          <p:nvPr/>
        </p:nvSpPr>
        <p:spPr>
          <a:xfrm>
            <a:off x="6263640" y="3502152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ReduceLROnPlateau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778240" y="3300984"/>
            <a:ext cx="9144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64748B"/>
                </a:solidFill>
              </a:rPr>
              <a:t>Checkpoint</a:t>
            </a:r>
            <a:endParaRPr lang="en-US" sz="850" dirty="0"/>
          </a:p>
        </p:txBody>
      </p:sp>
      <p:sp>
        <p:nvSpPr>
          <p:cNvPr id="21" name="Text 19"/>
          <p:cNvSpPr/>
          <p:nvPr/>
        </p:nvSpPr>
        <p:spPr>
          <a:xfrm>
            <a:off x="8778240" y="3502152"/>
            <a:ext cx="21488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meilleure validation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868680" y="4251960"/>
            <a:ext cx="5303520" cy="420624"/>
          </a:xfrm>
          <a:prstGeom prst="rect">
            <a:avLst/>
          </a:prstGeom>
          <a:noFill/>
          <a:ln/>
        </p:spPr>
        <p:txBody>
          <a:bodyPr wrap="square" lIns="1397" tIns="1397" rIns="1397" bIns="1397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7C3AED"/>
                </a:solidFill>
              </a:rPr>
              <a:t>Pourquoi SmoothL1 ? Moins sensible aux grosses erreurs qu’une MSE brute.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6355080" y="4251960"/>
            <a:ext cx="4754880" cy="420624"/>
          </a:xfrm>
          <a:prstGeom prst="rect">
            <a:avLst/>
          </a:prstGeom>
          <a:noFill/>
          <a:ln/>
        </p:spPr>
        <p:txBody>
          <a:bodyPr wrap="square" lIns="1397" tIns="1397" rIns="1397" bIns="1397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F97316"/>
                </a:solidFill>
              </a:rPr>
              <a:t>Pourquoi AdamW ? Optimisation stable + régularisation explicite.</a:t>
            </a:r>
            <a:endParaRPr lang="en-US" sz="1400" dirty="0"/>
          </a:p>
        </p:txBody>
      </p:sp>
      <p:sp>
        <p:nvSpPr>
          <p:cNvPr id="24" name="Text 22"/>
          <p:cNvSpPr/>
          <p:nvPr/>
        </p:nvSpPr>
        <p:spPr>
          <a:xfrm>
            <a:off x="502920" y="6473952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Projet voiture miniature autonome • Vision-based decision making</a:t>
            </a:r>
            <a:endParaRPr lang="en-US" sz="750" dirty="0"/>
          </a:p>
        </p:txBody>
      </p:sp>
      <p:sp>
        <p:nvSpPr>
          <p:cNvPr id="25" name="Text 23"/>
          <p:cNvSpPr/>
          <p:nvPr/>
        </p:nvSpPr>
        <p:spPr>
          <a:xfrm>
            <a:off x="11301984" y="6437376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13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502920" y="6336792"/>
            <a:ext cx="112014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Évaluation : mesurer les deux tâches correctement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12064" y="804672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Une accuracy globale seule ne suffit pas.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68680" y="1417320"/>
            <a:ext cx="2057400" cy="502920"/>
          </a:xfrm>
          <a:prstGeom prst="rect">
            <a:avLst/>
          </a:prstGeom>
          <a:solidFill>
            <a:srgbClr val="2563EB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Classification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1005840" y="2148840"/>
            <a:ext cx="3108960" cy="1234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33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Accuracy globale</a:t>
            </a:r>
            <a:endParaRPr lang="en-US" sz="1330" dirty="0"/>
          </a:p>
          <a:p>
            <a:pPr marL="0" indent="0">
              <a:buNone/>
            </a:pPr>
            <a:r>
              <a:rPr lang="en-US" sz="133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Accuracy par classe</a:t>
            </a:r>
            <a:endParaRPr lang="en-US" sz="1330" dirty="0"/>
          </a:p>
          <a:p>
            <a:pPr marL="0" indent="0">
              <a:buNone/>
            </a:pPr>
            <a:r>
              <a:rPr lang="en-US" sz="133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Classification report</a:t>
            </a:r>
            <a:endParaRPr lang="en-US" sz="1330" dirty="0"/>
          </a:p>
          <a:p>
            <a:pPr marL="0" indent="0">
              <a:buNone/>
            </a:pPr>
            <a:r>
              <a:rPr lang="en-US" sz="133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Matrice de confusion</a:t>
            </a:r>
            <a:endParaRPr lang="en-US" sz="1330" dirty="0"/>
          </a:p>
        </p:txBody>
      </p:sp>
      <p:sp>
        <p:nvSpPr>
          <p:cNvPr id="6" name="Text 4"/>
          <p:cNvSpPr/>
          <p:nvPr/>
        </p:nvSpPr>
        <p:spPr>
          <a:xfrm>
            <a:off x="4709160" y="1417320"/>
            <a:ext cx="2331720" cy="502920"/>
          </a:xfrm>
          <a:prstGeom prst="rect">
            <a:avLst/>
          </a:prstGeom>
          <a:solidFill>
            <a:srgbClr val="22C55E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Régression vitesses</a:t>
            </a:r>
            <a:endParaRPr lang="en-US" sz="1500" dirty="0"/>
          </a:p>
        </p:txBody>
      </p:sp>
      <p:sp>
        <p:nvSpPr>
          <p:cNvPr id="7" name="Text 5"/>
          <p:cNvSpPr/>
          <p:nvPr/>
        </p:nvSpPr>
        <p:spPr>
          <a:xfrm>
            <a:off x="4846320" y="2148840"/>
            <a:ext cx="3200400" cy="1234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33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MAE speedA/speedB</a:t>
            </a:r>
            <a:endParaRPr lang="en-US" sz="1330" dirty="0"/>
          </a:p>
          <a:p>
            <a:pPr marL="0" indent="0">
              <a:buNone/>
            </a:pPr>
            <a:r>
              <a:rPr lang="en-US" sz="133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RMSE speedA/speedB</a:t>
            </a:r>
            <a:endParaRPr lang="en-US" sz="1330" dirty="0"/>
          </a:p>
          <a:p>
            <a:pPr marL="0" indent="0">
              <a:buNone/>
            </a:pPr>
            <a:r>
              <a:rPr lang="en-US" sz="133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Erreurs image par image</a:t>
            </a:r>
            <a:endParaRPr lang="en-US" sz="1330" dirty="0"/>
          </a:p>
          <a:p>
            <a:pPr marL="0" indent="0">
              <a:buNone/>
            </a:pPr>
            <a:r>
              <a:rPr lang="en-US" sz="133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Analyse des sorties saturées</a:t>
            </a:r>
            <a:endParaRPr lang="en-US" sz="1330" dirty="0"/>
          </a:p>
        </p:txBody>
      </p:sp>
      <p:sp>
        <p:nvSpPr>
          <p:cNvPr id="8" name="Text 6"/>
          <p:cNvSpPr/>
          <p:nvPr/>
        </p:nvSpPr>
        <p:spPr>
          <a:xfrm>
            <a:off x="8732520" y="1417320"/>
            <a:ext cx="1965960" cy="502920"/>
          </a:xfrm>
          <a:prstGeom prst="rect">
            <a:avLst/>
          </a:prstGeom>
          <a:solidFill>
            <a:srgbClr val="F97316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FFFFFF"/>
                </a:solidFill>
              </a:rPr>
              <a:t>Diagnostic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8823960" y="2148840"/>
            <a:ext cx="2651760" cy="123444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33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Confusion left/right</a:t>
            </a:r>
            <a:endParaRPr lang="en-US" sz="1330" dirty="0"/>
          </a:p>
          <a:p>
            <a:pPr marL="0" indent="0">
              <a:buNone/>
            </a:pPr>
            <a:r>
              <a:rPr lang="en-US" sz="133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Biais forward</a:t>
            </a:r>
            <a:endParaRPr lang="en-US" sz="1330" dirty="0"/>
          </a:p>
          <a:p>
            <a:pPr marL="0" indent="0">
              <a:buNone/>
            </a:pPr>
            <a:r>
              <a:rPr lang="en-US" sz="133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Effet luminosité</a:t>
            </a:r>
            <a:endParaRPr lang="en-US" sz="1330" dirty="0"/>
          </a:p>
          <a:p>
            <a:pPr marL="0" indent="0">
              <a:buNone/>
            </a:pPr>
            <a:r>
              <a:rPr lang="en-US" sz="133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Ambiguïté visuelle</a:t>
            </a:r>
            <a:endParaRPr lang="en-US" sz="1330" dirty="0"/>
          </a:p>
        </p:txBody>
      </p:sp>
      <p:sp>
        <p:nvSpPr>
          <p:cNvPr id="10" name="Text 8"/>
          <p:cNvSpPr/>
          <p:nvPr/>
        </p:nvSpPr>
        <p:spPr>
          <a:xfrm>
            <a:off x="1005840" y="4325112"/>
            <a:ext cx="9875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4748B"/>
                </a:solidFill>
              </a:rPr>
              <a:t>script evaluate.py</a:t>
            </a:r>
            <a:endParaRPr lang="en-US" sz="750" dirty="0"/>
          </a:p>
        </p:txBody>
      </p:sp>
      <p:sp>
        <p:nvSpPr>
          <p:cNvPr id="11" name="Text 9"/>
          <p:cNvSpPr/>
          <p:nvPr/>
        </p:nvSpPr>
        <p:spPr>
          <a:xfrm>
            <a:off x="1005840" y="4572000"/>
            <a:ext cx="9875520" cy="841248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>
              <a:buNone/>
            </a:pPr>
            <a:r>
              <a:rPr lang="en-US" sz="950" dirty="0">
                <a:solidFill>
                  <a:srgbClr val="E5E7EB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classification_report(y_true, y_pred)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5E7EB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confusion_matrix(y_true, y_pred)</a:t>
            </a:r>
            <a:endParaRPr lang="en-US" sz="950" dirty="0"/>
          </a:p>
          <a:p>
            <a:pPr marL="0" indent="0">
              <a:buNone/>
            </a:pP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5E7EB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MAE  = mean_absolute_error(true_speeds, pred_speeds)</a:t>
            </a:r>
            <a:endParaRPr lang="en-US" sz="950" dirty="0"/>
          </a:p>
          <a:p>
            <a:pPr marL="0" indent="0">
              <a:buNone/>
            </a:pPr>
            <a:r>
              <a:rPr lang="en-US" sz="950" dirty="0">
                <a:solidFill>
                  <a:srgbClr val="E5E7EB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RMSE = sqrt(mean_squared_error(true_speeds, pred_speeds))</a:t>
            </a:r>
            <a:endParaRPr lang="en-US" sz="950" dirty="0"/>
          </a:p>
        </p:txBody>
      </p:sp>
      <p:sp>
        <p:nvSpPr>
          <p:cNvPr id="12" name="Text 10"/>
          <p:cNvSpPr/>
          <p:nvPr/>
        </p:nvSpPr>
        <p:spPr>
          <a:xfrm>
            <a:off x="502920" y="6473952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Projet voiture miniature autonome • Vision-based decision making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1301984" y="6437376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14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502920" y="6336792"/>
            <a:ext cx="112014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Résultats obtenus : lecture technique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12064" y="804672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 modèle apprend, mais le diagnostic par classe révèle les axes d’amélioration.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777240" y="123444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2C55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0.9139</a:t>
            </a:r>
            <a:endParaRPr lang="en-US" sz="2800" dirty="0"/>
          </a:p>
        </p:txBody>
      </p:sp>
      <p:sp>
        <p:nvSpPr>
          <p:cNvPr id="5" name="Text 3"/>
          <p:cNvSpPr/>
          <p:nvPr/>
        </p:nvSpPr>
        <p:spPr>
          <a:xfrm>
            <a:off x="777240" y="1737360"/>
            <a:ext cx="2743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meilleure accuracy validation observée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611880" y="1234440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800" b="1" dirty="0">
                <a:solidFill>
                  <a:srgbClr val="2563E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0.8014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3611880" y="1737360"/>
            <a:ext cx="2560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4748B"/>
                </a:solidFill>
              </a:rPr>
              <a:t>accuracy finale sur test</a:t>
            </a:r>
            <a:endParaRPr lang="en-US" sz="950" dirty="0"/>
          </a:p>
        </p:txBody>
      </p:sp>
      <p:sp>
        <p:nvSpPr>
          <p:cNvPr id="8" name="Text 6"/>
          <p:cNvSpPr/>
          <p:nvPr/>
        </p:nvSpPr>
        <p:spPr>
          <a:xfrm>
            <a:off x="868680" y="242316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Accuracy par classe sur test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868680" y="27889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</a:rPr>
              <a:t>left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1874520" y="2816352"/>
            <a:ext cx="2926080" cy="15544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874520" y="2816352"/>
            <a:ext cx="2097122" cy="155448"/>
          </a:xfrm>
          <a:prstGeom prst="rect">
            <a:avLst/>
          </a:prstGeom>
          <a:solidFill>
            <a:srgbClr val="F97316"/>
          </a:solidFill>
          <a:ln w="12700">
            <a:solidFill>
              <a:srgbClr val="F97316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4892040" y="277063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11827"/>
                </a:solidFill>
              </a:rPr>
              <a:t>71.7%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868680" y="329184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</a:rPr>
              <a:t>forward</a:t>
            </a:r>
            <a:endParaRPr lang="en-US" sz="1050" dirty="0"/>
          </a:p>
        </p:txBody>
      </p:sp>
      <p:sp>
        <p:nvSpPr>
          <p:cNvPr id="14" name="Shape 12"/>
          <p:cNvSpPr/>
          <p:nvPr/>
        </p:nvSpPr>
        <p:spPr>
          <a:xfrm>
            <a:off x="1874520" y="3319272"/>
            <a:ext cx="2926080" cy="15544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74520" y="3319272"/>
            <a:ext cx="1913071" cy="155448"/>
          </a:xfrm>
          <a:prstGeom prst="rect">
            <a:avLst/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92040" y="327355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11827"/>
                </a:solidFill>
              </a:rPr>
              <a:t>65.4%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868680" y="379476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475569"/>
                </a:solidFill>
              </a:rPr>
              <a:t>right</a:t>
            </a:r>
            <a:endParaRPr lang="en-US" sz="1050" dirty="0"/>
          </a:p>
        </p:txBody>
      </p:sp>
      <p:sp>
        <p:nvSpPr>
          <p:cNvPr id="18" name="Shape 16"/>
          <p:cNvSpPr/>
          <p:nvPr/>
        </p:nvSpPr>
        <p:spPr>
          <a:xfrm>
            <a:off x="1874520" y="3822192"/>
            <a:ext cx="2926080" cy="155448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1874520" y="3822192"/>
            <a:ext cx="2779776" cy="155448"/>
          </a:xfrm>
          <a:prstGeom prst="rect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892040" y="3776472"/>
            <a:ext cx="7315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11827"/>
                </a:solidFill>
              </a:rPr>
              <a:t>95.0%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629400" y="1216152"/>
            <a:ext cx="292608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827"/>
                </a:solidFill>
              </a:rPr>
              <a:t>Matrice de confusion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7543800" y="1554480"/>
            <a:ext cx="7498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</a:rPr>
              <a:t>left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8293608" y="1554480"/>
            <a:ext cx="7498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</a:rPr>
              <a:t>forward</a:t>
            </a:r>
            <a:endParaRPr lang="en-US" sz="850" dirty="0"/>
          </a:p>
        </p:txBody>
      </p:sp>
      <p:sp>
        <p:nvSpPr>
          <p:cNvPr id="24" name="Text 22"/>
          <p:cNvSpPr/>
          <p:nvPr/>
        </p:nvSpPr>
        <p:spPr>
          <a:xfrm>
            <a:off x="9043416" y="1554480"/>
            <a:ext cx="749808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</a:rPr>
              <a:t>right</a:t>
            </a:r>
            <a:endParaRPr lang="en-US" sz="850" dirty="0"/>
          </a:p>
        </p:txBody>
      </p:sp>
      <p:sp>
        <p:nvSpPr>
          <p:cNvPr id="25" name="Text 23"/>
          <p:cNvSpPr/>
          <p:nvPr/>
        </p:nvSpPr>
        <p:spPr>
          <a:xfrm>
            <a:off x="6583680" y="2011680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4748B"/>
                </a:solidFill>
              </a:rPr>
              <a:t>left</a:t>
            </a:r>
            <a:endParaRPr lang="en-US" sz="850" dirty="0"/>
          </a:p>
        </p:txBody>
      </p:sp>
      <p:sp>
        <p:nvSpPr>
          <p:cNvPr id="26" name="Text 24"/>
          <p:cNvSpPr/>
          <p:nvPr/>
        </p:nvSpPr>
        <p:spPr>
          <a:xfrm>
            <a:off x="6583680" y="2514600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4748B"/>
                </a:solidFill>
              </a:rPr>
              <a:t>forward</a:t>
            </a:r>
            <a:endParaRPr lang="en-US" sz="850" dirty="0"/>
          </a:p>
        </p:txBody>
      </p:sp>
      <p:sp>
        <p:nvSpPr>
          <p:cNvPr id="27" name="Text 25"/>
          <p:cNvSpPr/>
          <p:nvPr/>
        </p:nvSpPr>
        <p:spPr>
          <a:xfrm>
            <a:off x="6583680" y="3017520"/>
            <a:ext cx="7772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dirty="0">
                <a:solidFill>
                  <a:srgbClr val="64748B"/>
                </a:solidFill>
              </a:rPr>
              <a:t>right</a:t>
            </a:r>
            <a:endParaRPr lang="en-US" sz="850" dirty="0"/>
          </a:p>
        </p:txBody>
      </p:sp>
      <p:sp>
        <p:nvSpPr>
          <p:cNvPr id="28" name="Text 26"/>
          <p:cNvSpPr/>
          <p:nvPr/>
        </p:nvSpPr>
        <p:spPr>
          <a:xfrm>
            <a:off x="7543800" y="1947672"/>
            <a:ext cx="749808" cy="502920"/>
          </a:xfrm>
          <a:prstGeom prst="rect">
            <a:avLst/>
          </a:prstGeom>
          <a:solidFill>
            <a:srgbClr val="1D4ED8"/>
          </a:solidFill>
          <a:ln w="12700">
            <a:solidFill>
              <a:srgbClr val="FFFFFF"/>
            </a:solidFill>
          </a:ln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43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8293608" y="1947672"/>
            <a:ext cx="749808" cy="502920"/>
          </a:xfrm>
          <a:prstGeom prst="rect">
            <a:avLst/>
          </a:prstGeom>
          <a:solidFill>
            <a:srgbClr val="F8FAFC"/>
          </a:solidFill>
          <a:ln w="12700">
            <a:solidFill>
              <a:srgbClr val="FFFFFF"/>
            </a:solidFill>
          </a:ln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11827"/>
                </a:solidFill>
              </a:rPr>
              <a:t>0</a:t>
            </a:r>
            <a:endParaRPr lang="en-US" sz="1300" dirty="0"/>
          </a:p>
        </p:txBody>
      </p:sp>
      <p:sp>
        <p:nvSpPr>
          <p:cNvPr id="30" name="Text 28"/>
          <p:cNvSpPr/>
          <p:nvPr/>
        </p:nvSpPr>
        <p:spPr>
          <a:xfrm>
            <a:off x="9043416" y="1947672"/>
            <a:ext cx="749808" cy="502920"/>
          </a:xfrm>
          <a:prstGeom prst="rect">
            <a:avLst/>
          </a:prstGeom>
          <a:solidFill>
            <a:srgbClr val="DBEAFE"/>
          </a:solidFill>
          <a:ln w="12700">
            <a:solidFill>
              <a:srgbClr val="FFFFFF"/>
            </a:solidFill>
          </a:ln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11827"/>
                </a:solidFill>
              </a:rPr>
              <a:t>17</a:t>
            </a:r>
            <a:endParaRPr lang="en-US" sz="1300" dirty="0"/>
          </a:p>
        </p:txBody>
      </p:sp>
      <p:sp>
        <p:nvSpPr>
          <p:cNvPr id="31" name="Text 29"/>
          <p:cNvSpPr/>
          <p:nvPr/>
        </p:nvSpPr>
        <p:spPr>
          <a:xfrm>
            <a:off x="7543800" y="2450592"/>
            <a:ext cx="749808" cy="502920"/>
          </a:xfrm>
          <a:prstGeom prst="rect">
            <a:avLst/>
          </a:prstGeom>
          <a:solidFill>
            <a:srgbClr val="DBEAFE"/>
          </a:solidFill>
          <a:ln w="12700">
            <a:solidFill>
              <a:srgbClr val="FFFFFF"/>
            </a:solidFill>
          </a:ln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11827"/>
                </a:solidFill>
              </a:rPr>
              <a:t>3</a:t>
            </a:r>
            <a:endParaRPr lang="en-US" sz="1300" dirty="0"/>
          </a:p>
        </p:txBody>
      </p:sp>
      <p:sp>
        <p:nvSpPr>
          <p:cNvPr id="32" name="Text 30"/>
          <p:cNvSpPr/>
          <p:nvPr/>
        </p:nvSpPr>
        <p:spPr>
          <a:xfrm>
            <a:off x="8293608" y="2450592"/>
            <a:ext cx="749808" cy="502920"/>
          </a:xfrm>
          <a:prstGeom prst="rect">
            <a:avLst/>
          </a:prstGeom>
          <a:solidFill>
            <a:srgbClr val="DBEAFE"/>
          </a:solidFill>
          <a:ln w="12700">
            <a:solidFill>
              <a:srgbClr val="FFFFFF"/>
            </a:solidFill>
          </a:ln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11827"/>
                </a:solidFill>
              </a:rPr>
              <a:t>17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9043416" y="2450592"/>
            <a:ext cx="749808" cy="502920"/>
          </a:xfrm>
          <a:prstGeom prst="rect">
            <a:avLst/>
          </a:prstGeom>
          <a:solidFill>
            <a:srgbClr val="DBEAFE"/>
          </a:solidFill>
          <a:ln w="12700">
            <a:solidFill>
              <a:srgbClr val="FFFFFF"/>
            </a:solidFill>
          </a:ln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11827"/>
                </a:solidFill>
              </a:rPr>
              <a:t>6</a:t>
            </a:r>
            <a:endParaRPr lang="en-US" sz="1300" dirty="0"/>
          </a:p>
        </p:txBody>
      </p:sp>
      <p:sp>
        <p:nvSpPr>
          <p:cNvPr id="34" name="Text 32"/>
          <p:cNvSpPr/>
          <p:nvPr/>
        </p:nvSpPr>
        <p:spPr>
          <a:xfrm>
            <a:off x="7543800" y="2953512"/>
            <a:ext cx="749808" cy="502920"/>
          </a:xfrm>
          <a:prstGeom prst="rect">
            <a:avLst/>
          </a:prstGeom>
          <a:solidFill>
            <a:srgbClr val="DBEAFE"/>
          </a:solidFill>
          <a:ln w="12700">
            <a:solidFill>
              <a:srgbClr val="FFFFFF"/>
            </a:solidFill>
          </a:ln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11827"/>
                </a:solidFill>
              </a:rPr>
              <a:t>1</a:t>
            </a:r>
            <a:endParaRPr lang="en-US" sz="1300" dirty="0"/>
          </a:p>
        </p:txBody>
      </p:sp>
      <p:sp>
        <p:nvSpPr>
          <p:cNvPr id="35" name="Text 33"/>
          <p:cNvSpPr/>
          <p:nvPr/>
        </p:nvSpPr>
        <p:spPr>
          <a:xfrm>
            <a:off x="8293608" y="2953512"/>
            <a:ext cx="749808" cy="502920"/>
          </a:xfrm>
          <a:prstGeom prst="rect">
            <a:avLst/>
          </a:prstGeom>
          <a:solidFill>
            <a:srgbClr val="DBEAFE"/>
          </a:solidFill>
          <a:ln w="12700">
            <a:solidFill>
              <a:srgbClr val="FFFFFF"/>
            </a:solidFill>
          </a:ln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11827"/>
                </a:solidFill>
              </a:rPr>
              <a:t>2</a:t>
            </a:r>
            <a:endParaRPr lang="en-US" sz="1300" dirty="0"/>
          </a:p>
        </p:txBody>
      </p:sp>
      <p:sp>
        <p:nvSpPr>
          <p:cNvPr id="36" name="Text 34"/>
          <p:cNvSpPr/>
          <p:nvPr/>
        </p:nvSpPr>
        <p:spPr>
          <a:xfrm>
            <a:off x="9043416" y="2953512"/>
            <a:ext cx="749808" cy="502920"/>
          </a:xfrm>
          <a:prstGeom prst="rect">
            <a:avLst/>
          </a:prstGeom>
          <a:solidFill>
            <a:srgbClr val="1D4ED8"/>
          </a:solidFill>
          <a:ln w="12700">
            <a:solidFill>
              <a:srgbClr val="FFFFFF"/>
            </a:solidFill>
          </a:ln>
        </p:spPr>
        <p:txBody>
          <a:bodyPr wrap="square" lIns="254" tIns="254" rIns="254" bIns="254" rtlCol="0" anchor="ctr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FFFFFF"/>
                </a:solidFill>
              </a:rPr>
              <a:t>57</a:t>
            </a:r>
            <a:endParaRPr lang="en-US" sz="1300" dirty="0"/>
          </a:p>
        </p:txBody>
      </p:sp>
      <p:sp>
        <p:nvSpPr>
          <p:cNvPr id="37" name="Text 35"/>
          <p:cNvSpPr/>
          <p:nvPr/>
        </p:nvSpPr>
        <p:spPr>
          <a:xfrm>
            <a:off x="6492240" y="3657600"/>
            <a:ext cx="4846320" cy="10515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Right est très bien reconnu.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Forward reste la classe la plus fragile.</a:t>
            </a:r>
            <a:endParaRPr lang="en-US" sz="1250" dirty="0"/>
          </a:p>
          <a:p>
            <a:pPr marL="0" indent="0">
              <a:buNone/>
            </a:pPr>
            <a:r>
              <a:rPr lang="en-US" sz="125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Left confondu avec right dans plusieurs cas : virages visuellement ambigus ou labels limites.</a:t>
            </a:r>
            <a:endParaRPr lang="en-US" sz="1250" dirty="0"/>
          </a:p>
        </p:txBody>
      </p:sp>
      <p:sp>
        <p:nvSpPr>
          <p:cNvPr id="38" name="Text 36"/>
          <p:cNvSpPr/>
          <p:nvPr/>
        </p:nvSpPr>
        <p:spPr>
          <a:xfrm>
            <a:off x="502920" y="6473952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Projet voiture miniature autonome • Vision-based decision making</a:t>
            </a:r>
            <a:endParaRPr lang="en-US" sz="750" dirty="0"/>
          </a:p>
        </p:txBody>
      </p:sp>
      <p:sp>
        <p:nvSpPr>
          <p:cNvPr id="39" name="Text 37"/>
          <p:cNvSpPr/>
          <p:nvPr/>
        </p:nvSpPr>
        <p:spPr>
          <a:xfrm>
            <a:off x="11301984" y="6437376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</a:t>
            </a:r>
            <a:endParaRPr lang="en-US" sz="800" dirty="0"/>
          </a:p>
        </p:txBody>
      </p:sp>
      <p:sp>
        <p:nvSpPr>
          <p:cNvPr id="40" name="Shape 38"/>
          <p:cNvSpPr/>
          <p:nvPr/>
        </p:nvSpPr>
        <p:spPr>
          <a:xfrm>
            <a:off x="502920" y="6336792"/>
            <a:ext cx="112014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Comment interpréter les résultats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12064" y="804672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performance brute doit être transformée en décision d’ingénierie.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22960" y="128016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22C55E"/>
                </a:solidFill>
              </a:rPr>
              <a:t>BON SIGNE</a:t>
            </a:r>
            <a:endParaRPr lang="en-US" sz="750" dirty="0"/>
          </a:p>
        </p:txBody>
      </p:sp>
      <p:sp>
        <p:nvSpPr>
          <p:cNvPr id="5" name="Text 3"/>
          <p:cNvSpPr/>
          <p:nvPr/>
        </p:nvSpPr>
        <p:spPr>
          <a:xfrm>
            <a:off x="822960" y="1645920"/>
            <a:ext cx="4983480" cy="12801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32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Validation élevée : le réseau extrait bien des indices visuels.</a:t>
            </a:r>
            <a:endParaRPr lang="en-US" sz="1320" dirty="0"/>
          </a:p>
          <a:p>
            <a:pPr marL="0" indent="0">
              <a:buNone/>
            </a:pPr>
            <a:r>
              <a:rPr lang="en-US" sz="132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Test à 80 % : comportement exploitable pour analyse hors-ligne.</a:t>
            </a:r>
            <a:endParaRPr lang="en-US" sz="1320" dirty="0"/>
          </a:p>
          <a:p>
            <a:pPr marL="0" indent="0">
              <a:buNone/>
            </a:pPr>
            <a:r>
              <a:rPr lang="en-US" sz="132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Right très robuste : classe bien représentée ou visuellement marquée.</a:t>
            </a:r>
            <a:endParaRPr lang="en-US" sz="1320" dirty="0"/>
          </a:p>
        </p:txBody>
      </p:sp>
      <p:sp>
        <p:nvSpPr>
          <p:cNvPr id="6" name="Text 4"/>
          <p:cNvSpPr/>
          <p:nvPr/>
        </p:nvSpPr>
        <p:spPr>
          <a:xfrm>
            <a:off x="6355080" y="1280160"/>
            <a:ext cx="20116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EF4444"/>
                </a:solidFill>
              </a:rPr>
              <a:t>ALERTE</a:t>
            </a:r>
            <a:endParaRPr lang="en-US" sz="750" dirty="0"/>
          </a:p>
        </p:txBody>
      </p:sp>
      <p:sp>
        <p:nvSpPr>
          <p:cNvPr id="7" name="Text 5"/>
          <p:cNvSpPr/>
          <p:nvPr/>
        </p:nvSpPr>
        <p:spPr>
          <a:xfrm>
            <a:off x="6355080" y="1645920"/>
            <a:ext cx="4754880" cy="128016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32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Écart validation/test : possible sur-apprentissage au circuit.</a:t>
            </a:r>
            <a:endParaRPr lang="en-US" sz="1320" dirty="0"/>
          </a:p>
          <a:p>
            <a:pPr marL="0" indent="0">
              <a:buNone/>
            </a:pPr>
            <a:r>
              <a:rPr lang="en-US" sz="132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Forward faible : ambiguïté entre aller droit et virage léger.</a:t>
            </a:r>
            <a:endParaRPr lang="en-US" sz="1320" dirty="0"/>
          </a:p>
          <a:p>
            <a:pPr marL="0" indent="0">
              <a:buNone/>
            </a:pPr>
            <a:r>
              <a:rPr lang="en-US" sz="132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Left/right : vérifier labels, flip et scènes limites.</a:t>
            </a:r>
            <a:endParaRPr lang="en-US" sz="1320" dirty="0"/>
          </a:p>
        </p:txBody>
      </p:sp>
      <p:sp>
        <p:nvSpPr>
          <p:cNvPr id="8" name="Shape 6"/>
          <p:cNvSpPr/>
          <p:nvPr/>
        </p:nvSpPr>
        <p:spPr>
          <a:xfrm>
            <a:off x="868680" y="5440680"/>
            <a:ext cx="4023360" cy="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868680" y="4251960"/>
            <a:ext cx="0" cy="1188720"/>
          </a:xfrm>
          <a:prstGeom prst="line">
            <a:avLst/>
          </a:prstGeom>
          <a:noFill/>
          <a:ln w="12700">
            <a:solidFill>
              <a:srgbClr val="CBD5E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1005840" y="5148072"/>
            <a:ext cx="885139" cy="0"/>
          </a:xfrm>
          <a:prstGeom prst="line">
            <a:avLst/>
          </a:prstGeom>
          <a:noFill/>
          <a:ln w="25400">
            <a:solidFill>
              <a:srgbClr val="2563EB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>
            <a:off x="1890979" y="4892040"/>
            <a:ext cx="885139" cy="0"/>
          </a:xfrm>
          <a:prstGeom prst="line">
            <a:avLst/>
          </a:prstGeom>
          <a:noFill/>
          <a:ln w="25400">
            <a:solidFill>
              <a:srgbClr val="2563EB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2776118" y="4480560"/>
            <a:ext cx="925373" cy="0"/>
          </a:xfrm>
          <a:prstGeom prst="line">
            <a:avLst/>
          </a:prstGeom>
          <a:noFill/>
          <a:ln w="25400">
            <a:solidFill>
              <a:srgbClr val="2563EB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701491" y="4251960"/>
            <a:ext cx="804672" cy="0"/>
          </a:xfrm>
          <a:prstGeom prst="line">
            <a:avLst/>
          </a:prstGeom>
          <a:noFill/>
          <a:ln w="25400">
            <a:solidFill>
              <a:srgbClr val="2563EB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1005840" y="4599432"/>
            <a:ext cx="885139" cy="219456"/>
          </a:xfrm>
          <a:prstGeom prst="line">
            <a:avLst/>
          </a:prstGeom>
          <a:noFill/>
          <a:ln w="25400">
            <a:solidFill>
              <a:srgbClr val="F9731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1890979" y="4818888"/>
            <a:ext cx="885139" cy="347472"/>
          </a:xfrm>
          <a:prstGeom prst="line">
            <a:avLst/>
          </a:prstGeom>
          <a:noFill/>
          <a:ln w="25400">
            <a:solidFill>
              <a:srgbClr val="F9731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2776118" y="5166360"/>
            <a:ext cx="925373" cy="256032"/>
          </a:xfrm>
          <a:prstGeom prst="line">
            <a:avLst/>
          </a:prstGeom>
          <a:noFill/>
          <a:ln w="25400">
            <a:solidFill>
              <a:srgbClr val="F97316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932688" y="4005072"/>
            <a:ext cx="10058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</a:rPr>
              <a:t>accuracy ↑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4160520" y="4297680"/>
            <a:ext cx="54864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</a:rPr>
              <a:t>loss ↓</a:t>
            </a:r>
            <a:endParaRPr lang="en-US" sz="750" dirty="0"/>
          </a:p>
        </p:txBody>
      </p:sp>
      <p:sp>
        <p:nvSpPr>
          <p:cNvPr id="19" name="Text 17"/>
          <p:cNvSpPr/>
          <p:nvPr/>
        </p:nvSpPr>
        <p:spPr>
          <a:xfrm>
            <a:off x="5486400" y="4069080"/>
            <a:ext cx="5394960" cy="411480"/>
          </a:xfrm>
          <a:prstGeom prst="rect">
            <a:avLst/>
          </a:prstGeom>
          <a:noFill/>
          <a:ln/>
        </p:spPr>
        <p:txBody>
          <a:bodyPr wrap="square" lIns="1397" tIns="1397" rIns="1397" bIns="1397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2563EB"/>
                </a:solidFill>
              </a:rPr>
              <a:t>Si train loss ↓ mais test stagne : augmenter diversité et régularisation.</a:t>
            </a:r>
            <a:endParaRPr lang="en-US" sz="1400" dirty="0"/>
          </a:p>
        </p:txBody>
      </p:sp>
      <p:sp>
        <p:nvSpPr>
          <p:cNvPr id="20" name="Text 18"/>
          <p:cNvSpPr/>
          <p:nvPr/>
        </p:nvSpPr>
        <p:spPr>
          <a:xfrm>
            <a:off x="5486400" y="4800600"/>
            <a:ext cx="5394960" cy="411480"/>
          </a:xfrm>
          <a:prstGeom prst="rect">
            <a:avLst/>
          </a:prstGeom>
          <a:noFill/>
          <a:ln/>
        </p:spPr>
        <p:txBody>
          <a:bodyPr wrap="square" lIns="1397" tIns="1397" rIns="1397" bIns="1397" rtlCol="0" anchor="ctr">
            <a:normAutofit lnSpcReduction="10000"/>
          </a:bodyPr>
          <a:lstStyle/>
          <a:p>
            <a:pPr marL="0" indent="0">
              <a:buNone/>
            </a:pPr>
            <a:r>
              <a:rPr lang="en-US" sz="1400" b="1" dirty="0">
                <a:solidFill>
                  <a:srgbClr val="F97316"/>
                </a:solidFill>
              </a:rPr>
              <a:t>Si une classe &lt; 70 % : corriger dataset/labels avant de complexifier le réseau.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502920" y="6473952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Projet voiture miniature autonome • Vision-based decision making</a:t>
            </a:r>
            <a:endParaRPr lang="en-US" sz="750" dirty="0"/>
          </a:p>
        </p:txBody>
      </p:sp>
      <p:sp>
        <p:nvSpPr>
          <p:cNvPr id="22" name="Text 20"/>
          <p:cNvSpPr/>
          <p:nvPr/>
        </p:nvSpPr>
        <p:spPr>
          <a:xfrm>
            <a:off x="11301984" y="6437376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16</a:t>
            </a:r>
            <a:endParaRPr lang="en-US" sz="800" dirty="0"/>
          </a:p>
        </p:txBody>
      </p:sp>
      <p:sp>
        <p:nvSpPr>
          <p:cNvPr id="23" name="Shape 21"/>
          <p:cNvSpPr/>
          <p:nvPr/>
        </p:nvSpPr>
        <p:spPr>
          <a:xfrm>
            <a:off x="502920" y="6336792"/>
            <a:ext cx="112014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Effet des prétraitements et fréquences d’échantillonnage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12064" y="804672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La donnée pilote souvent plus la performance que l’architecture.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22960" y="1417320"/>
            <a:ext cx="2240280" cy="594360"/>
          </a:xfrm>
          <a:prstGeom prst="rect">
            <a:avLst/>
          </a:prstGeom>
          <a:solidFill>
            <a:srgbClr val="FEE2E2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11827"/>
                </a:solidFill>
              </a:rPr>
              <a:t>fréquence trop élevée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914400" y="2148840"/>
            <a:ext cx="246888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Images quasi identiques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Redondance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Risque de fuite temporelle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4892040" y="1417320"/>
            <a:ext cx="2240280" cy="594360"/>
          </a:xfrm>
          <a:prstGeom prst="rect">
            <a:avLst/>
          </a:prstGeom>
          <a:solidFill>
            <a:srgbClr val="DCFCE7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11827"/>
                </a:solidFill>
              </a:rPr>
              <a:t>fréquence équilibrée</a:t>
            </a:r>
            <a:endParaRPr lang="en-US" sz="1300" dirty="0"/>
          </a:p>
        </p:txBody>
      </p:sp>
      <p:sp>
        <p:nvSpPr>
          <p:cNvPr id="7" name="Text 5"/>
          <p:cNvSpPr/>
          <p:nvPr/>
        </p:nvSpPr>
        <p:spPr>
          <a:xfrm>
            <a:off x="4983480" y="2148840"/>
            <a:ext cx="246888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Transitions conservées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Labels homogènes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Bon compromis bruit/dynamique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8961120" y="1417320"/>
            <a:ext cx="2240280" cy="594360"/>
          </a:xfrm>
          <a:prstGeom prst="rect">
            <a:avLst/>
          </a:prstGeom>
          <a:solidFill>
            <a:srgbClr val="FEF3C7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111827"/>
                </a:solidFill>
              </a:rPr>
              <a:t>fréquence trop faible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9052560" y="2148840"/>
            <a:ext cx="2377440" cy="9144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Virages ratés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Perte de précision</a:t>
            </a: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Action mal alignée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3246120" y="1709928"/>
            <a:ext cx="1417320" cy="0"/>
          </a:xfrm>
          <a:prstGeom prst="line">
            <a:avLst/>
          </a:prstGeom>
          <a:noFill/>
          <a:ln w="17780">
            <a:solidFill>
              <a:srgbClr val="CBD5E1"/>
            </a:solidFill>
            <a:prstDash val="solid"/>
            <a:headEnd type="none"/>
            <a:tailEnd type="triangle"/>
          </a:ln>
        </p:spPr>
      </p:sp>
      <p:sp>
        <p:nvSpPr>
          <p:cNvPr id="11" name="Shape 9"/>
          <p:cNvSpPr/>
          <p:nvPr/>
        </p:nvSpPr>
        <p:spPr>
          <a:xfrm>
            <a:off x="7315200" y="1709928"/>
            <a:ext cx="1417320" cy="0"/>
          </a:xfrm>
          <a:prstGeom prst="line">
            <a:avLst/>
          </a:prstGeom>
          <a:noFill/>
          <a:ln w="17780">
            <a:solidFill>
              <a:srgbClr val="CBD5E1"/>
            </a:solidFill>
            <a:prstDash val="solid"/>
            <a:headEnd type="none"/>
            <a:tailEnd type="triangle"/>
          </a:ln>
        </p:spPr>
      </p:sp>
      <p:sp>
        <p:nvSpPr>
          <p:cNvPr id="12" name="Text 10"/>
          <p:cNvSpPr/>
          <p:nvPr/>
        </p:nvSpPr>
        <p:spPr>
          <a:xfrm>
            <a:off x="1143000" y="4123944"/>
            <a:ext cx="987552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b="1" dirty="0">
                <a:solidFill>
                  <a:srgbClr val="64748B"/>
                </a:solidFill>
              </a:rPr>
              <a:t>plan expérimental attendu</a:t>
            </a:r>
            <a:endParaRPr lang="en-US" sz="750" dirty="0"/>
          </a:p>
        </p:txBody>
      </p:sp>
      <p:sp>
        <p:nvSpPr>
          <p:cNvPr id="13" name="Text 11"/>
          <p:cNvSpPr/>
          <p:nvPr/>
        </p:nvSpPr>
        <p:spPr>
          <a:xfrm>
            <a:off x="1143000" y="4370832"/>
            <a:ext cx="9875520" cy="987552"/>
          </a:xfrm>
          <a:prstGeom prst="rect">
            <a:avLst/>
          </a:prstGeom>
          <a:solidFill>
            <a:srgbClr val="0F172A"/>
          </a:solidFill>
          <a:ln w="12700">
            <a:solidFill>
              <a:srgbClr val="1E293B"/>
            </a:solidFill>
          </a:ln>
        </p:spPr>
        <p:txBody>
          <a:bodyPr wrap="square" lIns="1524" tIns="1524" rIns="1524" bIns="1524" rtlCol="0" anchor="ctr">
            <a:normAutofit/>
          </a:bodyPr>
          <a:lstStyle/>
          <a:p>
            <a:pPr marL="0" indent="0">
              <a:buNone/>
            </a:pPr>
            <a:r>
              <a:rPr lang="en-US" sz="1100" dirty="0">
                <a:solidFill>
                  <a:srgbClr val="E5E7EB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À comparer expérimentalement :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5E7EB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• sample_period_ms = 100 / 250 / 500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5E7EB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• distribution des image_delta_ms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5E7EB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• accuracy globale + per-class accuracy</a:t>
            </a:r>
            <a:endParaRPr lang="en-US" sz="1100" dirty="0"/>
          </a:p>
          <a:p>
            <a:pPr marL="0" indent="0">
              <a:buNone/>
            </a:pPr>
            <a:r>
              <a:rPr lang="en-US" sz="1100" dirty="0">
                <a:solidFill>
                  <a:srgbClr val="E5E7EB"/>
                </a:solidFill>
                <a:latin typeface="Liberation Mono" pitchFamily="34" charset="0"/>
                <a:ea typeface="Liberation Mono" pitchFamily="34" charset="-122"/>
                <a:cs typeface="Liberation Mono" pitchFamily="34" charset="-120"/>
              </a:rPr>
              <a:t>• confusion matrix sur le même split test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502920" y="6473952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Projet voiture miniature autonome • Vision-based decision making</a:t>
            </a:r>
            <a:endParaRPr lang="en-US" sz="750" dirty="0"/>
          </a:p>
        </p:txBody>
      </p:sp>
      <p:sp>
        <p:nvSpPr>
          <p:cNvPr id="15" name="Text 13"/>
          <p:cNvSpPr/>
          <p:nvPr/>
        </p:nvSpPr>
        <p:spPr>
          <a:xfrm>
            <a:off x="11301984" y="6437376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17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502920" y="6336792"/>
            <a:ext cx="112014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Limites identifiées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12064" y="804672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 modèle de vision apprend les corrélations présentes dans le dataset, pas une loi universelle.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68680" y="1417320"/>
            <a:ext cx="411480" cy="411480"/>
          </a:xfrm>
          <a:prstGeom prst="rect">
            <a:avLst/>
          </a:prstGeom>
          <a:solidFill>
            <a:srgbClr val="FEE2E2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508760" y="1399032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11827"/>
                </a:solidFill>
              </a:rPr>
              <a:t>Ambiguïté visuelle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4160520" y="139903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475569"/>
                </a:solidFill>
              </a:rPr>
              <a:t>Une image seule peut ne pas distinguer forward et light turn.</a:t>
            </a:r>
            <a:endParaRPr lang="en-US" sz="1250" dirty="0"/>
          </a:p>
        </p:txBody>
      </p:sp>
      <p:sp>
        <p:nvSpPr>
          <p:cNvPr id="7" name="Text 5"/>
          <p:cNvSpPr/>
          <p:nvPr/>
        </p:nvSpPr>
        <p:spPr>
          <a:xfrm>
            <a:off x="868680" y="2377440"/>
            <a:ext cx="411480" cy="411480"/>
          </a:xfrm>
          <a:prstGeom prst="rect">
            <a:avLst/>
          </a:prstGeom>
          <a:solidFill>
            <a:srgbClr val="FEF3C7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</a:rPr>
              <a:t>2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508760" y="2359152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11827"/>
                </a:solidFill>
              </a:rPr>
              <a:t>Éclairage variable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4160520" y="235915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475569"/>
                </a:solidFill>
              </a:rPr>
              <a:t>Luminosité, reflets et flou modifient les indices de trajectoire.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868680" y="3337560"/>
            <a:ext cx="411480" cy="411480"/>
          </a:xfrm>
          <a:prstGeom prst="rect">
            <a:avLst/>
          </a:prstGeom>
          <a:solidFill>
            <a:srgbClr val="DBEAFE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</a:rPr>
              <a:t>3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508760" y="3319272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11827"/>
                </a:solidFill>
              </a:rPr>
              <a:t>Dataset circuit-spécifique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4160520" y="331927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475569"/>
                </a:solidFill>
              </a:rPr>
              <a:t>Le modèle peut sur-apprendre le tracé utilisé pendant les acquisitions.</a:t>
            </a:r>
            <a:endParaRPr lang="en-US" sz="1250" dirty="0"/>
          </a:p>
        </p:txBody>
      </p:sp>
      <p:sp>
        <p:nvSpPr>
          <p:cNvPr id="13" name="Text 11"/>
          <p:cNvSpPr/>
          <p:nvPr/>
        </p:nvSpPr>
        <p:spPr>
          <a:xfrm>
            <a:off x="868680" y="4297680"/>
            <a:ext cx="411480" cy="411480"/>
          </a:xfrm>
          <a:prstGeom prst="rect">
            <a:avLst/>
          </a:prstGeom>
          <a:solidFill>
            <a:srgbClr val="EDE9FE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</a:rPr>
              <a:t>4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508760" y="4279392"/>
            <a:ext cx="2057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11827"/>
                </a:solidFill>
              </a:rPr>
              <a:t>Temporalité absente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4160520" y="4279392"/>
            <a:ext cx="6583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50" dirty="0">
                <a:solidFill>
                  <a:srgbClr val="475569"/>
                </a:solidFill>
              </a:rPr>
              <a:t>Une image isolée ignore la dynamique ; ConvLSTM pourrait aider.</a:t>
            </a:r>
            <a:endParaRPr lang="en-US" sz="1250" dirty="0"/>
          </a:p>
        </p:txBody>
      </p:sp>
      <p:sp>
        <p:nvSpPr>
          <p:cNvPr id="16" name="Text 14"/>
          <p:cNvSpPr/>
          <p:nvPr/>
        </p:nvSpPr>
        <p:spPr>
          <a:xfrm>
            <a:off x="914400" y="5486400"/>
            <a:ext cx="10332720" cy="411480"/>
          </a:xfrm>
          <a:prstGeom prst="rect">
            <a:avLst/>
          </a:prstGeom>
          <a:noFill/>
          <a:ln/>
        </p:spPr>
        <p:txBody>
          <a:bodyPr wrap="square" lIns="1397" tIns="1397" rIns="1397" bIns="1397" rtlCol="0" anchor="ctr">
            <a:normAutofit/>
          </a:bodyPr>
          <a:lstStyle/>
          <a:p>
            <a:pPr marL="0" indent="0">
              <a:buNone/>
            </a:pPr>
            <a:r>
              <a:rPr lang="en-US" sz="1600" b="1" dirty="0">
                <a:solidFill>
                  <a:srgbClr val="EF4444"/>
                </a:solidFill>
              </a:rPr>
              <a:t>Point critique : une bonne validation hors-ligne ne garantit pas une conduite stable sur véhicule réel.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502920" y="6473952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Projet voiture miniature autonome • Vision-based decision making</a:t>
            </a:r>
            <a:endParaRPr lang="en-US" sz="750" dirty="0"/>
          </a:p>
        </p:txBody>
      </p:sp>
      <p:sp>
        <p:nvSpPr>
          <p:cNvPr id="18" name="Text 16"/>
          <p:cNvSpPr/>
          <p:nvPr/>
        </p:nvSpPr>
        <p:spPr>
          <a:xfrm>
            <a:off x="11301984" y="6437376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18</a:t>
            </a:r>
            <a:endParaRPr lang="en-US" sz="800" dirty="0"/>
          </a:p>
        </p:txBody>
      </p:sp>
      <p:sp>
        <p:nvSpPr>
          <p:cNvPr id="19" name="Shape 17"/>
          <p:cNvSpPr/>
          <p:nvPr/>
        </p:nvSpPr>
        <p:spPr>
          <a:xfrm>
            <a:off x="502920" y="6336792"/>
            <a:ext cx="112014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Améliorations proposées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12064" y="804672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Priorité : améliorer la donnée avant d’empiler des architectures.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22960" y="1234440"/>
            <a:ext cx="411480" cy="411480"/>
          </a:xfrm>
          <a:prstGeom prst="rect">
            <a:avLst/>
          </a:prstGeom>
          <a:solidFill>
            <a:srgbClr val="DCFCE7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</a:rPr>
              <a:t>1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1444752" y="1216152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11827"/>
                </a:solidFill>
              </a:rPr>
              <a:t>Données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3154680" y="1207008"/>
            <a:ext cx="78181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30" dirty="0">
                <a:solidFill>
                  <a:srgbClr val="475569"/>
                </a:solidFill>
              </a:rPr>
              <a:t>nouveaux circuits, vraies séquences droite/gauche, conditions lumineuses variées</a:t>
            </a:r>
            <a:endParaRPr lang="en-US" sz="1230" dirty="0"/>
          </a:p>
        </p:txBody>
      </p:sp>
      <p:sp>
        <p:nvSpPr>
          <p:cNvPr id="7" name="Text 5"/>
          <p:cNvSpPr/>
          <p:nvPr/>
        </p:nvSpPr>
        <p:spPr>
          <a:xfrm>
            <a:off x="822960" y="2075688"/>
            <a:ext cx="411480" cy="411480"/>
          </a:xfrm>
          <a:prstGeom prst="rect">
            <a:avLst/>
          </a:prstGeom>
          <a:solidFill>
            <a:srgbClr val="DBEAFE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</a:rPr>
              <a:t>2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1444752" y="2057400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11827"/>
                </a:solidFill>
              </a:rPr>
              <a:t>Évaluation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154680" y="2048256"/>
            <a:ext cx="78181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30" dirty="0">
                <a:solidFill>
                  <a:srgbClr val="475569"/>
                </a:solidFill>
              </a:rPr>
              <a:t>split par record, matrice de confusion, export des images mal classées</a:t>
            </a:r>
            <a:endParaRPr lang="en-US" sz="1230" dirty="0"/>
          </a:p>
        </p:txBody>
      </p:sp>
      <p:sp>
        <p:nvSpPr>
          <p:cNvPr id="10" name="Text 8"/>
          <p:cNvSpPr/>
          <p:nvPr/>
        </p:nvSpPr>
        <p:spPr>
          <a:xfrm>
            <a:off x="822960" y="2916936"/>
            <a:ext cx="411480" cy="411480"/>
          </a:xfrm>
          <a:prstGeom prst="rect">
            <a:avLst/>
          </a:prstGeom>
          <a:solidFill>
            <a:srgbClr val="FEF3C7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</a:rPr>
              <a:t>3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1444752" y="2898648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11827"/>
                </a:solidFill>
              </a:rPr>
              <a:t>Modèle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3154680" y="2889504"/>
            <a:ext cx="78181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30" dirty="0">
                <a:solidFill>
                  <a:srgbClr val="475569"/>
                </a:solidFill>
              </a:rPr>
              <a:t>pondérer la loss régression, tester MobileNet Small, ResNet18, EfficientNet-B0</a:t>
            </a:r>
            <a:endParaRPr lang="en-US" sz="1230" dirty="0"/>
          </a:p>
        </p:txBody>
      </p:sp>
      <p:sp>
        <p:nvSpPr>
          <p:cNvPr id="13" name="Text 11"/>
          <p:cNvSpPr/>
          <p:nvPr/>
        </p:nvSpPr>
        <p:spPr>
          <a:xfrm>
            <a:off x="822960" y="3758184"/>
            <a:ext cx="411480" cy="411480"/>
          </a:xfrm>
          <a:prstGeom prst="rect">
            <a:avLst/>
          </a:prstGeom>
          <a:solidFill>
            <a:srgbClr val="EDE9FE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</a:rPr>
              <a:t>4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1444752" y="3739896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11827"/>
                </a:solidFill>
              </a:rPr>
              <a:t>Temporalité</a:t>
            </a:r>
            <a:endParaRPr lang="en-US" sz="1500" dirty="0"/>
          </a:p>
        </p:txBody>
      </p:sp>
      <p:sp>
        <p:nvSpPr>
          <p:cNvPr id="15" name="Text 13"/>
          <p:cNvSpPr/>
          <p:nvPr/>
        </p:nvSpPr>
        <p:spPr>
          <a:xfrm>
            <a:off x="3154680" y="3730752"/>
            <a:ext cx="78181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30" dirty="0">
                <a:solidFill>
                  <a:srgbClr val="475569"/>
                </a:solidFill>
              </a:rPr>
              <a:t>ajouter N frames ou ConvLSTM pour lever les ambiguïtés</a:t>
            </a:r>
            <a:endParaRPr lang="en-US" sz="1230" dirty="0"/>
          </a:p>
        </p:txBody>
      </p:sp>
      <p:sp>
        <p:nvSpPr>
          <p:cNvPr id="16" name="Text 14"/>
          <p:cNvSpPr/>
          <p:nvPr/>
        </p:nvSpPr>
        <p:spPr>
          <a:xfrm>
            <a:off x="822960" y="4599432"/>
            <a:ext cx="411480" cy="411480"/>
          </a:xfrm>
          <a:prstGeom prst="rect">
            <a:avLst/>
          </a:prstGeom>
          <a:solidFill>
            <a:srgbClr val="FEE2E2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11827"/>
                </a:solidFill>
              </a:rPr>
              <a:t>5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444752" y="4581144"/>
            <a:ext cx="1188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11827"/>
                </a:solidFill>
              </a:rPr>
              <a:t>Embarqué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3154680" y="4572000"/>
            <a:ext cx="7818120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>
              <a:buNone/>
            </a:pPr>
            <a:r>
              <a:rPr lang="en-US" sz="1230" dirty="0">
                <a:solidFill>
                  <a:srgbClr val="475569"/>
                </a:solidFill>
              </a:rPr>
              <a:t>mesurer latence, quantization, sécurité fallback</a:t>
            </a:r>
            <a:endParaRPr lang="en-US" sz="1230" dirty="0"/>
          </a:p>
        </p:txBody>
      </p:sp>
      <p:sp>
        <p:nvSpPr>
          <p:cNvPr id="19" name="Text 17"/>
          <p:cNvSpPr/>
          <p:nvPr/>
        </p:nvSpPr>
        <p:spPr>
          <a:xfrm>
            <a:off x="914400" y="5669280"/>
            <a:ext cx="10332720" cy="384048"/>
          </a:xfrm>
          <a:prstGeom prst="rect">
            <a:avLst/>
          </a:prstGeom>
          <a:noFill/>
          <a:ln/>
        </p:spPr>
        <p:txBody>
          <a:bodyPr wrap="square" lIns="1397" tIns="1397" rIns="1397" bIns="1397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2563EB"/>
                </a:solidFill>
              </a:rPr>
              <a:t>Règle pratique : si une classe est faible, corriger d’abord labels + dataset, ensuite seulement changer d’architecture.</a:t>
            </a:r>
            <a:endParaRPr lang="en-US" sz="1500" dirty="0"/>
          </a:p>
        </p:txBody>
      </p:sp>
      <p:sp>
        <p:nvSpPr>
          <p:cNvPr id="20" name="Text 18"/>
          <p:cNvSpPr/>
          <p:nvPr/>
        </p:nvSpPr>
        <p:spPr>
          <a:xfrm>
            <a:off x="502920" y="6473952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Projet voiture miniature autonome • Vision-based decision making</a:t>
            </a:r>
            <a:endParaRPr lang="en-US" sz="750" dirty="0"/>
          </a:p>
        </p:txBody>
      </p:sp>
      <p:sp>
        <p:nvSpPr>
          <p:cNvPr id="21" name="Text 19"/>
          <p:cNvSpPr/>
          <p:nvPr/>
        </p:nvSpPr>
        <p:spPr>
          <a:xfrm>
            <a:off x="11301984" y="6437376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19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502920" y="6336792"/>
            <a:ext cx="112014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Extension : vers un test sur la voiture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12064" y="804672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 déploiement réel demande une chaîne de contrôle sécurisée, pas seulement un fichier .pth.</a:t>
            </a:r>
            <a:endParaRPr lang="en-US" sz="1050" dirty="0"/>
          </a:p>
        </p:txBody>
      </p:sp>
      <p:pic>
        <p:nvPicPr>
          <p:cNvPr id="4" name="Image 0" descr="/mnt/data/a_wide_shallow_depth_of_field_indoor_robotics_lab_batch_1.png"/>
          <p:cNvPicPr>
            <a:picLocks noChangeAspect="1"/>
          </p:cNvPicPr>
          <p:nvPr/>
        </p:nvPicPr>
        <p:blipFill>
          <a:blip r:embed="rId3"/>
          <a:srcRect l="12000" r="12022" b="10000"/>
          <a:stretch/>
        </p:blipFill>
        <p:spPr>
          <a:xfrm>
            <a:off x="731520" y="1325880"/>
            <a:ext cx="4389120" cy="29260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2039112" y="4928616"/>
            <a:ext cx="338328" cy="0"/>
          </a:xfrm>
          <a:prstGeom prst="line">
            <a:avLst/>
          </a:prstGeom>
          <a:noFill/>
          <a:ln w="17780">
            <a:solidFill>
              <a:srgbClr val="94A3B8"/>
            </a:solidFill>
            <a:prstDash val="solid"/>
            <a:headEnd type="none"/>
            <a:tailEnd type="triangle"/>
          </a:ln>
        </p:spPr>
      </p:sp>
      <p:sp>
        <p:nvSpPr>
          <p:cNvPr id="6" name="Shape 3"/>
          <p:cNvSpPr/>
          <p:nvPr/>
        </p:nvSpPr>
        <p:spPr>
          <a:xfrm>
            <a:off x="3913632" y="4928616"/>
            <a:ext cx="338328" cy="0"/>
          </a:xfrm>
          <a:prstGeom prst="line">
            <a:avLst/>
          </a:prstGeom>
          <a:noFill/>
          <a:ln w="17780">
            <a:solidFill>
              <a:srgbClr val="94A3B8"/>
            </a:solidFill>
            <a:prstDash val="solid"/>
            <a:headEnd type="none"/>
            <a:tailEnd type="triangle"/>
          </a:ln>
        </p:spPr>
      </p:sp>
      <p:sp>
        <p:nvSpPr>
          <p:cNvPr id="7" name="Shape 4"/>
          <p:cNvSpPr/>
          <p:nvPr/>
        </p:nvSpPr>
        <p:spPr>
          <a:xfrm>
            <a:off x="5788152" y="4928616"/>
            <a:ext cx="338328" cy="0"/>
          </a:xfrm>
          <a:prstGeom prst="line">
            <a:avLst/>
          </a:prstGeom>
          <a:noFill/>
          <a:ln w="17780">
            <a:solidFill>
              <a:srgbClr val="94A3B8"/>
            </a:solidFill>
            <a:prstDash val="solid"/>
            <a:headEnd type="none"/>
            <a:tailEnd type="triangle"/>
          </a:ln>
        </p:spPr>
      </p:sp>
      <p:sp>
        <p:nvSpPr>
          <p:cNvPr id="8" name="Shape 5"/>
          <p:cNvSpPr/>
          <p:nvPr/>
        </p:nvSpPr>
        <p:spPr>
          <a:xfrm>
            <a:off x="7662672" y="4928616"/>
            <a:ext cx="338328" cy="0"/>
          </a:xfrm>
          <a:prstGeom prst="line">
            <a:avLst/>
          </a:prstGeom>
          <a:noFill/>
          <a:ln w="17780">
            <a:solidFill>
              <a:srgbClr val="94A3B8"/>
            </a:solidFill>
            <a:prstDash val="solid"/>
            <a:headEnd type="none"/>
            <a:tailEnd type="triangle"/>
          </a:ln>
        </p:spPr>
      </p:sp>
      <p:sp>
        <p:nvSpPr>
          <p:cNvPr id="9" name="Text 6"/>
          <p:cNvSpPr/>
          <p:nvPr/>
        </p:nvSpPr>
        <p:spPr>
          <a:xfrm>
            <a:off x="594360" y="4617720"/>
            <a:ext cx="1353312" cy="621792"/>
          </a:xfrm>
          <a:prstGeom prst="rect">
            <a:avLst/>
          </a:prstGeom>
          <a:solidFill>
            <a:srgbClr val="DBEAFE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11827"/>
                </a:solidFill>
              </a:rPr>
              <a:t>Caméra</a:t>
            </a:r>
            <a:endParaRPr lang="en-US" sz="1050" dirty="0"/>
          </a:p>
        </p:txBody>
      </p:sp>
      <p:sp>
        <p:nvSpPr>
          <p:cNvPr id="10" name="Text 7"/>
          <p:cNvSpPr/>
          <p:nvPr/>
        </p:nvSpPr>
        <p:spPr>
          <a:xfrm>
            <a:off x="502920" y="5376672"/>
            <a:ext cx="15361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</a:rPr>
              <a:t>frame temps réel</a:t>
            </a:r>
            <a:endParaRPr lang="en-US" sz="850" dirty="0"/>
          </a:p>
        </p:txBody>
      </p:sp>
      <p:sp>
        <p:nvSpPr>
          <p:cNvPr id="11" name="Text 8"/>
          <p:cNvSpPr/>
          <p:nvPr/>
        </p:nvSpPr>
        <p:spPr>
          <a:xfrm>
            <a:off x="2468880" y="4617720"/>
            <a:ext cx="1353312" cy="621792"/>
          </a:xfrm>
          <a:prstGeom prst="rect">
            <a:avLst/>
          </a:prstGeom>
          <a:solidFill>
            <a:srgbClr val="CFFAFE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11827"/>
                </a:solidFill>
              </a:rPr>
              <a:t>Transform</a:t>
            </a:r>
            <a:endParaRPr lang="en-US" sz="1050" dirty="0"/>
          </a:p>
        </p:txBody>
      </p:sp>
      <p:sp>
        <p:nvSpPr>
          <p:cNvPr id="12" name="Text 9"/>
          <p:cNvSpPr/>
          <p:nvPr/>
        </p:nvSpPr>
        <p:spPr>
          <a:xfrm>
            <a:off x="2377440" y="5376672"/>
            <a:ext cx="15361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</a:rPr>
              <a:t>224×224 + normalize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4343400" y="4617720"/>
            <a:ext cx="1353312" cy="621792"/>
          </a:xfrm>
          <a:prstGeom prst="rect">
            <a:avLst/>
          </a:prstGeom>
          <a:solidFill>
            <a:srgbClr val="DCFCE7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11827"/>
                </a:solidFill>
              </a:rPr>
              <a:t>Inference</a:t>
            </a:r>
            <a:endParaRPr lang="en-US" sz="1050" dirty="0"/>
          </a:p>
        </p:txBody>
      </p:sp>
      <p:sp>
        <p:nvSpPr>
          <p:cNvPr id="14" name="Text 11"/>
          <p:cNvSpPr/>
          <p:nvPr/>
        </p:nvSpPr>
        <p:spPr>
          <a:xfrm>
            <a:off x="4251960" y="5376672"/>
            <a:ext cx="15361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</a:rPr>
              <a:t>MobileNetV3</a:t>
            </a:r>
            <a:endParaRPr lang="en-US" sz="850" dirty="0"/>
          </a:p>
        </p:txBody>
      </p:sp>
      <p:sp>
        <p:nvSpPr>
          <p:cNvPr id="15" name="Text 12"/>
          <p:cNvSpPr/>
          <p:nvPr/>
        </p:nvSpPr>
        <p:spPr>
          <a:xfrm>
            <a:off x="6217920" y="4617720"/>
            <a:ext cx="1353312" cy="621792"/>
          </a:xfrm>
          <a:prstGeom prst="rect">
            <a:avLst/>
          </a:prstGeom>
          <a:solidFill>
            <a:srgbClr val="FEF3C7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11827"/>
                </a:solidFill>
              </a:rPr>
              <a:t>Décision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6126480" y="5376672"/>
            <a:ext cx="15361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</a:rPr>
              <a:t>left/forward/right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8092440" y="4617720"/>
            <a:ext cx="1353312" cy="621792"/>
          </a:xfrm>
          <a:prstGeom prst="rect">
            <a:avLst/>
          </a:prstGeom>
          <a:solidFill>
            <a:srgbClr val="FEE2E2"/>
          </a:solidFill>
          <a:ln>
            <a:solidFill>
              <a:srgbClr val="FFFFFF">
                <a:alpha val="0"/>
              </a:srgbClr>
            </a:solidFill>
          </a:ln>
        </p:spPr>
        <p:txBody>
          <a:bodyPr wrap="square" lIns="762" tIns="762" rIns="762" bIns="762" rtlCol="0" anchor="ctr">
            <a:normAutofit/>
          </a:bodyPr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111827"/>
                </a:solidFill>
              </a:rPr>
              <a:t>Commande</a:t>
            </a:r>
            <a:endParaRPr lang="en-US" sz="1050" dirty="0"/>
          </a:p>
        </p:txBody>
      </p:sp>
      <p:sp>
        <p:nvSpPr>
          <p:cNvPr id="18" name="Text 15"/>
          <p:cNvSpPr/>
          <p:nvPr/>
        </p:nvSpPr>
        <p:spPr>
          <a:xfrm>
            <a:off x="8001000" y="5376672"/>
            <a:ext cx="1536192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marL="0" indent="0" algn="ctr">
              <a:buNone/>
            </a:pPr>
            <a:r>
              <a:rPr lang="en-US" sz="850" dirty="0">
                <a:solidFill>
                  <a:srgbClr val="64748B"/>
                </a:solidFill>
              </a:rPr>
              <a:t>speedA/speedB filtrés</a:t>
            </a:r>
            <a:endParaRPr lang="en-US" sz="850" dirty="0"/>
          </a:p>
        </p:txBody>
      </p:sp>
      <p:sp>
        <p:nvSpPr>
          <p:cNvPr id="19" name="Text 16"/>
          <p:cNvSpPr/>
          <p:nvPr/>
        </p:nvSpPr>
        <p:spPr>
          <a:xfrm>
            <a:off x="5669280" y="1600200"/>
            <a:ext cx="5212080" cy="109728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33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Mesurer latence moyenne et pire cas.</a:t>
            </a:r>
            <a:endParaRPr lang="en-US" sz="1330" dirty="0"/>
          </a:p>
          <a:p>
            <a:pPr marL="0" indent="0">
              <a:buNone/>
            </a:pPr>
            <a:r>
              <a:rPr lang="en-US" sz="133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Ajouter un seuil de confiance et un mode fallback.</a:t>
            </a:r>
            <a:endParaRPr lang="en-US" sz="1330" dirty="0"/>
          </a:p>
          <a:p>
            <a:pPr marL="0" indent="0">
              <a:buNone/>
            </a:pPr>
            <a:r>
              <a:rPr lang="en-US" sz="1330" dirty="0">
                <a:solidFill>
                  <a:srgbClr val="11182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Tester d’abord hors-ligne sur logs, puis sur voiture à vitesse réduite.</a:t>
            </a:r>
            <a:endParaRPr lang="en-US" sz="1330" dirty="0"/>
          </a:p>
        </p:txBody>
      </p:sp>
      <p:sp>
        <p:nvSpPr>
          <p:cNvPr id="20" name="Text 17"/>
          <p:cNvSpPr/>
          <p:nvPr/>
        </p:nvSpPr>
        <p:spPr>
          <a:xfrm>
            <a:off x="502920" y="6473952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Projet voiture miniature autonome • Vision-based decision making</a:t>
            </a:r>
            <a:endParaRPr lang="en-US" sz="750" dirty="0"/>
          </a:p>
        </p:txBody>
      </p:sp>
      <p:sp>
        <p:nvSpPr>
          <p:cNvPr id="21" name="Text 18"/>
          <p:cNvSpPr/>
          <p:nvPr/>
        </p:nvSpPr>
        <p:spPr>
          <a:xfrm>
            <a:off x="11301984" y="6437376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</a:t>
            </a:r>
            <a:endParaRPr lang="en-US" sz="800" dirty="0"/>
          </a:p>
        </p:txBody>
      </p:sp>
      <p:sp>
        <p:nvSpPr>
          <p:cNvPr id="22" name="Shape 19"/>
          <p:cNvSpPr/>
          <p:nvPr/>
        </p:nvSpPr>
        <p:spPr>
          <a:xfrm>
            <a:off x="502920" y="6336792"/>
            <a:ext cx="112014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81381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827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Cartographie des scripts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512064" y="804672"/>
            <a:ext cx="8046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Qui fait quoi dans le projet.</a:t>
            </a:r>
            <a:endParaRPr lang="en-US" sz="1050" dirty="0"/>
          </a:p>
        </p:txBody>
      </p:sp>
      <p:sp>
        <p:nvSpPr>
          <p:cNvPr id="4" name="Text 2"/>
          <p:cNvSpPr/>
          <p:nvPr/>
        </p:nvSpPr>
        <p:spPr>
          <a:xfrm>
            <a:off x="868680" y="123444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20" b="1" dirty="0">
                <a:solidFill>
                  <a:srgbClr val="2563EB"/>
                </a:solidFill>
              </a:rPr>
              <a:t>resample_dataset.py</a:t>
            </a:r>
            <a:endParaRPr lang="en-US" sz="1220" dirty="0"/>
          </a:p>
        </p:txBody>
      </p:sp>
      <p:sp>
        <p:nvSpPr>
          <p:cNvPr id="5" name="Text 3"/>
          <p:cNvSpPr/>
          <p:nvPr/>
        </p:nvSpPr>
        <p:spPr>
          <a:xfrm>
            <a:off x="4343400" y="123444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20" dirty="0">
                <a:solidFill>
                  <a:srgbClr val="475569"/>
                </a:solidFill>
              </a:rPr>
              <a:t>rééchantillonnage + alignement image/commande</a:t>
            </a:r>
            <a:endParaRPr lang="en-US" sz="1220" dirty="0"/>
          </a:p>
        </p:txBody>
      </p:sp>
      <p:sp>
        <p:nvSpPr>
          <p:cNvPr id="6" name="Shape 4"/>
          <p:cNvSpPr/>
          <p:nvPr/>
        </p:nvSpPr>
        <p:spPr>
          <a:xfrm>
            <a:off x="868680" y="1618488"/>
            <a:ext cx="1024128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868680" y="1947672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20" b="1" dirty="0">
                <a:solidFill>
                  <a:srgbClr val="2563EB"/>
                </a:solidFill>
              </a:rPr>
              <a:t>analyse_dataset.py / class_repartition_analysis.py</a:t>
            </a:r>
            <a:endParaRPr lang="en-US" sz="1220" dirty="0"/>
          </a:p>
        </p:txBody>
      </p:sp>
      <p:sp>
        <p:nvSpPr>
          <p:cNvPr id="8" name="Text 6"/>
          <p:cNvSpPr/>
          <p:nvPr/>
        </p:nvSpPr>
        <p:spPr>
          <a:xfrm>
            <a:off x="4343400" y="1947672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20" dirty="0">
                <a:solidFill>
                  <a:srgbClr val="475569"/>
                </a:solidFill>
              </a:rPr>
              <a:t>distribution des classes et diagnostic dataset</a:t>
            </a:r>
            <a:endParaRPr lang="en-US" sz="1220" dirty="0"/>
          </a:p>
        </p:txBody>
      </p:sp>
      <p:sp>
        <p:nvSpPr>
          <p:cNvPr id="9" name="Shape 7"/>
          <p:cNvSpPr/>
          <p:nvPr/>
        </p:nvSpPr>
        <p:spPr>
          <a:xfrm>
            <a:off x="868680" y="2331720"/>
            <a:ext cx="1024128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68680" y="2660904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20" b="1" dirty="0">
                <a:solidFill>
                  <a:srgbClr val="2563EB"/>
                </a:solidFill>
              </a:rPr>
              <a:t>generate_dataset_augmente_equilibre.py</a:t>
            </a:r>
            <a:endParaRPr lang="en-US" sz="1220" dirty="0"/>
          </a:p>
        </p:txBody>
      </p:sp>
      <p:sp>
        <p:nvSpPr>
          <p:cNvPr id="11" name="Text 9"/>
          <p:cNvSpPr/>
          <p:nvPr/>
        </p:nvSpPr>
        <p:spPr>
          <a:xfrm>
            <a:off x="4343400" y="2660904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20" dirty="0">
                <a:solidFill>
                  <a:srgbClr val="475569"/>
                </a:solidFill>
              </a:rPr>
              <a:t>augmentation, équilibrage, splits train/valid/test</a:t>
            </a:r>
            <a:endParaRPr lang="en-US" sz="1220" dirty="0"/>
          </a:p>
        </p:txBody>
      </p:sp>
      <p:sp>
        <p:nvSpPr>
          <p:cNvPr id="12" name="Shape 10"/>
          <p:cNvSpPr/>
          <p:nvPr/>
        </p:nvSpPr>
        <p:spPr>
          <a:xfrm>
            <a:off x="868680" y="3044952"/>
            <a:ext cx="1024128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868680" y="3374136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20" b="1" dirty="0">
                <a:solidFill>
                  <a:srgbClr val="2563EB"/>
                </a:solidFill>
              </a:rPr>
              <a:t>train.py</a:t>
            </a:r>
            <a:endParaRPr lang="en-US" sz="1220" dirty="0"/>
          </a:p>
        </p:txBody>
      </p:sp>
      <p:sp>
        <p:nvSpPr>
          <p:cNvPr id="14" name="Text 12"/>
          <p:cNvSpPr/>
          <p:nvPr/>
        </p:nvSpPr>
        <p:spPr>
          <a:xfrm>
            <a:off x="4343400" y="3374136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20" dirty="0">
                <a:solidFill>
                  <a:srgbClr val="475569"/>
                </a:solidFill>
              </a:rPr>
              <a:t>fine-tuning MobileNetV3 multi-tâches</a:t>
            </a:r>
            <a:endParaRPr lang="en-US" sz="1220" dirty="0"/>
          </a:p>
        </p:txBody>
      </p:sp>
      <p:sp>
        <p:nvSpPr>
          <p:cNvPr id="15" name="Shape 13"/>
          <p:cNvSpPr/>
          <p:nvPr/>
        </p:nvSpPr>
        <p:spPr>
          <a:xfrm>
            <a:off x="868680" y="3758184"/>
            <a:ext cx="1024128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68680" y="4087368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20" b="1" dirty="0">
                <a:solidFill>
                  <a:srgbClr val="2563EB"/>
                </a:solidFill>
              </a:rPr>
              <a:t>evaluate.py</a:t>
            </a:r>
            <a:endParaRPr lang="en-US" sz="1220" dirty="0"/>
          </a:p>
        </p:txBody>
      </p:sp>
      <p:sp>
        <p:nvSpPr>
          <p:cNvPr id="17" name="Text 15"/>
          <p:cNvSpPr/>
          <p:nvPr/>
        </p:nvSpPr>
        <p:spPr>
          <a:xfrm>
            <a:off x="4343400" y="4087368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20" dirty="0">
                <a:solidFill>
                  <a:srgbClr val="475569"/>
                </a:solidFill>
              </a:rPr>
              <a:t>accuracy, report, confusion matrix, MAE/RMSE</a:t>
            </a:r>
            <a:endParaRPr lang="en-US" sz="1220" dirty="0"/>
          </a:p>
        </p:txBody>
      </p:sp>
      <p:sp>
        <p:nvSpPr>
          <p:cNvPr id="18" name="Shape 16"/>
          <p:cNvSpPr/>
          <p:nvPr/>
        </p:nvSpPr>
        <p:spPr>
          <a:xfrm>
            <a:off x="868680" y="4471416"/>
            <a:ext cx="1024128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8680" y="4800600"/>
            <a:ext cx="329184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20" b="1" dirty="0">
                <a:solidFill>
                  <a:srgbClr val="2563EB"/>
                </a:solidFill>
              </a:rPr>
              <a:t>test_flip_left_to_right.py</a:t>
            </a:r>
            <a:endParaRPr lang="en-US" sz="1220" dirty="0"/>
          </a:p>
        </p:txBody>
      </p:sp>
      <p:sp>
        <p:nvSpPr>
          <p:cNvPr id="20" name="Text 18"/>
          <p:cNvSpPr/>
          <p:nvPr/>
        </p:nvSpPr>
        <p:spPr>
          <a:xfrm>
            <a:off x="4343400" y="480060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20" dirty="0">
                <a:solidFill>
                  <a:srgbClr val="475569"/>
                </a:solidFill>
              </a:rPr>
              <a:t>validation sémantique du miroir gauche/droite</a:t>
            </a:r>
            <a:endParaRPr lang="en-US" sz="1220" dirty="0"/>
          </a:p>
        </p:txBody>
      </p:sp>
      <p:sp>
        <p:nvSpPr>
          <p:cNvPr id="21" name="Shape 19"/>
          <p:cNvSpPr/>
          <p:nvPr/>
        </p:nvSpPr>
        <p:spPr>
          <a:xfrm>
            <a:off x="868680" y="5184648"/>
            <a:ext cx="1024128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914400" y="5715000"/>
            <a:ext cx="7772400" cy="320040"/>
          </a:xfrm>
          <a:prstGeom prst="rect">
            <a:avLst/>
          </a:prstGeom>
          <a:noFill/>
          <a:ln/>
        </p:spPr>
        <p:txBody>
          <a:bodyPr wrap="square" lIns="1397" tIns="1397" rIns="1397" bIns="1397" rtlCol="0" anchor="ctr">
            <a:normAutofit/>
          </a:bodyPr>
          <a:lstStyle/>
          <a:p>
            <a:pPr marL="0" indent="0">
              <a:buNone/>
            </a:pPr>
            <a:r>
              <a:rPr lang="en-US" sz="1500" b="1" dirty="0">
                <a:solidFill>
                  <a:srgbClr val="111827"/>
                </a:solidFill>
              </a:rPr>
              <a:t>Le projet est lisible car chaque script porte une responsabilité unique.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502920" y="6473952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5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Projet voiture miniature autonome • Vision-based decision making</a:t>
            </a:r>
            <a:endParaRPr lang="en-US" sz="750" dirty="0"/>
          </a:p>
        </p:txBody>
      </p:sp>
      <p:sp>
        <p:nvSpPr>
          <p:cNvPr id="24" name="Text 22"/>
          <p:cNvSpPr/>
          <p:nvPr/>
        </p:nvSpPr>
        <p:spPr>
          <a:xfrm>
            <a:off x="11301984" y="6437376"/>
            <a:ext cx="4114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00" dirty="0">
                <a:solidFill>
                  <a:srgbClr val="64748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21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502920" y="6336792"/>
            <a:ext cx="11201400" cy="0"/>
          </a:xfrm>
          <a:prstGeom prst="line">
            <a:avLst/>
          </a:prstGeom>
          <a:noFill/>
          <a:ln w="6350">
            <a:solidFill>
              <a:srgbClr val="E2E8F0"/>
            </a:solidFill>
            <a:prstDash val="solid"/>
          </a:ln>
        </p:spPr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B102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B1020"/>
          </a:solidFill>
          <a:ln w="12700">
            <a:solidFill>
              <a:srgbClr val="0B1020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777240" y="777240"/>
            <a:ext cx="3657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2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Conclusion</a:t>
            </a:r>
            <a:endParaRPr lang="en-US" sz="3200" dirty="0"/>
          </a:p>
        </p:txBody>
      </p:sp>
      <p:sp>
        <p:nvSpPr>
          <p:cNvPr id="4" name="Text 2"/>
          <p:cNvSpPr/>
          <p:nvPr/>
        </p:nvSpPr>
        <p:spPr>
          <a:xfrm>
            <a:off x="868680" y="1783080"/>
            <a:ext cx="9966960" cy="1828800"/>
          </a:xfrm>
          <a:prstGeom prst="rect">
            <a:avLst/>
          </a:prstGeom>
          <a:noFill/>
          <a:ln/>
        </p:spPr>
        <p:txBody>
          <a:bodyPr wrap="square" lIns="381" tIns="381" rIns="381" bIns="381" rtlCol="0" anchor="ctr">
            <a:normAutofit/>
          </a:bodyPr>
          <a:lstStyle/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Chaîne complète réalisée : acquisition → synchronisation → dataset → modèle → évaluation.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Problème converti proprement en classification directionnelle + régression des vitesses.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MobileNetV3 multi-tâches : bon compromis performance / légèreté / transfert d’apprentissage.</a:t>
            </a:r>
            <a:endParaRPr lang="en-US" sz="1700" dirty="0"/>
          </a:p>
          <a:p>
            <a:pPr marL="0" indent="0">
              <a:buNone/>
            </a:pPr>
            <a:r>
              <a:rPr lang="en-US" sz="1700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• Résultat exploitable en analyse, mais nécessitant plus de données et une validation embarquée prudente.</a:t>
            </a:r>
            <a:endParaRPr lang="en-US" sz="1700" dirty="0"/>
          </a:p>
        </p:txBody>
      </p:sp>
      <p:sp>
        <p:nvSpPr>
          <p:cNvPr id="5" name="Text 3"/>
          <p:cNvSpPr/>
          <p:nvPr/>
        </p:nvSpPr>
        <p:spPr>
          <a:xfrm>
            <a:off x="868680" y="4892040"/>
            <a:ext cx="1463040" cy="274320"/>
          </a:xfrm>
          <a:prstGeom prst="rect">
            <a:avLst/>
          </a:prstGeom>
          <a:solidFill>
            <a:srgbClr val="A7F3D0"/>
          </a:solidFill>
          <a:ln>
            <a:solidFill>
              <a:srgbClr val="A7F3D0"/>
            </a:solidFill>
          </a:ln>
        </p:spPr>
        <p:txBody>
          <a:bodyPr wrap="square" lIns="381" tIns="381" rIns="381" bIns="381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0B102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MESSAGE FINAL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868680" y="5358384"/>
            <a:ext cx="996696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A7F3D0"/>
                </a:solidFill>
              </a:rPr>
              <a:t>Le cœur du projet n’est pas seulement le réseau : c’est la maîtrise de la donnée temporelle et du biais de classe.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868680" y="6309360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94A3B8"/>
                </a:solidFill>
              </a:rPr>
              <a:t>Sources : dépôt GitHub du projet + synthèse MobileNetV3 multi-tâches fournie.</a:t>
            </a:r>
            <a:endParaRPr lang="en-US" sz="8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4105</Words>
  <Application>Microsoft Office PowerPoint</Application>
  <PresentationFormat>Grand écran</PresentationFormat>
  <Paragraphs>629</Paragraphs>
  <Slides>28</Slides>
  <Notes>22</Notes>
  <HiddenSlides>0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28</vt:i4>
      </vt:variant>
    </vt:vector>
  </HeadingPairs>
  <TitlesOfParts>
    <vt:vector size="33" baseType="lpstr">
      <vt:lpstr>Aptos</vt:lpstr>
      <vt:lpstr>Aptos Display</vt:lpstr>
      <vt:lpstr>Arial</vt:lpstr>
      <vt:lpstr>Liberation Mono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Company>ENIB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Décision visuelle pour voiture miniature autonome</dc:title>
  <dc:subject>Soutenance projet voiture autonome par vision</dc:subject>
  <dc:creator>OpenAI / Ewen Connan</dc:creator>
  <cp:lastModifiedBy>Ewen Connan</cp:lastModifiedBy>
  <cp:revision>2</cp:revision>
  <dcterms:created xsi:type="dcterms:W3CDTF">2026-06-22T05:57:29Z</dcterms:created>
  <dcterms:modified xsi:type="dcterms:W3CDTF">2026-06-22T08:37:13Z</dcterms:modified>
</cp:coreProperties>
</file>